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/>
          <p:nvPr>
            <p:ph type="sldNum" sz="quarter" idx="2"/>
          </p:nvPr>
        </p:nvSpPr>
        <p:spPr>
          <a:xfrm>
            <a:off x="23939500" y="132714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23749000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xfrm>
            <a:off x="23747236" y="13078312"/>
            <a:ext cx="368504" cy="3746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944630" y="13270153"/>
            <a:ext cx="368504" cy="374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unknown.png" descr="unknown.png"/>
          <p:cNvPicPr>
            <a:picLocks noChangeAspect="0"/>
          </p:cNvPicPr>
          <p:nvPr/>
        </p:nvPicPr>
        <p:blipFill>
          <a:blip r:embed="rId2">
            <a:alphaModFix amt="35116"/>
            <a:extLst/>
          </a:blip>
          <a:srcRect l="0" t="1316" r="51406" b="0"/>
          <a:stretch>
            <a:fillRect/>
          </a:stretch>
        </p:blipFill>
        <p:spPr>
          <a:xfrm rot="5400000">
            <a:off x="2601545" y="-4249165"/>
            <a:ext cx="19180886" cy="2444821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Oliver Flatt, Anjali Pal, Yihong Zhang, Ryan Tjoa, Kirsten Graham, Alex Fischman,…"/>
          <p:cNvSpPr txBox="1"/>
          <p:nvPr>
            <p:ph type="body" idx="21"/>
          </p:nvPr>
        </p:nvSpPr>
        <p:spPr>
          <a:xfrm>
            <a:off x="340904" y="11385363"/>
            <a:ext cx="23290711" cy="128984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388620">
              <a:defRPr b="0" sz="391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Oliver Flatt, Anjali Pal, Yihong Zhang, Ryan Tjoa, Kirsten Graham, Alex Fischman,</a:t>
            </a:r>
          </a:p>
          <a:p>
            <a:pPr defTabSz="388620">
              <a:defRPr b="0" sz="391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Chandrakana Nandi, Eli Rosenthal, Zachary Tatlock, Haobin Ni</a:t>
            </a:r>
          </a:p>
        </p:txBody>
      </p:sp>
      <p:sp>
        <p:nvSpPr>
          <p:cNvPr id="82" name="Efficient Extraction from Effectful E-Graph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Efficient Extraction from Effectful E-Graphs</a:t>
            </a:r>
          </a:p>
        </p:txBody>
      </p:sp>
      <p:pic>
        <p:nvPicPr>
          <p:cNvPr id="83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rcRect l="12094" t="31798" r="13465" b="37023"/>
          <a:stretch>
            <a:fillRect/>
          </a:stretch>
        </p:blipFill>
        <p:spPr>
          <a:xfrm>
            <a:off x="-58659" y="12501951"/>
            <a:ext cx="7830163" cy="1290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2195409" y="9443890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unknown.png" descr="unknown.png"/>
          <p:cNvPicPr>
            <a:picLocks noChangeAspect="1"/>
          </p:cNvPicPr>
          <p:nvPr/>
        </p:nvPicPr>
        <p:blipFill>
          <a:blip r:embed="rId5">
            <a:extLst/>
          </a:blip>
          <a:srcRect l="0" t="2040" r="0" b="2040"/>
          <a:stretch>
            <a:fillRect/>
          </a:stretch>
        </p:blipFill>
        <p:spPr>
          <a:xfrm>
            <a:off x="10278536" y="9444137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unknown.png" descr="unknown.png"/>
          <p:cNvPicPr>
            <a:picLocks noChangeAspect="1"/>
          </p:cNvPicPr>
          <p:nvPr/>
        </p:nvPicPr>
        <p:blipFill>
          <a:blip r:embed="rId6">
            <a:extLst/>
          </a:blip>
          <a:srcRect l="0" t="5217" r="0" b="19782"/>
          <a:stretch>
            <a:fillRect/>
          </a:stretch>
        </p:blipFill>
        <p:spPr>
          <a:xfrm>
            <a:off x="14320099" y="9444510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rcRect l="0" t="0" r="0" b="0"/>
          <a:stretch>
            <a:fillRect/>
          </a:stretch>
        </p:blipFill>
        <p:spPr>
          <a:xfrm>
            <a:off x="4216191" y="9444014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unknown.png" descr="unknown.png"/>
          <p:cNvPicPr>
            <a:picLocks noChangeAspect="1"/>
          </p:cNvPicPr>
          <p:nvPr/>
        </p:nvPicPr>
        <p:blipFill>
          <a:blip r:embed="rId8">
            <a:extLst/>
          </a:blip>
          <a:srcRect l="0" t="12340" r="0" b="12340"/>
          <a:stretch>
            <a:fillRect/>
          </a:stretch>
        </p:blipFill>
        <p:spPr>
          <a:xfrm>
            <a:off x="8257754" y="9443245"/>
            <a:ext cx="1460501" cy="14613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unknown.png" descr="unknown.png"/>
          <p:cNvPicPr>
            <a:picLocks noChangeAspect="1"/>
          </p:cNvPicPr>
          <p:nvPr/>
        </p:nvPicPr>
        <p:blipFill>
          <a:blip r:embed="rId9">
            <a:extLst/>
          </a:blip>
          <a:srcRect l="0" t="0" r="0" b="9252"/>
          <a:stretch>
            <a:fillRect/>
          </a:stretch>
        </p:blipFill>
        <p:spPr>
          <a:xfrm>
            <a:off x="6236972" y="9444510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rcRect l="0" t="0" r="0" b="0"/>
          <a:stretch>
            <a:fillRect/>
          </a:stretch>
        </p:blipFill>
        <p:spPr>
          <a:xfrm>
            <a:off x="16340881" y="9443518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unknown.png" descr="unknown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8123955" y="9443518"/>
            <a:ext cx="6085418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pasted-movie.png" descr="pasted-movie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74626" y="9443890"/>
            <a:ext cx="1460501" cy="146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asted-movie.png" descr="pasted-movi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2299317" y="9443890"/>
            <a:ext cx="1460501" cy="1460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E-Graphs are Super Useful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E-Graphs are Super Useful!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24008181" y="13270153"/>
            <a:ext cx="241403" cy="374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9" name="Group"/>
          <p:cNvGrpSpPr/>
          <p:nvPr/>
        </p:nvGrpSpPr>
        <p:grpSpPr>
          <a:xfrm>
            <a:off x="8754161" y="2951105"/>
            <a:ext cx="5556810" cy="5059735"/>
            <a:chOff x="0" y="0"/>
            <a:chExt cx="5556808" cy="5059733"/>
          </a:xfrm>
        </p:grpSpPr>
        <p:pic>
          <p:nvPicPr>
            <p:cNvPr id="97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92723" y="897971"/>
              <a:ext cx="4161763" cy="41617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8" name="Python Simulations"/>
            <p:cNvSpPr txBox="1"/>
            <p:nvPr/>
          </p:nvSpPr>
          <p:spPr>
            <a:xfrm>
              <a:off x="0" y="-1"/>
              <a:ext cx="5556809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Python Simulations</a:t>
              </a:r>
            </a:p>
          </p:txBody>
        </p:sp>
      </p:grpSp>
      <p:grpSp>
        <p:nvGrpSpPr>
          <p:cNvPr id="103" name="Group"/>
          <p:cNvGrpSpPr/>
          <p:nvPr/>
        </p:nvGrpSpPr>
        <p:grpSpPr>
          <a:xfrm>
            <a:off x="6115050" y="7966250"/>
            <a:ext cx="7131980" cy="5578984"/>
            <a:chOff x="0" y="0"/>
            <a:chExt cx="7131979" cy="5578982"/>
          </a:xfrm>
        </p:grpSpPr>
        <p:pic>
          <p:nvPicPr>
            <p:cNvPr id="100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83999"/>
              <a:ext cx="7131980" cy="50597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" name="CAD"/>
            <p:cNvSpPr txBox="1"/>
            <p:nvPr/>
          </p:nvSpPr>
          <p:spPr>
            <a:xfrm>
              <a:off x="681694" y="-1"/>
              <a:ext cx="1401167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CAD</a:t>
              </a:r>
            </a:p>
          </p:txBody>
        </p:sp>
        <p:sp>
          <p:nvSpPr>
            <p:cNvPr id="102" name="(Szalinski)"/>
            <p:cNvSpPr txBox="1"/>
            <p:nvPr/>
          </p:nvSpPr>
          <p:spPr>
            <a:xfrm>
              <a:off x="327845" y="4758465"/>
              <a:ext cx="2926385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(Szalinski)</a:t>
              </a:r>
            </a:p>
          </p:txBody>
        </p:sp>
      </p:grpSp>
      <p:grpSp>
        <p:nvGrpSpPr>
          <p:cNvPr id="106" name="Group"/>
          <p:cNvGrpSpPr/>
          <p:nvPr/>
        </p:nvGrpSpPr>
        <p:grpSpPr>
          <a:xfrm>
            <a:off x="377088" y="7966250"/>
            <a:ext cx="3967140" cy="4387220"/>
            <a:chOff x="0" y="0"/>
            <a:chExt cx="3967138" cy="4387218"/>
          </a:xfrm>
        </p:grpSpPr>
        <p:pic>
          <p:nvPicPr>
            <p:cNvPr id="104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56416" y="759472"/>
              <a:ext cx="3510723" cy="36277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5" name="SQL"/>
            <p:cNvSpPr txBox="1"/>
            <p:nvPr/>
          </p:nvSpPr>
          <p:spPr>
            <a:xfrm>
              <a:off x="0" y="-1"/>
              <a:ext cx="1322528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SQL</a:t>
              </a:r>
            </a:p>
          </p:txBody>
        </p:sp>
      </p:grpSp>
      <p:grpSp>
        <p:nvGrpSpPr>
          <p:cNvPr id="110" name="Group"/>
          <p:cNvGrpSpPr/>
          <p:nvPr/>
        </p:nvGrpSpPr>
        <p:grpSpPr>
          <a:xfrm>
            <a:off x="12711154" y="8880490"/>
            <a:ext cx="6631478" cy="5676885"/>
            <a:chOff x="0" y="410258"/>
            <a:chExt cx="6631477" cy="5676884"/>
          </a:xfrm>
        </p:grpSpPr>
        <p:pic>
          <p:nvPicPr>
            <p:cNvPr id="107" name="pasted-movie.png" descr="pasted-movi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846290"/>
              <a:ext cx="6631478" cy="38045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8" name="WASM"/>
            <p:cNvSpPr/>
            <p:nvPr/>
          </p:nvSpPr>
          <p:spPr>
            <a:xfrm>
              <a:off x="274697" y="4102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WASM</a:t>
              </a:r>
            </a:p>
          </p:txBody>
        </p:sp>
        <p:sp>
          <p:nvSpPr>
            <p:cNvPr id="109" name="(Cranelift)"/>
            <p:cNvSpPr/>
            <p:nvPr/>
          </p:nvSpPr>
          <p:spPr>
            <a:xfrm>
              <a:off x="3922079" y="481714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(Cranelift)</a:t>
              </a:r>
            </a:p>
          </p:txBody>
        </p:sp>
      </p:grpSp>
      <p:grpSp>
        <p:nvGrpSpPr>
          <p:cNvPr id="114" name="Group"/>
          <p:cNvGrpSpPr/>
          <p:nvPr/>
        </p:nvGrpSpPr>
        <p:grpSpPr>
          <a:xfrm>
            <a:off x="504019" y="2590116"/>
            <a:ext cx="7877239" cy="4678143"/>
            <a:chOff x="0" y="0"/>
            <a:chExt cx="7877238" cy="4678142"/>
          </a:xfrm>
        </p:grpSpPr>
        <p:pic>
          <p:nvPicPr>
            <p:cNvPr id="111" name="pasted-movie.png" descr="pasted-movie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589338"/>
              <a:ext cx="7877239" cy="35290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Floating point"/>
            <p:cNvSpPr txBox="1"/>
            <p:nvPr/>
          </p:nvSpPr>
          <p:spPr>
            <a:xfrm>
              <a:off x="349125" y="-1"/>
              <a:ext cx="3987700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Floating point</a:t>
              </a:r>
            </a:p>
          </p:txBody>
        </p:sp>
        <p:sp>
          <p:nvSpPr>
            <p:cNvPr id="113" name="(Herbie)"/>
            <p:cNvSpPr txBox="1"/>
            <p:nvPr/>
          </p:nvSpPr>
          <p:spPr>
            <a:xfrm>
              <a:off x="3879725" y="3857624"/>
              <a:ext cx="2305204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(Herbie)</a:t>
              </a:r>
            </a:p>
          </p:txBody>
        </p:sp>
      </p:grpSp>
      <p:grpSp>
        <p:nvGrpSpPr>
          <p:cNvPr id="118" name="Group"/>
          <p:cNvGrpSpPr/>
          <p:nvPr/>
        </p:nvGrpSpPr>
        <p:grpSpPr>
          <a:xfrm>
            <a:off x="20340452" y="3036425"/>
            <a:ext cx="4158143" cy="4889095"/>
            <a:chOff x="0" y="0"/>
            <a:chExt cx="4158141" cy="4889093"/>
          </a:xfrm>
        </p:grpSpPr>
        <p:pic>
          <p:nvPicPr>
            <p:cNvPr id="115" name="pasted-movie.png" descr="pasted-movi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596739" y="788083"/>
              <a:ext cx="3360016" cy="33600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6" name="ML Kernels"/>
            <p:cNvSpPr txBox="1"/>
            <p:nvPr/>
          </p:nvSpPr>
          <p:spPr>
            <a:xfrm>
              <a:off x="0" y="-1"/>
              <a:ext cx="3309824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ML Kernels</a:t>
              </a:r>
            </a:p>
          </p:txBody>
        </p:sp>
        <p:sp>
          <p:nvSpPr>
            <p:cNvPr id="117" name="(Luminal)"/>
            <p:cNvSpPr txBox="1"/>
            <p:nvPr/>
          </p:nvSpPr>
          <p:spPr>
            <a:xfrm>
              <a:off x="1492056" y="4068576"/>
              <a:ext cx="2666086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(Luminal)</a:t>
              </a:r>
            </a:p>
          </p:txBody>
        </p:sp>
      </p:grpSp>
      <p:grpSp>
        <p:nvGrpSpPr>
          <p:cNvPr id="121" name="Group"/>
          <p:cNvGrpSpPr/>
          <p:nvPr/>
        </p:nvGrpSpPr>
        <p:grpSpPr>
          <a:xfrm>
            <a:off x="14621470" y="3939353"/>
            <a:ext cx="4717847" cy="3493497"/>
            <a:chOff x="0" y="410258"/>
            <a:chExt cx="4717846" cy="3493496"/>
          </a:xfrm>
        </p:grpSpPr>
        <p:sp>
          <p:nvSpPr>
            <p:cNvPr id="119" name="RTL Optimization"/>
            <p:cNvSpPr/>
            <p:nvPr/>
          </p:nvSpPr>
          <p:spPr>
            <a:xfrm>
              <a:off x="427134" y="4102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RTL Optimization</a:t>
              </a:r>
            </a:p>
          </p:txBody>
        </p:sp>
        <p:pic>
          <p:nvPicPr>
            <p:cNvPr id="120" name="pasted-movie.png" descr="pasted-movie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778653"/>
              <a:ext cx="4717847" cy="3125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2" name="…and more!"/>
          <p:cNvSpPr txBox="1"/>
          <p:nvPr/>
        </p:nvSpPr>
        <p:spPr>
          <a:xfrm>
            <a:off x="20640253" y="12292916"/>
            <a:ext cx="355854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…and more!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8" grpId="4"/>
      <p:bldP build="whole" bldLvl="1" animBg="1" rev="0" advAuto="0" spid="103" grpId="6"/>
      <p:bldP build="whole" bldLvl="1" animBg="1" rev="0" advAuto="0" spid="110" grpId="7"/>
      <p:bldP build="whole" bldLvl="1" animBg="1" rev="0" advAuto="0" spid="121" grpId="3"/>
      <p:bldP build="whole" bldLvl="1" animBg="1" rev="0" advAuto="0" spid="106" grpId="5"/>
      <p:bldP build="whole" bldLvl="1" animBg="1" rev="0" advAuto="0" spid="114" grpId="1"/>
      <p:bldP build="whole" bldLvl="1" animBg="1" rev="0" advAuto="0" spid="122" grpId="8"/>
      <p:bldP build="whole" bldLvl="1" animBg="1" rev="0" advAuto="0" spid="99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6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0" name="+"/>
          <p:cNvSpPr/>
          <p:nvPr/>
        </p:nvSpPr>
        <p:spPr>
          <a:xfrm>
            <a:off x="10241651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1" name="a"/>
          <p:cNvSpPr/>
          <p:nvPr/>
        </p:nvSpPr>
        <p:spPr>
          <a:xfrm>
            <a:off x="10241651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32" name="1"/>
          <p:cNvSpPr/>
          <p:nvPr/>
        </p:nvSpPr>
        <p:spPr>
          <a:xfrm>
            <a:off x="13078023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" name="−"/>
          <p:cNvSpPr/>
          <p:nvPr/>
        </p:nvSpPr>
        <p:spPr>
          <a:xfrm>
            <a:off x="10241651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34" name="Connection Line"/>
          <p:cNvCxnSpPr>
            <a:stCxn id="132" idx="0"/>
            <a:endCxn id="133" idx="0"/>
          </p:cNvCxnSpPr>
          <p:nvPr/>
        </p:nvCxnSpPr>
        <p:spPr>
          <a:xfrm flipH="1" flipV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35" name="Connection Line"/>
          <p:cNvCxnSpPr>
            <a:stCxn id="130" idx="0"/>
            <a:endCxn id="133" idx="0"/>
          </p:cNvCxnSpPr>
          <p:nvPr/>
        </p:nvCxnSpPr>
        <p:spPr>
          <a:xfrm flipV="1">
            <a:off x="10876651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36" name="Connection Line"/>
          <p:cNvCxnSpPr>
            <a:stCxn id="131" idx="0"/>
            <a:endCxn id="130" idx="0"/>
          </p:cNvCxnSpPr>
          <p:nvPr/>
        </p:nvCxnSpPr>
        <p:spPr>
          <a:xfrm flipV="1">
            <a:off x="10876651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37" name="Connection Line"/>
          <p:cNvCxnSpPr>
            <a:stCxn id="132" idx="0"/>
            <a:endCxn id="130" idx="0"/>
          </p:cNvCxnSpPr>
          <p:nvPr/>
        </p:nvCxnSpPr>
        <p:spPr>
          <a:xfrm flipH="1" flipV="1">
            <a:off x="10876651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138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41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2" name="+"/>
          <p:cNvSpPr/>
          <p:nvPr/>
        </p:nvSpPr>
        <p:spPr>
          <a:xfrm>
            <a:off x="10241651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3" name="a"/>
          <p:cNvSpPr/>
          <p:nvPr/>
        </p:nvSpPr>
        <p:spPr>
          <a:xfrm>
            <a:off x="10241651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44" name="1"/>
          <p:cNvSpPr/>
          <p:nvPr/>
        </p:nvSpPr>
        <p:spPr>
          <a:xfrm>
            <a:off x="13078023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5" name="−"/>
          <p:cNvSpPr/>
          <p:nvPr/>
        </p:nvSpPr>
        <p:spPr>
          <a:xfrm>
            <a:off x="10241651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46" name="Connection Line"/>
          <p:cNvCxnSpPr>
            <a:stCxn id="144" idx="0"/>
            <a:endCxn id="145" idx="0"/>
          </p:cNvCxnSpPr>
          <p:nvPr/>
        </p:nvCxnSpPr>
        <p:spPr>
          <a:xfrm flipH="1" flipV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47" name="Connection Line"/>
          <p:cNvCxnSpPr>
            <a:stCxn id="142" idx="0"/>
            <a:endCxn id="145" idx="0"/>
          </p:cNvCxnSpPr>
          <p:nvPr/>
        </p:nvCxnSpPr>
        <p:spPr>
          <a:xfrm flipV="1">
            <a:off x="10876651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48" name="Connection Line"/>
          <p:cNvCxnSpPr>
            <a:stCxn id="143" idx="0"/>
            <a:endCxn id="142" idx="0"/>
          </p:cNvCxnSpPr>
          <p:nvPr/>
        </p:nvCxnSpPr>
        <p:spPr>
          <a:xfrm flipV="1">
            <a:off x="10876651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49" name="Connection Line"/>
          <p:cNvCxnSpPr>
            <a:stCxn id="144" idx="0"/>
            <a:endCxn id="142" idx="0"/>
          </p:cNvCxnSpPr>
          <p:nvPr/>
        </p:nvCxnSpPr>
        <p:spPr>
          <a:xfrm flipH="1" flipV="1">
            <a:off x="10876651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150" name="(α + β) − γ ⇝ α + (β − γ)"/>
          <p:cNvSpPr txBox="1"/>
          <p:nvPr/>
        </p:nvSpPr>
        <p:spPr>
          <a:xfrm>
            <a:off x="14912047" y="6299855"/>
            <a:ext cx="745934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(α + β) − γ ⇝ α + (β − γ)</a:t>
            </a:r>
          </a:p>
        </p:txBody>
      </p:sp>
      <p:sp>
        <p:nvSpPr>
          <p:cNvPr id="151" name="Input term: (a + 1) - 1"/>
          <p:cNvSpPr txBox="1"/>
          <p:nvPr/>
        </p:nvSpPr>
        <p:spPr>
          <a:xfrm>
            <a:off x="1206500" y="31783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54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5" name="+"/>
          <p:cNvSpPr/>
          <p:nvPr/>
        </p:nvSpPr>
        <p:spPr>
          <a:xfrm>
            <a:off x="10241651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6" name="a"/>
          <p:cNvSpPr/>
          <p:nvPr/>
        </p:nvSpPr>
        <p:spPr>
          <a:xfrm>
            <a:off x="10241651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57" name="1"/>
          <p:cNvSpPr/>
          <p:nvPr/>
        </p:nvSpPr>
        <p:spPr>
          <a:xfrm>
            <a:off x="13078023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8" name="−"/>
          <p:cNvSpPr/>
          <p:nvPr/>
        </p:nvSpPr>
        <p:spPr>
          <a:xfrm>
            <a:off x="10241651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59" name="Connection Line"/>
          <p:cNvCxnSpPr>
            <a:stCxn id="157" idx="0"/>
            <a:endCxn id="158" idx="0"/>
          </p:cNvCxnSpPr>
          <p:nvPr/>
        </p:nvCxnSpPr>
        <p:spPr>
          <a:xfrm flipH="1" flipV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60" name="Connection Line"/>
          <p:cNvCxnSpPr>
            <a:stCxn id="155" idx="0"/>
            <a:endCxn id="158" idx="0"/>
          </p:cNvCxnSpPr>
          <p:nvPr/>
        </p:nvCxnSpPr>
        <p:spPr>
          <a:xfrm flipV="1">
            <a:off x="10876651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61" name="Connection Line"/>
          <p:cNvCxnSpPr>
            <a:stCxn id="156" idx="0"/>
            <a:endCxn id="155" idx="0"/>
          </p:cNvCxnSpPr>
          <p:nvPr/>
        </p:nvCxnSpPr>
        <p:spPr>
          <a:xfrm flipV="1">
            <a:off x="10876651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62" name="Connection Line"/>
          <p:cNvCxnSpPr>
            <a:stCxn id="157" idx="0"/>
            <a:endCxn id="155" idx="0"/>
          </p:cNvCxnSpPr>
          <p:nvPr/>
        </p:nvCxnSpPr>
        <p:spPr>
          <a:xfrm flipH="1" flipV="1">
            <a:off x="10876651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163" name="(α + β) − γ ⇝ α + (β − γ)"/>
          <p:cNvSpPr txBox="1"/>
          <p:nvPr/>
        </p:nvSpPr>
        <p:spPr>
          <a:xfrm>
            <a:off x="14912047" y="6299855"/>
            <a:ext cx="745934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(α + β) − γ ⇝ α + (β − γ)</a:t>
            </a:r>
          </a:p>
        </p:txBody>
      </p:sp>
      <p:sp>
        <p:nvSpPr>
          <p:cNvPr id="164" name="+"/>
          <p:cNvSpPr/>
          <p:nvPr/>
        </p:nvSpPr>
        <p:spPr>
          <a:xfrm>
            <a:off x="13078023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5" name="−"/>
          <p:cNvSpPr/>
          <p:nvPr/>
        </p:nvSpPr>
        <p:spPr>
          <a:xfrm>
            <a:off x="13078023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66" name="Connection Line"/>
          <p:cNvCxnSpPr>
            <a:stCxn id="157" idx="0"/>
            <a:endCxn id="165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167" name="Connection Line"/>
          <p:cNvCxnSpPr>
            <a:stCxn id="157" idx="0"/>
            <a:endCxn id="165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168" name="Connection Line"/>
          <p:cNvCxnSpPr>
            <a:stCxn id="164" idx="0"/>
            <a:endCxn id="156" idx="0"/>
          </p:cNvCxnSpPr>
          <p:nvPr/>
        </p:nvCxnSpPr>
        <p:spPr>
          <a:xfrm flipH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169" name="Connection Line"/>
          <p:cNvCxnSpPr>
            <a:stCxn id="164" idx="0"/>
            <a:endCxn id="165" idx="0"/>
          </p:cNvCxnSpPr>
          <p:nvPr/>
        </p:nvCxnSpPr>
        <p:spPr>
          <a:xfrm>
            <a:off x="13713023" y="6795154"/>
            <a:ext cx="1" cy="2428118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170" name="Connection Line"/>
          <p:cNvCxnSpPr>
            <a:stCxn id="164" idx="0"/>
            <a:endCxn id="158" idx="0"/>
          </p:cNvCxnSpPr>
          <p:nvPr/>
        </p:nvCxnSpPr>
        <p:spPr>
          <a:xfrm flipH="1">
            <a:off x="10876651" y="6795154"/>
            <a:ext cx="2836373" cy="1"/>
          </a:xfrm>
          <a:prstGeom prst="straightConnector1">
            <a:avLst/>
          </a:pr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</p:cxnSp>
      <p:sp>
        <p:nvSpPr>
          <p:cNvPr id="171" name="Input term: (a + 1) - 1"/>
          <p:cNvSpPr txBox="1"/>
          <p:nvPr/>
        </p:nvSpPr>
        <p:spPr>
          <a:xfrm>
            <a:off x="1206500" y="31783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5" name="+"/>
          <p:cNvSpPr/>
          <p:nvPr/>
        </p:nvSpPr>
        <p:spPr>
          <a:xfrm>
            <a:off x="10241651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6" name="a"/>
          <p:cNvSpPr/>
          <p:nvPr/>
        </p:nvSpPr>
        <p:spPr>
          <a:xfrm>
            <a:off x="10241651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7" name="1"/>
          <p:cNvSpPr/>
          <p:nvPr/>
        </p:nvSpPr>
        <p:spPr>
          <a:xfrm>
            <a:off x="13078023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8" name="−"/>
          <p:cNvSpPr/>
          <p:nvPr/>
        </p:nvSpPr>
        <p:spPr>
          <a:xfrm>
            <a:off x="10241651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79" name="Connection Line"/>
          <p:cNvCxnSpPr>
            <a:stCxn id="177" idx="0"/>
            <a:endCxn id="178" idx="0"/>
          </p:cNvCxnSpPr>
          <p:nvPr/>
        </p:nvCxnSpPr>
        <p:spPr>
          <a:xfrm flipH="1" flipV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80" name="Connection Line"/>
          <p:cNvCxnSpPr>
            <a:stCxn id="175" idx="0"/>
            <a:endCxn id="178" idx="0"/>
          </p:cNvCxnSpPr>
          <p:nvPr/>
        </p:nvCxnSpPr>
        <p:spPr>
          <a:xfrm flipV="1">
            <a:off x="10876651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81" name="Connection Line"/>
          <p:cNvCxnSpPr>
            <a:stCxn id="176" idx="0"/>
            <a:endCxn id="175" idx="0"/>
          </p:cNvCxnSpPr>
          <p:nvPr/>
        </p:nvCxnSpPr>
        <p:spPr>
          <a:xfrm flipV="1">
            <a:off x="10876651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182" name="Connection Line"/>
          <p:cNvCxnSpPr>
            <a:stCxn id="177" idx="0"/>
            <a:endCxn id="175" idx="0"/>
          </p:cNvCxnSpPr>
          <p:nvPr/>
        </p:nvCxnSpPr>
        <p:spPr>
          <a:xfrm flipH="1" flipV="1">
            <a:off x="10876651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183" name="(α + β) − γ ⇝ α + (β − γ)"/>
          <p:cNvSpPr txBox="1"/>
          <p:nvPr/>
        </p:nvSpPr>
        <p:spPr>
          <a:xfrm>
            <a:off x="14912047" y="6299855"/>
            <a:ext cx="745934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(α + β) − γ ⇝ α + (β − γ)</a:t>
            </a:r>
          </a:p>
        </p:txBody>
      </p:sp>
      <p:sp>
        <p:nvSpPr>
          <p:cNvPr id="184" name="+"/>
          <p:cNvSpPr/>
          <p:nvPr/>
        </p:nvSpPr>
        <p:spPr>
          <a:xfrm>
            <a:off x="13078023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" name="−"/>
          <p:cNvSpPr/>
          <p:nvPr/>
        </p:nvSpPr>
        <p:spPr>
          <a:xfrm>
            <a:off x="13078023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186" name="Connection Line"/>
          <p:cNvCxnSpPr>
            <a:stCxn id="177" idx="0"/>
            <a:endCxn id="185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187" name="Connection Line"/>
          <p:cNvCxnSpPr>
            <a:stCxn id="177" idx="0"/>
            <a:endCxn id="185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188" name="Connection Line"/>
          <p:cNvCxnSpPr>
            <a:stCxn id="184" idx="0"/>
            <a:endCxn id="176" idx="0"/>
          </p:cNvCxnSpPr>
          <p:nvPr/>
        </p:nvCxnSpPr>
        <p:spPr>
          <a:xfrm flipH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189" name="Connection Line"/>
          <p:cNvCxnSpPr>
            <a:stCxn id="184" idx="0"/>
            <a:endCxn id="185" idx="0"/>
          </p:cNvCxnSpPr>
          <p:nvPr/>
        </p:nvCxnSpPr>
        <p:spPr>
          <a:xfrm>
            <a:off x="13713023" y="6795154"/>
            <a:ext cx="1" cy="2428118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190" name="Connection Line"/>
          <p:cNvCxnSpPr>
            <a:stCxn id="184" idx="0"/>
            <a:endCxn id="178" idx="0"/>
          </p:cNvCxnSpPr>
          <p:nvPr/>
        </p:nvCxnSpPr>
        <p:spPr>
          <a:xfrm flipH="1">
            <a:off x="10876651" y="6795154"/>
            <a:ext cx="2836373" cy="1"/>
          </a:xfrm>
          <a:prstGeom prst="straightConnector1">
            <a:avLst/>
          </a:pr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</p:cxnSp>
      <p:sp>
        <p:nvSpPr>
          <p:cNvPr id="191" name="0"/>
          <p:cNvSpPr/>
          <p:nvPr/>
        </p:nvSpPr>
        <p:spPr>
          <a:xfrm>
            <a:off x="15124662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chemeClr val="accent4">
                <a:hueOff val="-858837"/>
                <a:lumOff val="-979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</a:t>
            </a:r>
          </a:p>
        </p:txBody>
      </p:sp>
      <p:cxnSp>
        <p:nvCxnSpPr>
          <p:cNvPr id="192" name="Connection Line"/>
          <p:cNvCxnSpPr>
            <a:stCxn id="185" idx="0"/>
            <a:endCxn id="191" idx="0"/>
          </p:cNvCxnSpPr>
          <p:nvPr/>
        </p:nvCxnSpPr>
        <p:spPr>
          <a:xfrm>
            <a:off x="13713023" y="9223271"/>
            <a:ext cx="2046640" cy="1"/>
          </a:xfrm>
          <a:prstGeom prst="straightConnector1">
            <a:avLst/>
          </a:prstGeom>
          <a:ln w="76200">
            <a:solidFill>
              <a:schemeClr val="accent4">
                <a:hueOff val="-858837"/>
                <a:lumOff val="-9791"/>
              </a:schemeClr>
            </a:solidFill>
            <a:custDash>
              <a:ds d="200000" sp="200000"/>
            </a:custDash>
            <a:miter lim="400000"/>
          </a:ln>
        </p:spPr>
      </p:cxnSp>
      <p:sp>
        <p:nvSpPr>
          <p:cNvPr id="193" name="α − α ⇝ 0"/>
          <p:cNvSpPr txBox="1"/>
          <p:nvPr/>
        </p:nvSpPr>
        <p:spPr>
          <a:xfrm>
            <a:off x="16605200" y="8727971"/>
            <a:ext cx="2944268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accent4">
                    <a:hueOff val="-858837"/>
                    <a:lumOff val="-9791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α − α ⇝ 0</a:t>
            </a:r>
          </a:p>
        </p:txBody>
      </p:sp>
      <p:sp>
        <p:nvSpPr>
          <p:cNvPr id="194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8" name="+"/>
          <p:cNvSpPr/>
          <p:nvPr/>
        </p:nvSpPr>
        <p:spPr>
          <a:xfrm>
            <a:off x="10241651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99" name="a"/>
          <p:cNvSpPr/>
          <p:nvPr/>
        </p:nvSpPr>
        <p:spPr>
          <a:xfrm>
            <a:off x="10241651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00" name="1"/>
          <p:cNvSpPr/>
          <p:nvPr/>
        </p:nvSpPr>
        <p:spPr>
          <a:xfrm>
            <a:off x="13078023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1" name="−"/>
          <p:cNvSpPr/>
          <p:nvPr/>
        </p:nvSpPr>
        <p:spPr>
          <a:xfrm>
            <a:off x="10241651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02" name="Connection Line"/>
          <p:cNvCxnSpPr>
            <a:stCxn id="200" idx="0"/>
            <a:endCxn id="201" idx="0"/>
          </p:cNvCxnSpPr>
          <p:nvPr/>
        </p:nvCxnSpPr>
        <p:spPr>
          <a:xfrm flipH="1" flipV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03" name="Connection Line"/>
          <p:cNvCxnSpPr>
            <a:stCxn id="198" idx="0"/>
            <a:endCxn id="201" idx="0"/>
          </p:cNvCxnSpPr>
          <p:nvPr/>
        </p:nvCxnSpPr>
        <p:spPr>
          <a:xfrm flipV="1">
            <a:off x="10876651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04" name="Connection Line"/>
          <p:cNvCxnSpPr>
            <a:stCxn id="199" idx="0"/>
            <a:endCxn id="198" idx="0"/>
          </p:cNvCxnSpPr>
          <p:nvPr/>
        </p:nvCxnSpPr>
        <p:spPr>
          <a:xfrm flipV="1">
            <a:off x="10876651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05" name="Connection Line"/>
          <p:cNvCxnSpPr>
            <a:stCxn id="200" idx="0"/>
            <a:endCxn id="198" idx="0"/>
          </p:cNvCxnSpPr>
          <p:nvPr/>
        </p:nvCxnSpPr>
        <p:spPr>
          <a:xfrm flipH="1" flipV="1">
            <a:off x="10876651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206" name="(α + β) − γ ⇝ α + (β − γ)"/>
          <p:cNvSpPr txBox="1"/>
          <p:nvPr/>
        </p:nvSpPr>
        <p:spPr>
          <a:xfrm>
            <a:off x="14912047" y="6299855"/>
            <a:ext cx="745934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(α + β) − γ ⇝ α + (β − γ)</a:t>
            </a:r>
          </a:p>
        </p:txBody>
      </p:sp>
      <p:sp>
        <p:nvSpPr>
          <p:cNvPr id="207" name="+"/>
          <p:cNvSpPr/>
          <p:nvPr/>
        </p:nvSpPr>
        <p:spPr>
          <a:xfrm>
            <a:off x="13078023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08" name="−"/>
          <p:cNvSpPr/>
          <p:nvPr/>
        </p:nvSpPr>
        <p:spPr>
          <a:xfrm>
            <a:off x="13078023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433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09" name="Connection Line"/>
          <p:cNvCxnSpPr>
            <a:stCxn id="200" idx="0"/>
            <a:endCxn id="208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210" name="Connection Line"/>
          <p:cNvCxnSpPr>
            <a:stCxn id="200" idx="0"/>
            <a:endCxn id="208" idx="0"/>
          </p:cNvCxnSpPr>
          <p:nvPr/>
        </p:nvCxnSpPr>
        <p:spPr>
          <a:xfrm flipV="1">
            <a:off x="13713023" y="9223271"/>
            <a:ext cx="1" cy="2428117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headEnd type="arrow"/>
          </a:ln>
        </p:spPr>
      </p:cxnSp>
      <p:cxnSp>
        <p:nvCxnSpPr>
          <p:cNvPr id="211" name="Connection Line"/>
          <p:cNvCxnSpPr>
            <a:stCxn id="207" idx="0"/>
            <a:endCxn id="199" idx="0"/>
          </p:cNvCxnSpPr>
          <p:nvPr/>
        </p:nvCxnSpPr>
        <p:spPr>
          <a:xfrm flipH="1">
            <a:off x="10876651" y="6795154"/>
            <a:ext cx="2836373" cy="4856234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212" name="Connection Line"/>
          <p:cNvCxnSpPr>
            <a:stCxn id="207" idx="0"/>
            <a:endCxn id="208" idx="0"/>
          </p:cNvCxnSpPr>
          <p:nvPr/>
        </p:nvCxnSpPr>
        <p:spPr>
          <a:xfrm>
            <a:off x="13713023" y="6795154"/>
            <a:ext cx="1" cy="2428118"/>
          </a:xfrm>
          <a:prstGeom prst="straightConnector1">
            <a:avLst/>
          </a:prstGeom>
          <a:ln w="50800">
            <a:solidFill>
              <a:srgbClr val="0433FF"/>
            </a:solidFill>
            <a:miter lim="400000"/>
            <a:tailEnd type="arrow"/>
          </a:ln>
        </p:spPr>
      </p:cxnSp>
      <p:cxnSp>
        <p:nvCxnSpPr>
          <p:cNvPr id="213" name="Connection Line"/>
          <p:cNvCxnSpPr>
            <a:stCxn id="207" idx="0"/>
            <a:endCxn id="201" idx="0"/>
          </p:cNvCxnSpPr>
          <p:nvPr/>
        </p:nvCxnSpPr>
        <p:spPr>
          <a:xfrm flipH="1">
            <a:off x="10876651" y="6795154"/>
            <a:ext cx="2836373" cy="1"/>
          </a:xfrm>
          <a:prstGeom prst="straightConnector1">
            <a:avLst/>
          </a:prstGeom>
          <a:ln w="76200">
            <a:solidFill>
              <a:srgbClr val="0433FF"/>
            </a:solidFill>
            <a:custDash>
              <a:ds d="200000" sp="200000"/>
            </a:custDash>
            <a:miter lim="400000"/>
          </a:ln>
        </p:spPr>
      </p:cxnSp>
      <p:sp>
        <p:nvSpPr>
          <p:cNvPr id="214" name="0"/>
          <p:cNvSpPr/>
          <p:nvPr/>
        </p:nvSpPr>
        <p:spPr>
          <a:xfrm>
            <a:off x="15124662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chemeClr val="accent4">
                <a:hueOff val="-858837"/>
                <a:lumOff val="-9791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</a:t>
            </a:r>
          </a:p>
        </p:txBody>
      </p:sp>
      <p:cxnSp>
        <p:nvCxnSpPr>
          <p:cNvPr id="215" name="Connection Line"/>
          <p:cNvCxnSpPr>
            <a:stCxn id="208" idx="0"/>
            <a:endCxn id="214" idx="0"/>
          </p:cNvCxnSpPr>
          <p:nvPr/>
        </p:nvCxnSpPr>
        <p:spPr>
          <a:xfrm>
            <a:off x="13713023" y="9223271"/>
            <a:ext cx="2046640" cy="1"/>
          </a:xfrm>
          <a:prstGeom prst="straightConnector1">
            <a:avLst/>
          </a:prstGeom>
          <a:ln w="76200">
            <a:solidFill>
              <a:schemeClr val="accent4">
                <a:hueOff val="-858837"/>
                <a:lumOff val="-9791"/>
              </a:schemeClr>
            </a:solidFill>
            <a:custDash>
              <a:ds d="200000" sp="200000"/>
            </a:custDash>
            <a:miter lim="400000"/>
          </a:ln>
        </p:spPr>
      </p:cxnSp>
      <p:sp>
        <p:nvSpPr>
          <p:cNvPr id="216" name="α − α ⇝ 0"/>
          <p:cNvSpPr txBox="1"/>
          <p:nvPr/>
        </p:nvSpPr>
        <p:spPr>
          <a:xfrm>
            <a:off x="16605200" y="8727971"/>
            <a:ext cx="2944268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chemeClr val="accent4">
                    <a:hueOff val="-858837"/>
                    <a:lumOff val="-9791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α − α ⇝ 0</a:t>
            </a:r>
          </a:p>
        </p:txBody>
      </p:sp>
      <p:sp>
        <p:nvSpPr>
          <p:cNvPr id="217" name="α + 0 ⇝ α"/>
          <p:cNvSpPr txBox="1"/>
          <p:nvPr/>
        </p:nvSpPr>
        <p:spPr>
          <a:xfrm>
            <a:off x="6943418" y="11156087"/>
            <a:ext cx="2944267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4F8F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α + 0 ⇝ α</a:t>
            </a:r>
          </a:p>
        </p:txBody>
      </p:sp>
      <p:cxnSp>
        <p:nvCxnSpPr>
          <p:cNvPr id="218" name="Connection Line"/>
          <p:cNvCxnSpPr>
            <a:stCxn id="199" idx="0"/>
            <a:endCxn id="207" idx="0"/>
          </p:cNvCxnSpPr>
          <p:nvPr/>
        </p:nvCxnSpPr>
        <p:spPr>
          <a:xfrm flipV="1">
            <a:off x="10876651" y="6795154"/>
            <a:ext cx="2836373" cy="4856234"/>
          </a:xfrm>
          <a:prstGeom prst="straightConnector1">
            <a:avLst/>
          </a:prstGeom>
          <a:ln w="76200">
            <a:solidFill>
              <a:srgbClr val="4F8F00"/>
            </a:solidFill>
            <a:custDash>
              <a:ds d="200000" sp="200000"/>
            </a:custDash>
            <a:miter lim="400000"/>
          </a:ln>
        </p:spPr>
      </p:cxnSp>
      <p:sp>
        <p:nvSpPr>
          <p:cNvPr id="219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>
            <a:off x="24003051" y="132714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Shape"/>
          <p:cNvSpPr/>
          <p:nvPr/>
        </p:nvSpPr>
        <p:spPr>
          <a:xfrm>
            <a:off x="12939387" y="8320301"/>
            <a:ext cx="3821997" cy="178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0" h="20239" fill="norm" stroke="1" extrusionOk="0">
                <a:moveTo>
                  <a:pt x="31" y="9560"/>
                </a:moveTo>
                <a:cubicBezTo>
                  <a:pt x="101" y="12968"/>
                  <a:pt x="24" y="16369"/>
                  <a:pt x="1257" y="18605"/>
                </a:cubicBezTo>
                <a:cubicBezTo>
                  <a:pt x="2489" y="20840"/>
                  <a:pt x="4216" y="20426"/>
                  <a:pt x="5892" y="19465"/>
                </a:cubicBezTo>
                <a:cubicBezTo>
                  <a:pt x="7266" y="18677"/>
                  <a:pt x="8720" y="17626"/>
                  <a:pt x="10193" y="17550"/>
                </a:cubicBezTo>
                <a:cubicBezTo>
                  <a:pt x="12233" y="17444"/>
                  <a:pt x="14241" y="19292"/>
                  <a:pt x="16151" y="19391"/>
                </a:cubicBezTo>
                <a:cubicBezTo>
                  <a:pt x="18624" y="19518"/>
                  <a:pt x="20718" y="16947"/>
                  <a:pt x="21156" y="12007"/>
                </a:cubicBezTo>
                <a:cubicBezTo>
                  <a:pt x="21507" y="8052"/>
                  <a:pt x="20581" y="4523"/>
                  <a:pt x="19142" y="2378"/>
                </a:cubicBezTo>
                <a:cubicBezTo>
                  <a:pt x="17157" y="-580"/>
                  <a:pt x="14453" y="-760"/>
                  <a:pt x="11938" y="1738"/>
                </a:cubicBezTo>
                <a:cubicBezTo>
                  <a:pt x="11231" y="2439"/>
                  <a:pt x="10559" y="3411"/>
                  <a:pt x="9770" y="3538"/>
                </a:cubicBezTo>
                <a:cubicBezTo>
                  <a:pt x="8818" y="3691"/>
                  <a:pt x="7952" y="2610"/>
                  <a:pt x="7050" y="1982"/>
                </a:cubicBezTo>
                <a:cubicBezTo>
                  <a:pt x="5680" y="1029"/>
                  <a:pt x="4248" y="1091"/>
                  <a:pt x="2843" y="1517"/>
                </a:cubicBezTo>
                <a:cubicBezTo>
                  <a:pt x="1928" y="1794"/>
                  <a:pt x="1043" y="2238"/>
                  <a:pt x="506" y="3647"/>
                </a:cubicBezTo>
                <a:cubicBezTo>
                  <a:pt x="-93" y="5220"/>
                  <a:pt x="-14" y="7409"/>
                  <a:pt x="31" y="9560"/>
                </a:cubicBezTo>
                <a:close/>
              </a:path>
            </a:pathLst>
          </a:custGeom>
          <a:solidFill>
            <a:schemeClr val="accent1">
              <a:lumOff val="-13575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Shape"/>
          <p:cNvSpPr/>
          <p:nvPr/>
        </p:nvSpPr>
        <p:spPr>
          <a:xfrm>
            <a:off x="9948575" y="5886366"/>
            <a:ext cx="4673421" cy="6655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1" h="21147" fill="norm" stroke="1" extrusionOk="0">
                <a:moveTo>
                  <a:pt x="1897" y="195"/>
                </a:moveTo>
                <a:cubicBezTo>
                  <a:pt x="3336" y="-283"/>
                  <a:pt x="4709" y="235"/>
                  <a:pt x="6155" y="480"/>
                </a:cubicBezTo>
                <a:cubicBezTo>
                  <a:pt x="6884" y="604"/>
                  <a:pt x="7647" y="651"/>
                  <a:pt x="8380" y="750"/>
                </a:cubicBezTo>
                <a:cubicBezTo>
                  <a:pt x="9135" y="852"/>
                  <a:pt x="9858" y="1006"/>
                  <a:pt x="10575" y="1114"/>
                </a:cubicBezTo>
                <a:cubicBezTo>
                  <a:pt x="11465" y="1248"/>
                  <a:pt x="12411" y="1335"/>
                  <a:pt x="13337" y="1152"/>
                </a:cubicBezTo>
                <a:cubicBezTo>
                  <a:pt x="14189" y="983"/>
                  <a:pt x="14929" y="586"/>
                  <a:pt x="15761" y="397"/>
                </a:cubicBezTo>
                <a:cubicBezTo>
                  <a:pt x="16611" y="203"/>
                  <a:pt x="17463" y="207"/>
                  <a:pt x="18256" y="300"/>
                </a:cubicBezTo>
                <a:cubicBezTo>
                  <a:pt x="19039" y="391"/>
                  <a:pt x="19830" y="577"/>
                  <a:pt x="20511" y="1045"/>
                </a:cubicBezTo>
                <a:cubicBezTo>
                  <a:pt x="21355" y="1627"/>
                  <a:pt x="21563" y="2430"/>
                  <a:pt x="21400" y="3195"/>
                </a:cubicBezTo>
                <a:cubicBezTo>
                  <a:pt x="21231" y="3985"/>
                  <a:pt x="20673" y="4791"/>
                  <a:pt x="19596" y="5278"/>
                </a:cubicBezTo>
                <a:cubicBezTo>
                  <a:pt x="18734" y="5667"/>
                  <a:pt x="17667" y="5754"/>
                  <a:pt x="16731" y="6056"/>
                </a:cubicBezTo>
                <a:cubicBezTo>
                  <a:pt x="15503" y="6452"/>
                  <a:pt x="14591" y="7172"/>
                  <a:pt x="13870" y="7952"/>
                </a:cubicBezTo>
                <a:cubicBezTo>
                  <a:pt x="12906" y="8994"/>
                  <a:pt x="12203" y="10177"/>
                  <a:pt x="11414" y="11326"/>
                </a:cubicBezTo>
                <a:cubicBezTo>
                  <a:pt x="10870" y="12119"/>
                  <a:pt x="10279" y="12896"/>
                  <a:pt x="9558" y="13607"/>
                </a:cubicBezTo>
                <a:cubicBezTo>
                  <a:pt x="8707" y="14446"/>
                  <a:pt x="7632" y="15255"/>
                  <a:pt x="7572" y="16262"/>
                </a:cubicBezTo>
                <a:cubicBezTo>
                  <a:pt x="7537" y="16872"/>
                  <a:pt x="7881" y="17450"/>
                  <a:pt x="8040" y="18049"/>
                </a:cubicBezTo>
                <a:cubicBezTo>
                  <a:pt x="8237" y="18789"/>
                  <a:pt x="8157" y="19536"/>
                  <a:pt x="7561" y="20108"/>
                </a:cubicBezTo>
                <a:cubicBezTo>
                  <a:pt x="7004" y="20643"/>
                  <a:pt x="6076" y="20939"/>
                  <a:pt x="5058" y="21071"/>
                </a:cubicBezTo>
                <a:cubicBezTo>
                  <a:pt x="3154" y="21317"/>
                  <a:pt x="1245" y="20974"/>
                  <a:pt x="410" y="19875"/>
                </a:cubicBezTo>
                <a:cubicBezTo>
                  <a:pt x="24" y="19367"/>
                  <a:pt x="-22" y="18776"/>
                  <a:pt x="7" y="18197"/>
                </a:cubicBezTo>
                <a:cubicBezTo>
                  <a:pt x="36" y="17620"/>
                  <a:pt x="128" y="17010"/>
                  <a:pt x="580" y="16462"/>
                </a:cubicBezTo>
                <a:cubicBezTo>
                  <a:pt x="1273" y="15621"/>
                  <a:pt x="2563" y="15164"/>
                  <a:pt x="3744" y="14652"/>
                </a:cubicBezTo>
                <a:cubicBezTo>
                  <a:pt x="4936" y="14135"/>
                  <a:pt x="6056" y="13530"/>
                  <a:pt x="6859" y="12729"/>
                </a:cubicBezTo>
                <a:cubicBezTo>
                  <a:pt x="7671" y="11916"/>
                  <a:pt x="8205" y="11005"/>
                  <a:pt x="8786" y="10106"/>
                </a:cubicBezTo>
                <a:cubicBezTo>
                  <a:pt x="9676" y="8729"/>
                  <a:pt x="10242" y="6973"/>
                  <a:pt x="11999" y="6155"/>
                </a:cubicBezTo>
                <a:cubicBezTo>
                  <a:pt x="12608" y="5871"/>
                  <a:pt x="13280" y="5658"/>
                  <a:pt x="13632" y="5288"/>
                </a:cubicBezTo>
                <a:cubicBezTo>
                  <a:pt x="14021" y="4878"/>
                  <a:pt x="13994" y="4382"/>
                  <a:pt x="13461" y="3931"/>
                </a:cubicBezTo>
                <a:cubicBezTo>
                  <a:pt x="12555" y="3164"/>
                  <a:pt x="10957" y="3387"/>
                  <a:pt x="9549" y="3824"/>
                </a:cubicBezTo>
                <a:cubicBezTo>
                  <a:pt x="9054" y="3978"/>
                  <a:pt x="8547" y="4137"/>
                  <a:pt x="8075" y="4324"/>
                </a:cubicBezTo>
                <a:cubicBezTo>
                  <a:pt x="6983" y="4757"/>
                  <a:pt x="6087" y="5467"/>
                  <a:pt x="4855" y="5665"/>
                </a:cubicBezTo>
                <a:cubicBezTo>
                  <a:pt x="3978" y="5806"/>
                  <a:pt x="3062" y="5671"/>
                  <a:pt x="2270" y="5370"/>
                </a:cubicBezTo>
                <a:cubicBezTo>
                  <a:pt x="1563" y="5101"/>
                  <a:pt x="980" y="4722"/>
                  <a:pt x="586" y="4231"/>
                </a:cubicBezTo>
                <a:cubicBezTo>
                  <a:pt x="-10" y="3486"/>
                  <a:pt x="-37" y="2630"/>
                  <a:pt x="184" y="1898"/>
                </a:cubicBezTo>
                <a:cubicBezTo>
                  <a:pt x="401" y="1183"/>
                  <a:pt x="903" y="526"/>
                  <a:pt x="1897" y="195"/>
                </a:cubicBezTo>
                <a:close/>
              </a:path>
            </a:pathLst>
          </a:custGeom>
          <a:solidFill>
            <a:schemeClr val="accent6">
              <a:satOff val="-20754"/>
              <a:lumOff val="-16738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+"/>
          <p:cNvSpPr/>
          <p:nvPr/>
        </p:nvSpPr>
        <p:spPr>
          <a:xfrm>
            <a:off x="10244846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26" name="a"/>
          <p:cNvSpPr/>
          <p:nvPr/>
        </p:nvSpPr>
        <p:spPr>
          <a:xfrm>
            <a:off x="10244846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27" name="1"/>
          <p:cNvSpPr/>
          <p:nvPr/>
        </p:nvSpPr>
        <p:spPr>
          <a:xfrm>
            <a:off x="13081218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8" name="−"/>
          <p:cNvSpPr/>
          <p:nvPr/>
        </p:nvSpPr>
        <p:spPr>
          <a:xfrm>
            <a:off x="10244846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29" name="Connection Line"/>
          <p:cNvCxnSpPr>
            <a:stCxn id="227" idx="0"/>
            <a:endCxn id="228" idx="0"/>
          </p:cNvCxnSpPr>
          <p:nvPr/>
        </p:nvCxnSpPr>
        <p:spPr>
          <a:xfrm flipH="1" flipV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30" name="Connection Line"/>
          <p:cNvCxnSpPr>
            <a:stCxn id="225" idx="0"/>
            <a:endCxn id="228" idx="0"/>
          </p:cNvCxnSpPr>
          <p:nvPr/>
        </p:nvCxnSpPr>
        <p:spPr>
          <a:xfrm flipV="1">
            <a:off x="10879846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31" name="Connection Line"/>
          <p:cNvCxnSpPr>
            <a:stCxn id="226" idx="0"/>
            <a:endCxn id="225" idx="0"/>
          </p:cNvCxnSpPr>
          <p:nvPr/>
        </p:nvCxnSpPr>
        <p:spPr>
          <a:xfrm flipV="1">
            <a:off x="10879846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32" name="Connection Line"/>
          <p:cNvCxnSpPr>
            <a:stCxn id="227" idx="0"/>
            <a:endCxn id="225" idx="0"/>
          </p:cNvCxnSpPr>
          <p:nvPr/>
        </p:nvCxnSpPr>
        <p:spPr>
          <a:xfrm flipH="1" flipV="1">
            <a:off x="10879846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233" name="+"/>
          <p:cNvSpPr/>
          <p:nvPr/>
        </p:nvSpPr>
        <p:spPr>
          <a:xfrm>
            <a:off x="13081218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34" name="−"/>
          <p:cNvSpPr/>
          <p:nvPr/>
        </p:nvSpPr>
        <p:spPr>
          <a:xfrm>
            <a:off x="1308121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35" name="Connection Line"/>
          <p:cNvCxnSpPr>
            <a:stCxn id="227" idx="0"/>
            <a:endCxn id="234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36" name="Connection Line"/>
          <p:cNvCxnSpPr>
            <a:stCxn id="227" idx="0"/>
            <a:endCxn id="234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37" name="Connection Line"/>
          <p:cNvCxnSpPr>
            <a:stCxn id="233" idx="0"/>
            <a:endCxn id="226" idx="0"/>
          </p:cNvCxnSpPr>
          <p:nvPr/>
        </p:nvCxnSpPr>
        <p:spPr>
          <a:xfrm flipH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38" name="Connection Line"/>
          <p:cNvCxnSpPr>
            <a:stCxn id="233" idx="0"/>
            <a:endCxn id="234" idx="0"/>
          </p:cNvCxnSpPr>
          <p:nvPr/>
        </p:nvCxnSpPr>
        <p:spPr>
          <a:xfrm>
            <a:off x="13716218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39" name="Connection Line"/>
          <p:cNvCxnSpPr>
            <a:stCxn id="233" idx="0"/>
            <a:endCxn id="228" idx="0"/>
          </p:cNvCxnSpPr>
          <p:nvPr/>
        </p:nvCxnSpPr>
        <p:spPr>
          <a:xfrm flipH="1">
            <a:off x="10879846" y="6795154"/>
            <a:ext cx="2836373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40" name="0"/>
          <p:cNvSpPr/>
          <p:nvPr/>
        </p:nvSpPr>
        <p:spPr>
          <a:xfrm>
            <a:off x="1512785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</a:t>
            </a:r>
          </a:p>
        </p:txBody>
      </p:sp>
      <p:cxnSp>
        <p:nvCxnSpPr>
          <p:cNvPr id="241" name="Connection Line"/>
          <p:cNvCxnSpPr>
            <a:stCxn id="234" idx="0"/>
            <a:endCxn id="240" idx="0"/>
          </p:cNvCxnSpPr>
          <p:nvPr/>
        </p:nvCxnSpPr>
        <p:spPr>
          <a:xfrm>
            <a:off x="13716218" y="9223271"/>
            <a:ext cx="2046641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cxnSp>
        <p:nvCxnSpPr>
          <p:cNvPr id="242" name="Connection Line"/>
          <p:cNvCxnSpPr>
            <a:stCxn id="226" idx="0"/>
            <a:endCxn id="233" idx="0"/>
          </p:cNvCxnSpPr>
          <p:nvPr/>
        </p:nvCxnSpPr>
        <p:spPr>
          <a:xfrm flipV="1">
            <a:off x="10879846" y="6795154"/>
            <a:ext cx="2836373" cy="4856234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43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7" name="Shape"/>
          <p:cNvSpPr/>
          <p:nvPr/>
        </p:nvSpPr>
        <p:spPr>
          <a:xfrm>
            <a:off x="12939387" y="8320301"/>
            <a:ext cx="3821997" cy="178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0" h="20239" fill="norm" stroke="1" extrusionOk="0">
                <a:moveTo>
                  <a:pt x="31" y="9560"/>
                </a:moveTo>
                <a:cubicBezTo>
                  <a:pt x="101" y="12968"/>
                  <a:pt x="24" y="16369"/>
                  <a:pt x="1257" y="18605"/>
                </a:cubicBezTo>
                <a:cubicBezTo>
                  <a:pt x="2489" y="20840"/>
                  <a:pt x="4216" y="20426"/>
                  <a:pt x="5892" y="19465"/>
                </a:cubicBezTo>
                <a:cubicBezTo>
                  <a:pt x="7266" y="18677"/>
                  <a:pt x="8720" y="17626"/>
                  <a:pt x="10193" y="17550"/>
                </a:cubicBezTo>
                <a:cubicBezTo>
                  <a:pt x="12233" y="17444"/>
                  <a:pt x="14241" y="19292"/>
                  <a:pt x="16151" y="19391"/>
                </a:cubicBezTo>
                <a:cubicBezTo>
                  <a:pt x="18624" y="19518"/>
                  <a:pt x="20718" y="16947"/>
                  <a:pt x="21156" y="12007"/>
                </a:cubicBezTo>
                <a:cubicBezTo>
                  <a:pt x="21507" y="8052"/>
                  <a:pt x="20581" y="4523"/>
                  <a:pt x="19142" y="2378"/>
                </a:cubicBezTo>
                <a:cubicBezTo>
                  <a:pt x="17157" y="-580"/>
                  <a:pt x="14453" y="-760"/>
                  <a:pt x="11938" y="1738"/>
                </a:cubicBezTo>
                <a:cubicBezTo>
                  <a:pt x="11231" y="2439"/>
                  <a:pt x="10559" y="3411"/>
                  <a:pt x="9770" y="3538"/>
                </a:cubicBezTo>
                <a:cubicBezTo>
                  <a:pt x="8818" y="3691"/>
                  <a:pt x="7952" y="2610"/>
                  <a:pt x="7050" y="1982"/>
                </a:cubicBezTo>
                <a:cubicBezTo>
                  <a:pt x="5680" y="1029"/>
                  <a:pt x="4248" y="1091"/>
                  <a:pt x="2843" y="1517"/>
                </a:cubicBezTo>
                <a:cubicBezTo>
                  <a:pt x="1928" y="1794"/>
                  <a:pt x="1043" y="2238"/>
                  <a:pt x="506" y="3647"/>
                </a:cubicBezTo>
                <a:cubicBezTo>
                  <a:pt x="-93" y="5220"/>
                  <a:pt x="-14" y="7409"/>
                  <a:pt x="31" y="9560"/>
                </a:cubicBezTo>
                <a:close/>
              </a:path>
            </a:pathLst>
          </a:custGeom>
          <a:solidFill>
            <a:schemeClr val="accent1">
              <a:lumOff val="-13575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Shape"/>
          <p:cNvSpPr/>
          <p:nvPr/>
        </p:nvSpPr>
        <p:spPr>
          <a:xfrm>
            <a:off x="9948575" y="5886366"/>
            <a:ext cx="4673421" cy="6655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1" h="21147" fill="norm" stroke="1" extrusionOk="0">
                <a:moveTo>
                  <a:pt x="1897" y="195"/>
                </a:moveTo>
                <a:cubicBezTo>
                  <a:pt x="3336" y="-283"/>
                  <a:pt x="4709" y="235"/>
                  <a:pt x="6155" y="480"/>
                </a:cubicBezTo>
                <a:cubicBezTo>
                  <a:pt x="6884" y="604"/>
                  <a:pt x="7647" y="651"/>
                  <a:pt x="8380" y="750"/>
                </a:cubicBezTo>
                <a:cubicBezTo>
                  <a:pt x="9135" y="852"/>
                  <a:pt x="9858" y="1006"/>
                  <a:pt x="10575" y="1114"/>
                </a:cubicBezTo>
                <a:cubicBezTo>
                  <a:pt x="11465" y="1248"/>
                  <a:pt x="12411" y="1335"/>
                  <a:pt x="13337" y="1152"/>
                </a:cubicBezTo>
                <a:cubicBezTo>
                  <a:pt x="14189" y="983"/>
                  <a:pt x="14929" y="586"/>
                  <a:pt x="15761" y="397"/>
                </a:cubicBezTo>
                <a:cubicBezTo>
                  <a:pt x="16611" y="203"/>
                  <a:pt x="17463" y="207"/>
                  <a:pt x="18256" y="300"/>
                </a:cubicBezTo>
                <a:cubicBezTo>
                  <a:pt x="19039" y="391"/>
                  <a:pt x="19830" y="577"/>
                  <a:pt x="20511" y="1045"/>
                </a:cubicBezTo>
                <a:cubicBezTo>
                  <a:pt x="21355" y="1627"/>
                  <a:pt x="21563" y="2430"/>
                  <a:pt x="21400" y="3195"/>
                </a:cubicBezTo>
                <a:cubicBezTo>
                  <a:pt x="21231" y="3985"/>
                  <a:pt x="20673" y="4791"/>
                  <a:pt x="19596" y="5278"/>
                </a:cubicBezTo>
                <a:cubicBezTo>
                  <a:pt x="18734" y="5667"/>
                  <a:pt x="17667" y="5754"/>
                  <a:pt x="16731" y="6056"/>
                </a:cubicBezTo>
                <a:cubicBezTo>
                  <a:pt x="15503" y="6452"/>
                  <a:pt x="14591" y="7172"/>
                  <a:pt x="13870" y="7952"/>
                </a:cubicBezTo>
                <a:cubicBezTo>
                  <a:pt x="12906" y="8994"/>
                  <a:pt x="12203" y="10177"/>
                  <a:pt x="11414" y="11326"/>
                </a:cubicBezTo>
                <a:cubicBezTo>
                  <a:pt x="10870" y="12119"/>
                  <a:pt x="10279" y="12896"/>
                  <a:pt x="9558" y="13607"/>
                </a:cubicBezTo>
                <a:cubicBezTo>
                  <a:pt x="8707" y="14446"/>
                  <a:pt x="7632" y="15255"/>
                  <a:pt x="7572" y="16262"/>
                </a:cubicBezTo>
                <a:cubicBezTo>
                  <a:pt x="7537" y="16872"/>
                  <a:pt x="7881" y="17450"/>
                  <a:pt x="8040" y="18049"/>
                </a:cubicBezTo>
                <a:cubicBezTo>
                  <a:pt x="8237" y="18789"/>
                  <a:pt x="8157" y="19536"/>
                  <a:pt x="7561" y="20108"/>
                </a:cubicBezTo>
                <a:cubicBezTo>
                  <a:pt x="7004" y="20643"/>
                  <a:pt x="6076" y="20939"/>
                  <a:pt x="5058" y="21071"/>
                </a:cubicBezTo>
                <a:cubicBezTo>
                  <a:pt x="3154" y="21317"/>
                  <a:pt x="1245" y="20974"/>
                  <a:pt x="410" y="19875"/>
                </a:cubicBezTo>
                <a:cubicBezTo>
                  <a:pt x="24" y="19367"/>
                  <a:pt x="-22" y="18776"/>
                  <a:pt x="7" y="18197"/>
                </a:cubicBezTo>
                <a:cubicBezTo>
                  <a:pt x="36" y="17620"/>
                  <a:pt x="128" y="17010"/>
                  <a:pt x="580" y="16462"/>
                </a:cubicBezTo>
                <a:cubicBezTo>
                  <a:pt x="1273" y="15621"/>
                  <a:pt x="2563" y="15164"/>
                  <a:pt x="3744" y="14652"/>
                </a:cubicBezTo>
                <a:cubicBezTo>
                  <a:pt x="4936" y="14135"/>
                  <a:pt x="6056" y="13530"/>
                  <a:pt x="6859" y="12729"/>
                </a:cubicBezTo>
                <a:cubicBezTo>
                  <a:pt x="7671" y="11916"/>
                  <a:pt x="8205" y="11005"/>
                  <a:pt x="8786" y="10106"/>
                </a:cubicBezTo>
                <a:cubicBezTo>
                  <a:pt x="9676" y="8729"/>
                  <a:pt x="10242" y="6973"/>
                  <a:pt x="11999" y="6155"/>
                </a:cubicBezTo>
                <a:cubicBezTo>
                  <a:pt x="12608" y="5871"/>
                  <a:pt x="13280" y="5658"/>
                  <a:pt x="13632" y="5288"/>
                </a:cubicBezTo>
                <a:cubicBezTo>
                  <a:pt x="14021" y="4878"/>
                  <a:pt x="13994" y="4382"/>
                  <a:pt x="13461" y="3931"/>
                </a:cubicBezTo>
                <a:cubicBezTo>
                  <a:pt x="12555" y="3164"/>
                  <a:pt x="10957" y="3387"/>
                  <a:pt x="9549" y="3824"/>
                </a:cubicBezTo>
                <a:cubicBezTo>
                  <a:pt x="9054" y="3978"/>
                  <a:pt x="8547" y="4137"/>
                  <a:pt x="8075" y="4324"/>
                </a:cubicBezTo>
                <a:cubicBezTo>
                  <a:pt x="6983" y="4757"/>
                  <a:pt x="6087" y="5467"/>
                  <a:pt x="4855" y="5665"/>
                </a:cubicBezTo>
                <a:cubicBezTo>
                  <a:pt x="3978" y="5806"/>
                  <a:pt x="3062" y="5671"/>
                  <a:pt x="2270" y="5370"/>
                </a:cubicBezTo>
                <a:cubicBezTo>
                  <a:pt x="1563" y="5101"/>
                  <a:pt x="980" y="4722"/>
                  <a:pt x="586" y="4231"/>
                </a:cubicBezTo>
                <a:cubicBezTo>
                  <a:pt x="-10" y="3486"/>
                  <a:pt x="-37" y="2630"/>
                  <a:pt x="184" y="1898"/>
                </a:cubicBezTo>
                <a:cubicBezTo>
                  <a:pt x="401" y="1183"/>
                  <a:pt x="903" y="526"/>
                  <a:pt x="1897" y="195"/>
                </a:cubicBezTo>
                <a:close/>
              </a:path>
            </a:pathLst>
          </a:custGeom>
          <a:solidFill>
            <a:schemeClr val="accent6">
              <a:satOff val="-20754"/>
              <a:lumOff val="-16738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" name="+"/>
          <p:cNvSpPr/>
          <p:nvPr/>
        </p:nvSpPr>
        <p:spPr>
          <a:xfrm>
            <a:off x="10244846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50" name="a"/>
          <p:cNvSpPr/>
          <p:nvPr/>
        </p:nvSpPr>
        <p:spPr>
          <a:xfrm>
            <a:off x="10244846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51" name="1"/>
          <p:cNvSpPr/>
          <p:nvPr/>
        </p:nvSpPr>
        <p:spPr>
          <a:xfrm>
            <a:off x="13081218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2" name="−"/>
          <p:cNvSpPr/>
          <p:nvPr/>
        </p:nvSpPr>
        <p:spPr>
          <a:xfrm>
            <a:off x="10244846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53" name="Connection Line"/>
          <p:cNvCxnSpPr>
            <a:stCxn id="251" idx="0"/>
            <a:endCxn id="252" idx="0"/>
          </p:cNvCxnSpPr>
          <p:nvPr/>
        </p:nvCxnSpPr>
        <p:spPr>
          <a:xfrm flipH="1" flipV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54" name="Connection Line"/>
          <p:cNvCxnSpPr>
            <a:stCxn id="249" idx="0"/>
            <a:endCxn id="252" idx="0"/>
          </p:cNvCxnSpPr>
          <p:nvPr/>
        </p:nvCxnSpPr>
        <p:spPr>
          <a:xfrm flipV="1">
            <a:off x="10879846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55" name="Connection Line"/>
          <p:cNvCxnSpPr>
            <a:stCxn id="250" idx="0"/>
            <a:endCxn id="249" idx="0"/>
          </p:cNvCxnSpPr>
          <p:nvPr/>
        </p:nvCxnSpPr>
        <p:spPr>
          <a:xfrm flipV="1">
            <a:off x="10879846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56" name="Connection Line"/>
          <p:cNvCxnSpPr>
            <a:stCxn id="251" idx="0"/>
            <a:endCxn id="249" idx="0"/>
          </p:cNvCxnSpPr>
          <p:nvPr/>
        </p:nvCxnSpPr>
        <p:spPr>
          <a:xfrm flipH="1" flipV="1">
            <a:off x="10879846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257" name="+"/>
          <p:cNvSpPr/>
          <p:nvPr/>
        </p:nvSpPr>
        <p:spPr>
          <a:xfrm>
            <a:off x="13081218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58" name="−"/>
          <p:cNvSpPr/>
          <p:nvPr/>
        </p:nvSpPr>
        <p:spPr>
          <a:xfrm>
            <a:off x="1308121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59" name="Connection Line"/>
          <p:cNvCxnSpPr>
            <a:stCxn id="251" idx="0"/>
            <a:endCxn id="258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60" name="Connection Line"/>
          <p:cNvCxnSpPr>
            <a:stCxn id="251" idx="0"/>
            <a:endCxn id="258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61" name="Connection Line"/>
          <p:cNvCxnSpPr>
            <a:stCxn id="257" idx="0"/>
            <a:endCxn id="250" idx="0"/>
          </p:cNvCxnSpPr>
          <p:nvPr/>
        </p:nvCxnSpPr>
        <p:spPr>
          <a:xfrm flipH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62" name="Connection Line"/>
          <p:cNvCxnSpPr>
            <a:stCxn id="257" idx="0"/>
            <a:endCxn id="258" idx="0"/>
          </p:cNvCxnSpPr>
          <p:nvPr/>
        </p:nvCxnSpPr>
        <p:spPr>
          <a:xfrm>
            <a:off x="13716218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63" name="Connection Line"/>
          <p:cNvCxnSpPr>
            <a:stCxn id="257" idx="0"/>
            <a:endCxn id="252" idx="0"/>
          </p:cNvCxnSpPr>
          <p:nvPr/>
        </p:nvCxnSpPr>
        <p:spPr>
          <a:xfrm flipH="1">
            <a:off x="10879846" y="6795154"/>
            <a:ext cx="2836373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64" name="0"/>
          <p:cNvSpPr/>
          <p:nvPr/>
        </p:nvSpPr>
        <p:spPr>
          <a:xfrm>
            <a:off x="1512785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</a:t>
            </a:r>
          </a:p>
        </p:txBody>
      </p:sp>
      <p:cxnSp>
        <p:nvCxnSpPr>
          <p:cNvPr id="265" name="Connection Line"/>
          <p:cNvCxnSpPr>
            <a:stCxn id="258" idx="0"/>
            <a:endCxn id="264" idx="0"/>
          </p:cNvCxnSpPr>
          <p:nvPr/>
        </p:nvCxnSpPr>
        <p:spPr>
          <a:xfrm>
            <a:off x="13716218" y="9223271"/>
            <a:ext cx="2046641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cxnSp>
        <p:nvCxnSpPr>
          <p:cNvPr id="266" name="Connection Line"/>
          <p:cNvCxnSpPr>
            <a:stCxn id="250" idx="0"/>
            <a:endCxn id="257" idx="0"/>
          </p:cNvCxnSpPr>
          <p:nvPr/>
        </p:nvCxnSpPr>
        <p:spPr>
          <a:xfrm flipV="1">
            <a:off x="10879846" y="6795154"/>
            <a:ext cx="2836373" cy="4856234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67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  <p:sp>
        <p:nvSpPr>
          <p:cNvPr id="268" name="Output term: a"/>
          <p:cNvSpPr txBox="1"/>
          <p:nvPr/>
        </p:nvSpPr>
        <p:spPr>
          <a:xfrm>
            <a:off x="1206500" y="4699900"/>
            <a:ext cx="21971000" cy="1434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Output term: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Equivalence Graph (E-Grap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Equivalence Graph (E-Graph)</a:t>
            </a:r>
          </a:p>
        </p:txBody>
      </p:sp>
      <p:sp>
        <p:nvSpPr>
          <p:cNvPr id="2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2" name="Shape"/>
          <p:cNvSpPr/>
          <p:nvPr/>
        </p:nvSpPr>
        <p:spPr>
          <a:xfrm>
            <a:off x="12939387" y="8320301"/>
            <a:ext cx="3821997" cy="17885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0" h="20239" fill="norm" stroke="1" extrusionOk="0">
                <a:moveTo>
                  <a:pt x="31" y="9560"/>
                </a:moveTo>
                <a:cubicBezTo>
                  <a:pt x="101" y="12968"/>
                  <a:pt x="24" y="16369"/>
                  <a:pt x="1257" y="18605"/>
                </a:cubicBezTo>
                <a:cubicBezTo>
                  <a:pt x="2489" y="20840"/>
                  <a:pt x="4216" y="20426"/>
                  <a:pt x="5892" y="19465"/>
                </a:cubicBezTo>
                <a:cubicBezTo>
                  <a:pt x="7266" y="18677"/>
                  <a:pt x="8720" y="17626"/>
                  <a:pt x="10193" y="17550"/>
                </a:cubicBezTo>
                <a:cubicBezTo>
                  <a:pt x="12233" y="17444"/>
                  <a:pt x="14241" y="19292"/>
                  <a:pt x="16151" y="19391"/>
                </a:cubicBezTo>
                <a:cubicBezTo>
                  <a:pt x="18624" y="19518"/>
                  <a:pt x="20718" y="16947"/>
                  <a:pt x="21156" y="12007"/>
                </a:cubicBezTo>
                <a:cubicBezTo>
                  <a:pt x="21507" y="8052"/>
                  <a:pt x="20581" y="4523"/>
                  <a:pt x="19142" y="2378"/>
                </a:cubicBezTo>
                <a:cubicBezTo>
                  <a:pt x="17157" y="-580"/>
                  <a:pt x="14453" y="-760"/>
                  <a:pt x="11938" y="1738"/>
                </a:cubicBezTo>
                <a:cubicBezTo>
                  <a:pt x="11231" y="2439"/>
                  <a:pt x="10559" y="3411"/>
                  <a:pt x="9770" y="3538"/>
                </a:cubicBezTo>
                <a:cubicBezTo>
                  <a:pt x="8818" y="3691"/>
                  <a:pt x="7952" y="2610"/>
                  <a:pt x="7050" y="1982"/>
                </a:cubicBezTo>
                <a:cubicBezTo>
                  <a:pt x="5680" y="1029"/>
                  <a:pt x="4248" y="1091"/>
                  <a:pt x="2843" y="1517"/>
                </a:cubicBezTo>
                <a:cubicBezTo>
                  <a:pt x="1928" y="1794"/>
                  <a:pt x="1043" y="2238"/>
                  <a:pt x="506" y="3647"/>
                </a:cubicBezTo>
                <a:cubicBezTo>
                  <a:pt x="-93" y="5220"/>
                  <a:pt x="-14" y="7409"/>
                  <a:pt x="31" y="9560"/>
                </a:cubicBezTo>
                <a:close/>
              </a:path>
            </a:pathLst>
          </a:custGeom>
          <a:solidFill>
            <a:schemeClr val="accent1">
              <a:lumOff val="-13575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Shape"/>
          <p:cNvSpPr/>
          <p:nvPr/>
        </p:nvSpPr>
        <p:spPr>
          <a:xfrm>
            <a:off x="9948575" y="5886366"/>
            <a:ext cx="4673421" cy="6655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1" h="21147" fill="norm" stroke="1" extrusionOk="0">
                <a:moveTo>
                  <a:pt x="1897" y="195"/>
                </a:moveTo>
                <a:cubicBezTo>
                  <a:pt x="3336" y="-283"/>
                  <a:pt x="4709" y="235"/>
                  <a:pt x="6155" y="480"/>
                </a:cubicBezTo>
                <a:cubicBezTo>
                  <a:pt x="6884" y="604"/>
                  <a:pt x="7647" y="651"/>
                  <a:pt x="8380" y="750"/>
                </a:cubicBezTo>
                <a:cubicBezTo>
                  <a:pt x="9135" y="852"/>
                  <a:pt x="9858" y="1006"/>
                  <a:pt x="10575" y="1114"/>
                </a:cubicBezTo>
                <a:cubicBezTo>
                  <a:pt x="11465" y="1248"/>
                  <a:pt x="12411" y="1335"/>
                  <a:pt x="13337" y="1152"/>
                </a:cubicBezTo>
                <a:cubicBezTo>
                  <a:pt x="14189" y="983"/>
                  <a:pt x="14929" y="586"/>
                  <a:pt x="15761" y="397"/>
                </a:cubicBezTo>
                <a:cubicBezTo>
                  <a:pt x="16611" y="203"/>
                  <a:pt x="17463" y="207"/>
                  <a:pt x="18256" y="300"/>
                </a:cubicBezTo>
                <a:cubicBezTo>
                  <a:pt x="19039" y="391"/>
                  <a:pt x="19830" y="577"/>
                  <a:pt x="20511" y="1045"/>
                </a:cubicBezTo>
                <a:cubicBezTo>
                  <a:pt x="21355" y="1627"/>
                  <a:pt x="21563" y="2430"/>
                  <a:pt x="21400" y="3195"/>
                </a:cubicBezTo>
                <a:cubicBezTo>
                  <a:pt x="21231" y="3985"/>
                  <a:pt x="20673" y="4791"/>
                  <a:pt x="19596" y="5278"/>
                </a:cubicBezTo>
                <a:cubicBezTo>
                  <a:pt x="18734" y="5667"/>
                  <a:pt x="17667" y="5754"/>
                  <a:pt x="16731" y="6056"/>
                </a:cubicBezTo>
                <a:cubicBezTo>
                  <a:pt x="15503" y="6452"/>
                  <a:pt x="14591" y="7172"/>
                  <a:pt x="13870" y="7952"/>
                </a:cubicBezTo>
                <a:cubicBezTo>
                  <a:pt x="12906" y="8994"/>
                  <a:pt x="12203" y="10177"/>
                  <a:pt x="11414" y="11326"/>
                </a:cubicBezTo>
                <a:cubicBezTo>
                  <a:pt x="10870" y="12119"/>
                  <a:pt x="10279" y="12896"/>
                  <a:pt x="9558" y="13607"/>
                </a:cubicBezTo>
                <a:cubicBezTo>
                  <a:pt x="8707" y="14446"/>
                  <a:pt x="7632" y="15255"/>
                  <a:pt x="7572" y="16262"/>
                </a:cubicBezTo>
                <a:cubicBezTo>
                  <a:pt x="7537" y="16872"/>
                  <a:pt x="7881" y="17450"/>
                  <a:pt x="8040" y="18049"/>
                </a:cubicBezTo>
                <a:cubicBezTo>
                  <a:pt x="8237" y="18789"/>
                  <a:pt x="8157" y="19536"/>
                  <a:pt x="7561" y="20108"/>
                </a:cubicBezTo>
                <a:cubicBezTo>
                  <a:pt x="7004" y="20643"/>
                  <a:pt x="6076" y="20939"/>
                  <a:pt x="5058" y="21071"/>
                </a:cubicBezTo>
                <a:cubicBezTo>
                  <a:pt x="3154" y="21317"/>
                  <a:pt x="1245" y="20974"/>
                  <a:pt x="410" y="19875"/>
                </a:cubicBezTo>
                <a:cubicBezTo>
                  <a:pt x="24" y="19367"/>
                  <a:pt x="-22" y="18776"/>
                  <a:pt x="7" y="18197"/>
                </a:cubicBezTo>
                <a:cubicBezTo>
                  <a:pt x="36" y="17620"/>
                  <a:pt x="128" y="17010"/>
                  <a:pt x="580" y="16462"/>
                </a:cubicBezTo>
                <a:cubicBezTo>
                  <a:pt x="1273" y="15621"/>
                  <a:pt x="2563" y="15164"/>
                  <a:pt x="3744" y="14652"/>
                </a:cubicBezTo>
                <a:cubicBezTo>
                  <a:pt x="4936" y="14135"/>
                  <a:pt x="6056" y="13530"/>
                  <a:pt x="6859" y="12729"/>
                </a:cubicBezTo>
                <a:cubicBezTo>
                  <a:pt x="7671" y="11916"/>
                  <a:pt x="8205" y="11005"/>
                  <a:pt x="8786" y="10106"/>
                </a:cubicBezTo>
                <a:cubicBezTo>
                  <a:pt x="9676" y="8729"/>
                  <a:pt x="10242" y="6973"/>
                  <a:pt x="11999" y="6155"/>
                </a:cubicBezTo>
                <a:cubicBezTo>
                  <a:pt x="12608" y="5871"/>
                  <a:pt x="13280" y="5658"/>
                  <a:pt x="13632" y="5288"/>
                </a:cubicBezTo>
                <a:cubicBezTo>
                  <a:pt x="14021" y="4878"/>
                  <a:pt x="13994" y="4382"/>
                  <a:pt x="13461" y="3931"/>
                </a:cubicBezTo>
                <a:cubicBezTo>
                  <a:pt x="12555" y="3164"/>
                  <a:pt x="10957" y="3387"/>
                  <a:pt x="9549" y="3824"/>
                </a:cubicBezTo>
                <a:cubicBezTo>
                  <a:pt x="9054" y="3978"/>
                  <a:pt x="8547" y="4137"/>
                  <a:pt x="8075" y="4324"/>
                </a:cubicBezTo>
                <a:cubicBezTo>
                  <a:pt x="6983" y="4757"/>
                  <a:pt x="6087" y="5467"/>
                  <a:pt x="4855" y="5665"/>
                </a:cubicBezTo>
                <a:cubicBezTo>
                  <a:pt x="3978" y="5806"/>
                  <a:pt x="3062" y="5671"/>
                  <a:pt x="2270" y="5370"/>
                </a:cubicBezTo>
                <a:cubicBezTo>
                  <a:pt x="1563" y="5101"/>
                  <a:pt x="980" y="4722"/>
                  <a:pt x="586" y="4231"/>
                </a:cubicBezTo>
                <a:cubicBezTo>
                  <a:pt x="-10" y="3486"/>
                  <a:pt x="-37" y="2630"/>
                  <a:pt x="184" y="1898"/>
                </a:cubicBezTo>
                <a:cubicBezTo>
                  <a:pt x="401" y="1183"/>
                  <a:pt x="903" y="526"/>
                  <a:pt x="1897" y="195"/>
                </a:cubicBezTo>
                <a:close/>
              </a:path>
            </a:pathLst>
          </a:custGeom>
          <a:solidFill>
            <a:schemeClr val="accent6">
              <a:satOff val="-20754"/>
              <a:lumOff val="-16738"/>
              <a:alpha val="4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4" name="+"/>
          <p:cNvSpPr/>
          <p:nvPr/>
        </p:nvSpPr>
        <p:spPr>
          <a:xfrm>
            <a:off x="10244846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75" name="a"/>
          <p:cNvSpPr/>
          <p:nvPr/>
        </p:nvSpPr>
        <p:spPr>
          <a:xfrm>
            <a:off x="10244846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76" name="1"/>
          <p:cNvSpPr/>
          <p:nvPr/>
        </p:nvSpPr>
        <p:spPr>
          <a:xfrm>
            <a:off x="13081218" y="11016387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77" name="−"/>
          <p:cNvSpPr/>
          <p:nvPr/>
        </p:nvSpPr>
        <p:spPr>
          <a:xfrm>
            <a:off x="10244846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78" name="Connection Line"/>
          <p:cNvCxnSpPr>
            <a:stCxn id="276" idx="0"/>
            <a:endCxn id="277" idx="0"/>
          </p:cNvCxnSpPr>
          <p:nvPr/>
        </p:nvCxnSpPr>
        <p:spPr>
          <a:xfrm flipH="1" flipV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79" name="Connection Line"/>
          <p:cNvCxnSpPr>
            <a:stCxn id="274" idx="0"/>
            <a:endCxn id="277" idx="0"/>
          </p:cNvCxnSpPr>
          <p:nvPr/>
        </p:nvCxnSpPr>
        <p:spPr>
          <a:xfrm flipV="1">
            <a:off x="10879846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80" name="Connection Line"/>
          <p:cNvCxnSpPr>
            <a:stCxn id="275" idx="0"/>
            <a:endCxn id="274" idx="0"/>
          </p:cNvCxnSpPr>
          <p:nvPr/>
        </p:nvCxnSpPr>
        <p:spPr>
          <a:xfrm flipV="1">
            <a:off x="10879846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81" name="Connection Line"/>
          <p:cNvCxnSpPr>
            <a:stCxn id="276" idx="0"/>
            <a:endCxn id="274" idx="0"/>
          </p:cNvCxnSpPr>
          <p:nvPr/>
        </p:nvCxnSpPr>
        <p:spPr>
          <a:xfrm flipH="1" flipV="1">
            <a:off x="10879846" y="9223271"/>
            <a:ext cx="2836373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sp>
        <p:nvSpPr>
          <p:cNvPr id="282" name="+"/>
          <p:cNvSpPr/>
          <p:nvPr/>
        </p:nvSpPr>
        <p:spPr>
          <a:xfrm>
            <a:off x="13081218" y="6160154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83" name="−"/>
          <p:cNvSpPr/>
          <p:nvPr/>
        </p:nvSpPr>
        <p:spPr>
          <a:xfrm>
            <a:off x="1308121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−</a:t>
            </a:r>
          </a:p>
        </p:txBody>
      </p:sp>
      <p:cxnSp>
        <p:nvCxnSpPr>
          <p:cNvPr id="284" name="Connection Line"/>
          <p:cNvCxnSpPr>
            <a:stCxn id="276" idx="0"/>
            <a:endCxn id="283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85" name="Connection Line"/>
          <p:cNvCxnSpPr>
            <a:stCxn id="276" idx="0"/>
            <a:endCxn id="283" idx="0"/>
          </p:cNvCxnSpPr>
          <p:nvPr/>
        </p:nvCxnSpPr>
        <p:spPr>
          <a:xfrm flipV="1">
            <a:off x="13716218" y="9223271"/>
            <a:ext cx="1" cy="2428117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headEnd type="arrow"/>
          </a:ln>
        </p:spPr>
      </p:cxnSp>
      <p:cxnSp>
        <p:nvCxnSpPr>
          <p:cNvPr id="286" name="Connection Line"/>
          <p:cNvCxnSpPr>
            <a:stCxn id="282" idx="0"/>
            <a:endCxn id="275" idx="0"/>
          </p:cNvCxnSpPr>
          <p:nvPr/>
        </p:nvCxnSpPr>
        <p:spPr>
          <a:xfrm flipH="1">
            <a:off x="10879846" y="6795154"/>
            <a:ext cx="2836373" cy="4856234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87" name="Connection Line"/>
          <p:cNvCxnSpPr>
            <a:stCxn id="282" idx="0"/>
            <a:endCxn id="283" idx="0"/>
          </p:cNvCxnSpPr>
          <p:nvPr/>
        </p:nvCxnSpPr>
        <p:spPr>
          <a:xfrm>
            <a:off x="13716218" y="6795154"/>
            <a:ext cx="1" cy="2428118"/>
          </a:xfrm>
          <a:prstGeom prst="straightConnector1">
            <a:avLst/>
          </a:prstGeom>
          <a:ln w="50800">
            <a:solidFill>
              <a:srgbClr val="000000"/>
            </a:solidFill>
            <a:miter lim="400000"/>
            <a:tailEnd type="arrow"/>
          </a:ln>
        </p:spPr>
      </p:cxnSp>
      <p:cxnSp>
        <p:nvCxnSpPr>
          <p:cNvPr id="288" name="Connection Line"/>
          <p:cNvCxnSpPr>
            <a:stCxn id="282" idx="0"/>
            <a:endCxn id="277" idx="0"/>
          </p:cNvCxnSpPr>
          <p:nvPr/>
        </p:nvCxnSpPr>
        <p:spPr>
          <a:xfrm flipH="1">
            <a:off x="10879846" y="6795154"/>
            <a:ext cx="2836373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89" name="0"/>
          <p:cNvSpPr/>
          <p:nvPr/>
        </p:nvSpPr>
        <p:spPr>
          <a:xfrm>
            <a:off x="15127858" y="8588271"/>
            <a:ext cx="1270001" cy="1270001"/>
          </a:xfrm>
          <a:prstGeom prst="roundRect">
            <a:avLst>
              <a:gd name="adj" fmla="val 30640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0</a:t>
            </a:r>
          </a:p>
        </p:txBody>
      </p:sp>
      <p:cxnSp>
        <p:nvCxnSpPr>
          <p:cNvPr id="290" name="Connection Line"/>
          <p:cNvCxnSpPr>
            <a:stCxn id="283" idx="0"/>
            <a:endCxn id="289" idx="0"/>
          </p:cNvCxnSpPr>
          <p:nvPr/>
        </p:nvCxnSpPr>
        <p:spPr>
          <a:xfrm>
            <a:off x="13716218" y="9223271"/>
            <a:ext cx="2046641" cy="1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cxnSp>
        <p:nvCxnSpPr>
          <p:cNvPr id="291" name="Connection Line"/>
          <p:cNvCxnSpPr>
            <a:stCxn id="275" idx="0"/>
            <a:endCxn id="282" idx="0"/>
          </p:cNvCxnSpPr>
          <p:nvPr/>
        </p:nvCxnSpPr>
        <p:spPr>
          <a:xfrm flipV="1">
            <a:off x="10879846" y="6795154"/>
            <a:ext cx="2836373" cy="4856234"/>
          </a:xfrm>
          <a:prstGeom prst="straightConnector1">
            <a:avLst/>
          </a:pr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</p:cxnSp>
      <p:sp>
        <p:nvSpPr>
          <p:cNvPr id="292" name="Input term: (a + 1) - 1"/>
          <p:cNvSpPr txBox="1"/>
          <p:nvPr/>
        </p:nvSpPr>
        <p:spPr>
          <a:xfrm>
            <a:off x="1206500" y="3165601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Input term: (a + 1) - 1</a:t>
            </a:r>
          </a:p>
        </p:txBody>
      </p:sp>
      <p:sp>
        <p:nvSpPr>
          <p:cNvPr id="293" name="Output term: a"/>
          <p:cNvSpPr txBox="1"/>
          <p:nvPr/>
        </p:nvSpPr>
        <p:spPr>
          <a:xfrm>
            <a:off x="1206500" y="4699900"/>
            <a:ext cx="21971000" cy="1434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Output term: a</a:t>
            </a:r>
          </a:p>
        </p:txBody>
      </p:sp>
      <p:sp>
        <p:nvSpPr>
          <p:cNvPr id="294" name="Extraction Problem"/>
          <p:cNvSpPr txBox="1"/>
          <p:nvPr/>
        </p:nvSpPr>
        <p:spPr>
          <a:xfrm>
            <a:off x="12788900" y="2889700"/>
            <a:ext cx="21971000" cy="1434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19" sz="6000"/>
            </a:lvl1pPr>
          </a:lstStyle>
          <a:p>
            <a:pPr/>
            <a:r>
              <a:t>Extraction Problem</a:t>
            </a:r>
          </a:p>
        </p:txBody>
      </p:sp>
      <p:sp>
        <p:nvSpPr>
          <p:cNvPr id="295" name="Shape"/>
          <p:cNvSpPr/>
          <p:nvPr/>
        </p:nvSpPr>
        <p:spPr>
          <a:xfrm rot="7371614">
            <a:off x="13780924" y="4579965"/>
            <a:ext cx="2204022" cy="12583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50" y="13991"/>
                </a:moveTo>
                <a:lnTo>
                  <a:pt x="16050" y="21600"/>
                </a:lnTo>
                <a:lnTo>
                  <a:pt x="21600" y="10800"/>
                </a:lnTo>
                <a:lnTo>
                  <a:pt x="16050" y="0"/>
                </a:lnTo>
                <a:lnTo>
                  <a:pt x="16050" y="7609"/>
                </a:lnTo>
                <a:lnTo>
                  <a:pt x="0" y="7609"/>
                </a:lnTo>
                <a:lnTo>
                  <a:pt x="0" y="13991"/>
                </a:lnTo>
                <a:lnTo>
                  <a:pt x="16050" y="13991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127000" tIns="127000" rIns="127000" bIns="12700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E-Graphs are Super Useful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E-Graphs are Super Useful!</a:t>
            </a:r>
          </a:p>
        </p:txBody>
      </p:sp>
      <p:sp>
        <p:nvSpPr>
          <p:cNvPr id="2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01" name="Group"/>
          <p:cNvGrpSpPr/>
          <p:nvPr/>
        </p:nvGrpSpPr>
        <p:grpSpPr>
          <a:xfrm>
            <a:off x="8754161" y="2951105"/>
            <a:ext cx="5556810" cy="5059735"/>
            <a:chOff x="0" y="0"/>
            <a:chExt cx="5556808" cy="5059733"/>
          </a:xfrm>
        </p:grpSpPr>
        <p:pic>
          <p:nvPicPr>
            <p:cNvPr id="299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92723" y="897971"/>
              <a:ext cx="4161763" cy="41617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0" name="Python Simulations"/>
            <p:cNvSpPr txBox="1"/>
            <p:nvPr/>
          </p:nvSpPr>
          <p:spPr>
            <a:xfrm>
              <a:off x="0" y="-1"/>
              <a:ext cx="5556809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Python Simulations</a:t>
              </a:r>
            </a:p>
          </p:txBody>
        </p:sp>
      </p:grpSp>
      <p:grpSp>
        <p:nvGrpSpPr>
          <p:cNvPr id="305" name="Group"/>
          <p:cNvGrpSpPr/>
          <p:nvPr/>
        </p:nvGrpSpPr>
        <p:grpSpPr>
          <a:xfrm>
            <a:off x="6115050" y="7966250"/>
            <a:ext cx="7131980" cy="5578984"/>
            <a:chOff x="0" y="0"/>
            <a:chExt cx="7131979" cy="5578982"/>
          </a:xfrm>
        </p:grpSpPr>
        <p:pic>
          <p:nvPicPr>
            <p:cNvPr id="302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83999"/>
              <a:ext cx="7131980" cy="50597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3" name="CAD"/>
            <p:cNvSpPr txBox="1"/>
            <p:nvPr/>
          </p:nvSpPr>
          <p:spPr>
            <a:xfrm>
              <a:off x="681694" y="-1"/>
              <a:ext cx="1401167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CAD</a:t>
              </a:r>
            </a:p>
          </p:txBody>
        </p:sp>
        <p:sp>
          <p:nvSpPr>
            <p:cNvPr id="304" name="(Szalinski)"/>
            <p:cNvSpPr txBox="1"/>
            <p:nvPr/>
          </p:nvSpPr>
          <p:spPr>
            <a:xfrm>
              <a:off x="327845" y="4758465"/>
              <a:ext cx="2926385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(Szalinski)</a:t>
              </a:r>
            </a:p>
          </p:txBody>
        </p:sp>
      </p:grpSp>
      <p:grpSp>
        <p:nvGrpSpPr>
          <p:cNvPr id="308" name="Group"/>
          <p:cNvGrpSpPr/>
          <p:nvPr/>
        </p:nvGrpSpPr>
        <p:grpSpPr>
          <a:xfrm>
            <a:off x="377088" y="7966250"/>
            <a:ext cx="3967140" cy="4387220"/>
            <a:chOff x="0" y="0"/>
            <a:chExt cx="3967138" cy="4387218"/>
          </a:xfrm>
        </p:grpSpPr>
        <p:pic>
          <p:nvPicPr>
            <p:cNvPr id="306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56416" y="759472"/>
              <a:ext cx="3510723" cy="36277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7" name="SQL"/>
            <p:cNvSpPr txBox="1"/>
            <p:nvPr/>
          </p:nvSpPr>
          <p:spPr>
            <a:xfrm>
              <a:off x="0" y="-1"/>
              <a:ext cx="1322528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SQL</a:t>
              </a:r>
            </a:p>
          </p:txBody>
        </p:sp>
      </p:grpSp>
      <p:grpSp>
        <p:nvGrpSpPr>
          <p:cNvPr id="312" name="Group"/>
          <p:cNvGrpSpPr/>
          <p:nvPr/>
        </p:nvGrpSpPr>
        <p:grpSpPr>
          <a:xfrm>
            <a:off x="12711154" y="8880490"/>
            <a:ext cx="6631478" cy="5676885"/>
            <a:chOff x="0" y="410258"/>
            <a:chExt cx="6631477" cy="5676884"/>
          </a:xfrm>
        </p:grpSpPr>
        <p:pic>
          <p:nvPicPr>
            <p:cNvPr id="309" name="pasted-movie.png" descr="pasted-movi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846290"/>
              <a:ext cx="6631478" cy="38045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0" name="WASM"/>
            <p:cNvSpPr/>
            <p:nvPr/>
          </p:nvSpPr>
          <p:spPr>
            <a:xfrm>
              <a:off x="274697" y="4102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WASM</a:t>
              </a:r>
            </a:p>
          </p:txBody>
        </p:sp>
        <p:sp>
          <p:nvSpPr>
            <p:cNvPr id="311" name="(Cranelift)"/>
            <p:cNvSpPr/>
            <p:nvPr/>
          </p:nvSpPr>
          <p:spPr>
            <a:xfrm>
              <a:off x="3922079" y="481714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(Cranelift)</a:t>
              </a:r>
            </a:p>
          </p:txBody>
        </p:sp>
      </p:grpSp>
      <p:grpSp>
        <p:nvGrpSpPr>
          <p:cNvPr id="316" name="Group"/>
          <p:cNvGrpSpPr/>
          <p:nvPr/>
        </p:nvGrpSpPr>
        <p:grpSpPr>
          <a:xfrm>
            <a:off x="504019" y="2590116"/>
            <a:ext cx="7877239" cy="4678143"/>
            <a:chOff x="0" y="0"/>
            <a:chExt cx="7877238" cy="4678142"/>
          </a:xfrm>
        </p:grpSpPr>
        <p:pic>
          <p:nvPicPr>
            <p:cNvPr id="313" name="pasted-movie.png" descr="pasted-movie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589338"/>
              <a:ext cx="7877239" cy="35290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4" name="Floating point"/>
            <p:cNvSpPr txBox="1"/>
            <p:nvPr/>
          </p:nvSpPr>
          <p:spPr>
            <a:xfrm>
              <a:off x="349125" y="-1"/>
              <a:ext cx="3987700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Floating point</a:t>
              </a:r>
            </a:p>
          </p:txBody>
        </p:sp>
        <p:sp>
          <p:nvSpPr>
            <p:cNvPr id="315" name="(Herbie)"/>
            <p:cNvSpPr txBox="1"/>
            <p:nvPr/>
          </p:nvSpPr>
          <p:spPr>
            <a:xfrm>
              <a:off x="3879725" y="3857624"/>
              <a:ext cx="2305204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(Herbie)</a:t>
              </a:r>
            </a:p>
          </p:txBody>
        </p:sp>
      </p:grpSp>
      <p:grpSp>
        <p:nvGrpSpPr>
          <p:cNvPr id="320" name="Group"/>
          <p:cNvGrpSpPr/>
          <p:nvPr/>
        </p:nvGrpSpPr>
        <p:grpSpPr>
          <a:xfrm>
            <a:off x="20340452" y="3036425"/>
            <a:ext cx="4158143" cy="4889095"/>
            <a:chOff x="0" y="0"/>
            <a:chExt cx="4158141" cy="4889093"/>
          </a:xfrm>
        </p:grpSpPr>
        <p:pic>
          <p:nvPicPr>
            <p:cNvPr id="317" name="pasted-movie.png" descr="pasted-movi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596739" y="788083"/>
              <a:ext cx="3360016" cy="33600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8" name="ML Kernels"/>
            <p:cNvSpPr txBox="1"/>
            <p:nvPr/>
          </p:nvSpPr>
          <p:spPr>
            <a:xfrm>
              <a:off x="0" y="-1"/>
              <a:ext cx="3309824" cy="820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ML Kernels</a:t>
              </a:r>
            </a:p>
          </p:txBody>
        </p:sp>
        <p:sp>
          <p:nvSpPr>
            <p:cNvPr id="319" name="(Luminal)"/>
            <p:cNvSpPr txBox="1"/>
            <p:nvPr/>
          </p:nvSpPr>
          <p:spPr>
            <a:xfrm>
              <a:off x="1492056" y="4068576"/>
              <a:ext cx="2666086" cy="82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(Luminal)</a:t>
              </a:r>
            </a:p>
          </p:txBody>
        </p:sp>
      </p:grpSp>
      <p:grpSp>
        <p:nvGrpSpPr>
          <p:cNvPr id="323" name="Group"/>
          <p:cNvGrpSpPr/>
          <p:nvPr/>
        </p:nvGrpSpPr>
        <p:grpSpPr>
          <a:xfrm>
            <a:off x="14621470" y="3939353"/>
            <a:ext cx="4717847" cy="3493497"/>
            <a:chOff x="0" y="410258"/>
            <a:chExt cx="4717846" cy="3493496"/>
          </a:xfrm>
        </p:grpSpPr>
        <p:sp>
          <p:nvSpPr>
            <p:cNvPr id="321" name="RTL Optimization"/>
            <p:cNvSpPr/>
            <p:nvPr/>
          </p:nvSpPr>
          <p:spPr>
            <a:xfrm>
              <a:off x="427134" y="4102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RTL Optimization</a:t>
              </a:r>
            </a:p>
          </p:txBody>
        </p:sp>
        <p:pic>
          <p:nvPicPr>
            <p:cNvPr id="322" name="pasted-movie.png" descr="pasted-movie.png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778653"/>
              <a:ext cx="4717847" cy="3125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24" name="…and more!"/>
          <p:cNvSpPr txBox="1"/>
          <p:nvPr/>
        </p:nvSpPr>
        <p:spPr>
          <a:xfrm>
            <a:off x="20640253" y="12292916"/>
            <a:ext cx="3558541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…and more!</a:t>
            </a:r>
          </a:p>
        </p:txBody>
      </p:sp>
      <p:sp>
        <p:nvSpPr>
          <p:cNvPr id="325" name="None handle side-effects!"/>
          <p:cNvSpPr/>
          <p:nvPr/>
        </p:nvSpPr>
        <p:spPr>
          <a:xfrm>
            <a:off x="2939287" y="5520399"/>
            <a:ext cx="17641826" cy="1434950"/>
          </a:xfrm>
          <a:prstGeom prst="roundRect">
            <a:avLst>
              <a:gd name="adj" fmla="val 13276"/>
            </a:avLst>
          </a:pr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algn="ctr">
              <a:lnSpc>
                <a:spcPct val="100000"/>
              </a:lnSpc>
              <a:spcBef>
                <a:spcPts val="0"/>
              </a:spcBef>
              <a:defRPr b="1" sz="5000"/>
            </a:lvl1pPr>
          </a:lstStyle>
          <a:p>
            <a:pPr/>
            <a:r>
              <a:t>None handle side-effects!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Effect-safe Ex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Effect-safe Extraction</a:t>
            </a:r>
          </a:p>
        </p:txBody>
      </p:sp>
      <p:sp>
        <p:nvSpPr>
          <p:cNvPr id="3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9" name="Input program:    v1  = load a…"/>
          <p:cNvSpPr txBox="1"/>
          <p:nvPr/>
        </p:nvSpPr>
        <p:spPr>
          <a:xfrm>
            <a:off x="1162151" y="2543843"/>
            <a:ext cx="7339650" cy="334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/>
            <a:r>
              <a:t>Input program:</a:t>
            </a:r>
            <a:br/>
            <a:br/>
            <a:r>
              <a:t>  v</a:t>
            </a:r>
            <a:r>
              <a:rPr baseline="-5999"/>
              <a:t>1 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= load a</a:t>
            </a:r>
            <a:endParaRPr>
              <a:latin typeface="Andale Mono"/>
              <a:ea typeface="Andale Mono"/>
              <a:cs typeface="Andale Mono"/>
              <a:sym typeface="Andale Mono"/>
            </a:endParaRPr>
          </a:p>
          <a:p>
            <a:pPr lvl="1"/>
            <a:r>
              <a:rPr>
                <a:latin typeface="Andale Mono"/>
                <a:ea typeface="Andale Mono"/>
                <a:cs typeface="Andale Mono"/>
                <a:sym typeface="Andale Mono"/>
              </a:rPr>
              <a:t> print (</a:t>
            </a:r>
            <a:r>
              <a:t>v</a:t>
            </a:r>
            <a:r>
              <a:rPr baseline="-5999"/>
              <a:t>1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 + 10)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Effect-safe Ex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Effect-safe Extraction</a:t>
            </a:r>
          </a:p>
        </p:txBody>
      </p:sp>
      <p:sp>
        <p:nvSpPr>
          <p:cNvPr id="3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49" name="Group"/>
          <p:cNvGrpSpPr/>
          <p:nvPr/>
        </p:nvGrpSpPr>
        <p:grpSpPr>
          <a:xfrm>
            <a:off x="9949298" y="3633549"/>
            <a:ext cx="4823119" cy="6653782"/>
            <a:chOff x="0" y="0"/>
            <a:chExt cx="4823118" cy="6653780"/>
          </a:xfrm>
        </p:grpSpPr>
        <p:sp>
          <p:nvSpPr>
            <p:cNvPr id="333" name="print"/>
            <p:cNvSpPr/>
            <p:nvPr/>
          </p:nvSpPr>
          <p:spPr>
            <a:xfrm>
              <a:off x="0" y="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print</a:t>
              </a:r>
            </a:p>
          </p:txBody>
        </p:sp>
        <p:sp>
          <p:nvSpPr>
            <p:cNvPr id="334" name="σ1"/>
            <p:cNvSpPr/>
            <p:nvPr/>
          </p:nvSpPr>
          <p:spPr>
            <a:xfrm>
              <a:off x="525224" y="2208564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1</a:t>
              </a:r>
            </a:p>
          </p:txBody>
        </p:sp>
        <p:sp>
          <p:nvSpPr>
            <p:cNvPr id="335" name="load"/>
            <p:cNvSpPr/>
            <p:nvPr/>
          </p:nvSpPr>
          <p:spPr>
            <a:xfrm>
              <a:off x="0" y="397606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load</a:t>
              </a:r>
            </a:p>
          </p:txBody>
        </p:sp>
        <p:sp>
          <p:nvSpPr>
            <p:cNvPr id="336" name="σ"/>
            <p:cNvSpPr/>
            <p:nvPr/>
          </p:nvSpPr>
          <p:spPr>
            <a:xfrm>
              <a:off x="525224" y="574355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σ</a:t>
              </a:r>
            </a:p>
          </p:txBody>
        </p:sp>
        <p:sp>
          <p:nvSpPr>
            <p:cNvPr id="337" name="+"/>
            <p:cNvSpPr/>
            <p:nvPr/>
          </p:nvSpPr>
          <p:spPr>
            <a:xfrm>
              <a:off x="2483639" y="1104282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338" name="v1"/>
            <p:cNvSpPr/>
            <p:nvPr/>
          </p:nvSpPr>
          <p:spPr>
            <a:xfrm>
              <a:off x="2483639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339" name="10"/>
            <p:cNvSpPr/>
            <p:nvPr/>
          </p:nvSpPr>
          <p:spPr>
            <a:xfrm>
              <a:off x="3921418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40" name="a"/>
            <p:cNvSpPr/>
            <p:nvPr/>
          </p:nvSpPr>
          <p:spPr>
            <a:xfrm>
              <a:off x="1908204" y="574990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a</a:t>
              </a:r>
            </a:p>
          </p:txBody>
        </p:sp>
        <p:cxnSp>
          <p:nvCxnSpPr>
            <p:cNvPr id="341" name="Connection Line"/>
            <p:cNvCxnSpPr>
              <a:stCxn id="333" idx="0"/>
              <a:endCxn id="337" idx="0"/>
            </p:cNvCxnSpPr>
            <p:nvPr/>
          </p:nvCxnSpPr>
          <p:spPr>
            <a:xfrm>
              <a:off x="976074" y="451937"/>
              <a:ext cx="1958416" cy="1104283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42" name="Connection Line"/>
            <p:cNvCxnSpPr>
              <a:stCxn id="333" idx="0"/>
              <a:endCxn id="334" idx="0"/>
            </p:cNvCxnSpPr>
            <p:nvPr/>
          </p:nvCxnSpPr>
          <p:spPr>
            <a:xfrm>
              <a:off x="976074" y="451937"/>
              <a:ext cx="1" cy="2208565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43" name="Connection Line"/>
            <p:cNvCxnSpPr>
              <a:stCxn id="334" idx="0"/>
              <a:endCxn id="335" idx="0"/>
            </p:cNvCxnSpPr>
            <p:nvPr/>
          </p:nvCxnSpPr>
          <p:spPr>
            <a:xfrm>
              <a:off x="976074" y="2660501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44" name="Connection Line"/>
            <p:cNvCxnSpPr>
              <a:stCxn id="335" idx="0"/>
              <a:endCxn id="336" idx="0"/>
            </p:cNvCxnSpPr>
            <p:nvPr/>
          </p:nvCxnSpPr>
          <p:spPr>
            <a:xfrm>
              <a:off x="976074" y="4427997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45" name="Connection Line"/>
            <p:cNvCxnSpPr>
              <a:stCxn id="339" idx="0"/>
              <a:endCxn id="337" idx="0"/>
            </p:cNvCxnSpPr>
            <p:nvPr/>
          </p:nvCxnSpPr>
          <p:spPr>
            <a:xfrm flipH="1" flipV="1">
              <a:off x="2934489" y="1556219"/>
              <a:ext cx="1437780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46" name="Connection Line"/>
            <p:cNvCxnSpPr>
              <a:stCxn id="338" idx="0"/>
              <a:endCxn id="337" idx="0"/>
            </p:cNvCxnSpPr>
            <p:nvPr/>
          </p:nvCxnSpPr>
          <p:spPr>
            <a:xfrm flipV="1">
              <a:off x="2934489" y="1556219"/>
              <a:ext cx="1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47" name="Connection Line"/>
            <p:cNvCxnSpPr>
              <a:stCxn id="335" idx="0"/>
              <a:endCxn id="340" idx="0"/>
            </p:cNvCxnSpPr>
            <p:nvPr/>
          </p:nvCxnSpPr>
          <p:spPr>
            <a:xfrm>
              <a:off x="976074" y="4427997"/>
              <a:ext cx="1382981" cy="1773847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48" name="Connection Line"/>
            <p:cNvCxnSpPr>
              <a:stCxn id="335" idx="0"/>
              <a:endCxn id="338" idx="0"/>
            </p:cNvCxnSpPr>
            <p:nvPr/>
          </p:nvCxnSpPr>
          <p:spPr>
            <a:xfrm flipV="1">
              <a:off x="976074" y="3073419"/>
              <a:ext cx="1958416" cy="1354579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</p:grpSp>
      <p:sp>
        <p:nvSpPr>
          <p:cNvPr id="350" name="Input program:    v1  = load a…"/>
          <p:cNvSpPr txBox="1"/>
          <p:nvPr/>
        </p:nvSpPr>
        <p:spPr>
          <a:xfrm>
            <a:off x="1162151" y="2543843"/>
            <a:ext cx="7339650" cy="334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/>
            <a:r>
              <a:t>Input program:</a:t>
            </a:r>
            <a:br/>
            <a:br/>
            <a:r>
              <a:t>  v</a:t>
            </a:r>
            <a:r>
              <a:rPr baseline="-5999"/>
              <a:t>1 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= load a</a:t>
            </a:r>
            <a:endParaRPr>
              <a:latin typeface="Andale Mono"/>
              <a:ea typeface="Andale Mono"/>
              <a:cs typeface="Andale Mono"/>
              <a:sym typeface="Andale Mono"/>
            </a:endParaRPr>
          </a:p>
          <a:p>
            <a:pPr lvl="1"/>
            <a:r>
              <a:rPr>
                <a:latin typeface="Andale Mono"/>
                <a:ea typeface="Andale Mono"/>
                <a:cs typeface="Andale Mono"/>
                <a:sym typeface="Andale Mono"/>
              </a:rPr>
              <a:t> print (</a:t>
            </a:r>
            <a:r>
              <a:t>v</a:t>
            </a:r>
            <a:r>
              <a:rPr baseline="-5999"/>
              <a:t>1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 + 10)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Effect-safe Ex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Effect-safe Extraction</a:t>
            </a:r>
          </a:p>
        </p:txBody>
      </p:sp>
      <p:sp>
        <p:nvSpPr>
          <p:cNvPr id="3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71" name="Group"/>
          <p:cNvGrpSpPr/>
          <p:nvPr/>
        </p:nvGrpSpPr>
        <p:grpSpPr>
          <a:xfrm>
            <a:off x="9949298" y="3633549"/>
            <a:ext cx="6077741" cy="6653782"/>
            <a:chOff x="0" y="0"/>
            <a:chExt cx="6077739" cy="6653780"/>
          </a:xfrm>
        </p:grpSpPr>
        <p:sp>
          <p:nvSpPr>
            <p:cNvPr id="354" name="print"/>
            <p:cNvSpPr/>
            <p:nvPr/>
          </p:nvSpPr>
          <p:spPr>
            <a:xfrm>
              <a:off x="0" y="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print</a:t>
              </a:r>
            </a:p>
          </p:txBody>
        </p:sp>
        <p:sp>
          <p:nvSpPr>
            <p:cNvPr id="355" name="σ1"/>
            <p:cNvSpPr/>
            <p:nvPr/>
          </p:nvSpPr>
          <p:spPr>
            <a:xfrm>
              <a:off x="525224" y="2208564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1</a:t>
              </a:r>
            </a:p>
          </p:txBody>
        </p:sp>
        <p:sp>
          <p:nvSpPr>
            <p:cNvPr id="356" name="load"/>
            <p:cNvSpPr/>
            <p:nvPr/>
          </p:nvSpPr>
          <p:spPr>
            <a:xfrm>
              <a:off x="0" y="397606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load</a:t>
              </a:r>
            </a:p>
          </p:txBody>
        </p:sp>
        <p:sp>
          <p:nvSpPr>
            <p:cNvPr id="357" name="σ"/>
            <p:cNvSpPr/>
            <p:nvPr/>
          </p:nvSpPr>
          <p:spPr>
            <a:xfrm>
              <a:off x="525224" y="574355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σ</a:t>
              </a:r>
            </a:p>
          </p:txBody>
        </p:sp>
        <p:sp>
          <p:nvSpPr>
            <p:cNvPr id="358" name="+"/>
            <p:cNvSpPr/>
            <p:nvPr/>
          </p:nvSpPr>
          <p:spPr>
            <a:xfrm>
              <a:off x="2483639" y="1104282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359" name="v1"/>
            <p:cNvSpPr/>
            <p:nvPr/>
          </p:nvSpPr>
          <p:spPr>
            <a:xfrm>
              <a:off x="2483639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360" name="10"/>
            <p:cNvSpPr/>
            <p:nvPr/>
          </p:nvSpPr>
          <p:spPr>
            <a:xfrm>
              <a:off x="3921418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61" name="a"/>
            <p:cNvSpPr/>
            <p:nvPr/>
          </p:nvSpPr>
          <p:spPr>
            <a:xfrm>
              <a:off x="1908204" y="574990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a</a:t>
              </a:r>
            </a:p>
          </p:txBody>
        </p:sp>
        <p:cxnSp>
          <p:nvCxnSpPr>
            <p:cNvPr id="362" name="Connection Line"/>
            <p:cNvCxnSpPr>
              <a:stCxn id="354" idx="0"/>
              <a:endCxn id="358" idx="0"/>
            </p:cNvCxnSpPr>
            <p:nvPr/>
          </p:nvCxnSpPr>
          <p:spPr>
            <a:xfrm>
              <a:off x="976074" y="451937"/>
              <a:ext cx="1958416" cy="1104283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63" name="Connection Line"/>
            <p:cNvCxnSpPr>
              <a:stCxn id="354" idx="0"/>
              <a:endCxn id="355" idx="0"/>
            </p:cNvCxnSpPr>
            <p:nvPr/>
          </p:nvCxnSpPr>
          <p:spPr>
            <a:xfrm>
              <a:off x="976074" y="451937"/>
              <a:ext cx="1" cy="2208565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64" name="Connection Line"/>
            <p:cNvCxnSpPr>
              <a:stCxn id="355" idx="0"/>
              <a:endCxn id="356" idx="0"/>
            </p:cNvCxnSpPr>
            <p:nvPr/>
          </p:nvCxnSpPr>
          <p:spPr>
            <a:xfrm>
              <a:off x="976074" y="2660501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65" name="Connection Line"/>
            <p:cNvCxnSpPr>
              <a:stCxn id="356" idx="0"/>
              <a:endCxn id="357" idx="0"/>
            </p:cNvCxnSpPr>
            <p:nvPr/>
          </p:nvCxnSpPr>
          <p:spPr>
            <a:xfrm>
              <a:off x="976074" y="4427997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66" name="Connection Line"/>
            <p:cNvCxnSpPr>
              <a:stCxn id="360" idx="0"/>
              <a:endCxn id="358" idx="0"/>
            </p:cNvCxnSpPr>
            <p:nvPr/>
          </p:nvCxnSpPr>
          <p:spPr>
            <a:xfrm flipH="1" flipV="1">
              <a:off x="2934489" y="1556219"/>
              <a:ext cx="1437780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67" name="Connection Line"/>
            <p:cNvCxnSpPr>
              <a:stCxn id="359" idx="0"/>
              <a:endCxn id="358" idx="0"/>
            </p:cNvCxnSpPr>
            <p:nvPr/>
          </p:nvCxnSpPr>
          <p:spPr>
            <a:xfrm flipV="1">
              <a:off x="2934489" y="1556219"/>
              <a:ext cx="1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68" name="Connection Line"/>
            <p:cNvCxnSpPr>
              <a:stCxn id="356" idx="0"/>
              <a:endCxn id="361" idx="0"/>
            </p:cNvCxnSpPr>
            <p:nvPr/>
          </p:nvCxnSpPr>
          <p:spPr>
            <a:xfrm>
              <a:off x="976074" y="4427997"/>
              <a:ext cx="1382981" cy="1773847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69" name="Connection Line"/>
            <p:cNvCxnSpPr>
              <a:stCxn id="356" idx="0"/>
              <a:endCxn id="359" idx="0"/>
            </p:cNvCxnSpPr>
            <p:nvPr/>
          </p:nvCxnSpPr>
          <p:spPr>
            <a:xfrm flipV="1">
              <a:off x="976074" y="3073419"/>
              <a:ext cx="1958416" cy="1354579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sp>
          <p:nvSpPr>
            <p:cNvPr id="370" name="v2"/>
            <p:cNvSpPr/>
            <p:nvPr/>
          </p:nvSpPr>
          <p:spPr>
            <a:xfrm>
              <a:off x="5176039" y="1104282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2</a:t>
              </a:r>
            </a:p>
          </p:txBody>
        </p:sp>
      </p:grpSp>
      <p:sp>
        <p:nvSpPr>
          <p:cNvPr id="372" name="Input program:    v1  = load a…"/>
          <p:cNvSpPr txBox="1"/>
          <p:nvPr/>
        </p:nvSpPr>
        <p:spPr>
          <a:xfrm>
            <a:off x="1162151" y="2543843"/>
            <a:ext cx="7339650" cy="334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/>
            <a:r>
              <a:t>Input program:</a:t>
            </a:r>
            <a:br/>
            <a:br/>
            <a:r>
              <a:t>  v</a:t>
            </a:r>
            <a:r>
              <a:rPr baseline="-5999"/>
              <a:t>1 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= load a</a:t>
            </a:r>
            <a:endParaRPr>
              <a:latin typeface="Andale Mono"/>
              <a:ea typeface="Andale Mono"/>
              <a:cs typeface="Andale Mono"/>
              <a:sym typeface="Andale Mono"/>
            </a:endParaRPr>
          </a:p>
          <a:p>
            <a:pPr lvl="1"/>
            <a:r>
              <a:rPr>
                <a:latin typeface="Andale Mono"/>
                <a:ea typeface="Andale Mono"/>
                <a:cs typeface="Andale Mono"/>
                <a:sym typeface="Andale Mono"/>
              </a:rPr>
              <a:t> print (</a:t>
            </a:r>
            <a:r>
              <a:t>v</a:t>
            </a:r>
            <a:r>
              <a:rPr baseline="-5999"/>
              <a:t>1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 + 10)</a:t>
            </a:r>
          </a:p>
        </p:txBody>
      </p:sp>
      <p:sp>
        <p:nvSpPr>
          <p:cNvPr id="375" name="Connection Line"/>
          <p:cNvSpPr/>
          <p:nvPr/>
        </p:nvSpPr>
        <p:spPr>
          <a:xfrm>
            <a:off x="9012973" y="6242771"/>
            <a:ext cx="1565038" cy="3679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15" h="21600" fill="norm" stroke="1" extrusionOk="0">
                <a:moveTo>
                  <a:pt x="14310" y="0"/>
                </a:moveTo>
                <a:cubicBezTo>
                  <a:pt x="-5385" y="5130"/>
                  <a:pt x="-4750" y="12330"/>
                  <a:pt x="16215" y="2160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76" name="Connection Line"/>
          <p:cNvSpPr/>
          <p:nvPr/>
        </p:nvSpPr>
        <p:spPr>
          <a:xfrm>
            <a:off x="13337190" y="5151762"/>
            <a:ext cx="1835344" cy="1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Effect-safe Ex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Effect-safe Extraction</a:t>
            </a:r>
          </a:p>
        </p:txBody>
      </p:sp>
      <p:sp>
        <p:nvSpPr>
          <p:cNvPr id="3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0" name="Surprisingly, Effect-safe Extraction is NP-Hard!!"/>
          <p:cNvSpPr/>
          <p:nvPr/>
        </p:nvSpPr>
        <p:spPr>
          <a:xfrm>
            <a:off x="3371087" y="10898431"/>
            <a:ext cx="17641826" cy="1434950"/>
          </a:xfrm>
          <a:prstGeom prst="roundRect">
            <a:avLst>
              <a:gd name="adj" fmla="val 13276"/>
            </a:avLst>
          </a:prstGeom>
          <a:solidFill>
            <a:srgbClr val="FFE5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algn="ctr">
              <a:lnSpc>
                <a:spcPct val="100000"/>
              </a:lnSpc>
              <a:spcBef>
                <a:spcPts val="0"/>
              </a:spcBef>
              <a:defRPr b="1" sz="5000"/>
            </a:lvl1pPr>
          </a:lstStyle>
          <a:p>
            <a:pPr/>
            <a:r>
              <a:t>Surprisingly, Effect-safe Extraction is NP-Hard!!</a:t>
            </a:r>
          </a:p>
        </p:txBody>
      </p:sp>
      <p:grpSp>
        <p:nvGrpSpPr>
          <p:cNvPr id="398" name="Group"/>
          <p:cNvGrpSpPr/>
          <p:nvPr/>
        </p:nvGrpSpPr>
        <p:grpSpPr>
          <a:xfrm>
            <a:off x="9949298" y="3633549"/>
            <a:ext cx="6077740" cy="6653782"/>
            <a:chOff x="0" y="0"/>
            <a:chExt cx="6077738" cy="6653780"/>
          </a:xfrm>
        </p:grpSpPr>
        <p:sp>
          <p:nvSpPr>
            <p:cNvPr id="381" name="print"/>
            <p:cNvSpPr/>
            <p:nvPr/>
          </p:nvSpPr>
          <p:spPr>
            <a:xfrm>
              <a:off x="0" y="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FFFF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print</a:t>
              </a:r>
            </a:p>
          </p:txBody>
        </p:sp>
        <p:sp>
          <p:nvSpPr>
            <p:cNvPr id="382" name="σ1"/>
            <p:cNvSpPr/>
            <p:nvPr/>
          </p:nvSpPr>
          <p:spPr>
            <a:xfrm>
              <a:off x="525224" y="2208564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σ</a:t>
              </a:r>
              <a:r>
                <a:rPr baseline="-5999"/>
                <a:t>1</a:t>
              </a:r>
            </a:p>
          </p:txBody>
        </p:sp>
        <p:sp>
          <p:nvSpPr>
            <p:cNvPr id="383" name="load"/>
            <p:cNvSpPr/>
            <p:nvPr/>
          </p:nvSpPr>
          <p:spPr>
            <a:xfrm>
              <a:off x="0" y="3976060"/>
              <a:ext cx="1952150" cy="903875"/>
            </a:xfrm>
            <a:prstGeom prst="roundRect">
              <a:avLst>
                <a:gd name="adj" fmla="val 33878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load</a:t>
              </a:r>
            </a:p>
          </p:txBody>
        </p:sp>
        <p:sp>
          <p:nvSpPr>
            <p:cNvPr id="384" name="σ"/>
            <p:cNvSpPr/>
            <p:nvPr/>
          </p:nvSpPr>
          <p:spPr>
            <a:xfrm>
              <a:off x="525224" y="574355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E599"/>
            </a:solidFill>
            <a:ln w="50800" cap="flat">
              <a:solidFill>
                <a:srgbClr val="0433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σ</a:t>
              </a:r>
            </a:p>
          </p:txBody>
        </p:sp>
        <p:sp>
          <p:nvSpPr>
            <p:cNvPr id="385" name="+"/>
            <p:cNvSpPr/>
            <p:nvPr/>
          </p:nvSpPr>
          <p:spPr>
            <a:xfrm>
              <a:off x="2483639" y="1104282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386" name="v1"/>
            <p:cNvSpPr/>
            <p:nvPr/>
          </p:nvSpPr>
          <p:spPr>
            <a:xfrm>
              <a:off x="2483639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387" name="10"/>
            <p:cNvSpPr/>
            <p:nvPr/>
          </p:nvSpPr>
          <p:spPr>
            <a:xfrm>
              <a:off x="3921418" y="2621481"/>
              <a:ext cx="901701" cy="903876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88" name="a"/>
            <p:cNvSpPr/>
            <p:nvPr/>
          </p:nvSpPr>
          <p:spPr>
            <a:xfrm>
              <a:off x="1908204" y="5749906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lvl1pPr>
            </a:lstStyle>
            <a:p>
              <a:pPr/>
              <a:r>
                <a:t>a</a:t>
              </a:r>
            </a:p>
          </p:txBody>
        </p:sp>
        <p:cxnSp>
          <p:nvCxnSpPr>
            <p:cNvPr id="389" name="Connection Line"/>
            <p:cNvCxnSpPr>
              <a:stCxn id="381" idx="0"/>
              <a:endCxn id="385" idx="0"/>
            </p:cNvCxnSpPr>
            <p:nvPr/>
          </p:nvCxnSpPr>
          <p:spPr>
            <a:xfrm>
              <a:off x="976074" y="451937"/>
              <a:ext cx="1958416" cy="1104283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90" name="Connection Line"/>
            <p:cNvCxnSpPr>
              <a:stCxn id="381" idx="0"/>
              <a:endCxn id="382" idx="0"/>
            </p:cNvCxnSpPr>
            <p:nvPr/>
          </p:nvCxnSpPr>
          <p:spPr>
            <a:xfrm>
              <a:off x="976074" y="451937"/>
              <a:ext cx="1" cy="2208565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91" name="Connection Line"/>
            <p:cNvCxnSpPr>
              <a:stCxn id="382" idx="0"/>
              <a:endCxn id="383" idx="0"/>
            </p:cNvCxnSpPr>
            <p:nvPr/>
          </p:nvCxnSpPr>
          <p:spPr>
            <a:xfrm>
              <a:off x="976074" y="2660501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92" name="Connection Line"/>
            <p:cNvCxnSpPr>
              <a:stCxn id="383" idx="0"/>
              <a:endCxn id="384" idx="0"/>
            </p:cNvCxnSpPr>
            <p:nvPr/>
          </p:nvCxnSpPr>
          <p:spPr>
            <a:xfrm>
              <a:off x="976074" y="4427997"/>
              <a:ext cx="1" cy="1767497"/>
            </a:xfrm>
            <a:prstGeom prst="straightConnector1">
              <a:avLst/>
            </a:prstGeom>
            <a:ln w="76200" cap="flat">
              <a:solidFill>
                <a:srgbClr val="0433FF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93" name="Connection Line"/>
            <p:cNvCxnSpPr>
              <a:stCxn id="387" idx="0"/>
              <a:endCxn id="385" idx="0"/>
            </p:cNvCxnSpPr>
            <p:nvPr/>
          </p:nvCxnSpPr>
          <p:spPr>
            <a:xfrm flipH="1" flipV="1">
              <a:off x="2934489" y="1556219"/>
              <a:ext cx="1437780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94" name="Connection Line"/>
            <p:cNvCxnSpPr>
              <a:stCxn id="386" idx="0"/>
              <a:endCxn id="385" idx="0"/>
            </p:cNvCxnSpPr>
            <p:nvPr/>
          </p:nvCxnSpPr>
          <p:spPr>
            <a:xfrm flipV="1">
              <a:off x="2934489" y="1556219"/>
              <a:ext cx="1" cy="1517201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cxnSp>
          <p:nvCxnSpPr>
            <p:cNvPr id="395" name="Connection Line"/>
            <p:cNvCxnSpPr>
              <a:stCxn id="383" idx="0"/>
              <a:endCxn id="388" idx="0"/>
            </p:cNvCxnSpPr>
            <p:nvPr/>
          </p:nvCxnSpPr>
          <p:spPr>
            <a:xfrm>
              <a:off x="976074" y="4427997"/>
              <a:ext cx="1382981" cy="1773847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tailEnd type="arrow" w="med" len="med"/>
            </a:ln>
            <a:effectLst/>
          </p:spPr>
        </p:cxnSp>
        <p:cxnSp>
          <p:nvCxnSpPr>
            <p:cNvPr id="396" name="Connection Line"/>
            <p:cNvCxnSpPr>
              <a:stCxn id="383" idx="0"/>
              <a:endCxn id="386" idx="0"/>
            </p:cNvCxnSpPr>
            <p:nvPr/>
          </p:nvCxnSpPr>
          <p:spPr>
            <a:xfrm flipV="1">
              <a:off x="976074" y="3073419"/>
              <a:ext cx="1958416" cy="1354579"/>
            </a:xfrm>
            <a:prstGeom prst="straightConnector1">
              <a:avLst/>
            </a:prstGeom>
            <a:ln w="508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</p:cxnSp>
        <p:sp>
          <p:nvSpPr>
            <p:cNvPr id="397" name="v2"/>
            <p:cNvSpPr/>
            <p:nvPr/>
          </p:nvSpPr>
          <p:spPr>
            <a:xfrm>
              <a:off x="5176038" y="1104282"/>
              <a:ext cx="901701" cy="903875"/>
            </a:xfrm>
            <a:prstGeom prst="roundRect">
              <a:avLst>
                <a:gd name="adj" fmla="val 33960"/>
              </a:avLst>
            </a:prstGeom>
            <a:solidFill>
              <a:srgbClr val="FFFFFF"/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4000">
                  <a:latin typeface="PT Mono"/>
                  <a:ea typeface="PT Mono"/>
                  <a:cs typeface="PT Mono"/>
                  <a:sym typeface="PT Mono"/>
                </a:defRPr>
              </a:pPr>
              <a:r>
                <a:t>v</a:t>
              </a:r>
              <a:r>
                <a:rPr baseline="-5999"/>
                <a:t>2</a:t>
              </a:r>
            </a:p>
          </p:txBody>
        </p:sp>
      </p:grpSp>
      <p:sp>
        <p:nvSpPr>
          <p:cNvPr id="399" name="Input program:    v1  = load a…"/>
          <p:cNvSpPr txBox="1"/>
          <p:nvPr/>
        </p:nvSpPr>
        <p:spPr>
          <a:xfrm>
            <a:off x="1162151" y="2543843"/>
            <a:ext cx="7339650" cy="334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/>
            <a:r>
              <a:t>Input program:</a:t>
            </a:r>
            <a:br/>
            <a:br/>
            <a:r>
              <a:t>  v</a:t>
            </a:r>
            <a:r>
              <a:rPr baseline="-5999"/>
              <a:t>1 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= load a</a:t>
            </a:r>
            <a:endParaRPr>
              <a:latin typeface="Andale Mono"/>
              <a:ea typeface="Andale Mono"/>
              <a:cs typeface="Andale Mono"/>
              <a:sym typeface="Andale Mono"/>
            </a:endParaRPr>
          </a:p>
          <a:p>
            <a:pPr lvl="1"/>
            <a:r>
              <a:rPr>
                <a:latin typeface="Andale Mono"/>
                <a:ea typeface="Andale Mono"/>
                <a:cs typeface="Andale Mono"/>
                <a:sym typeface="Andale Mono"/>
              </a:rPr>
              <a:t> print (</a:t>
            </a:r>
            <a:r>
              <a:t>v</a:t>
            </a:r>
            <a:r>
              <a:rPr baseline="-5999"/>
              <a:t>1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 + 10)</a:t>
            </a:r>
          </a:p>
        </p:txBody>
      </p:sp>
      <p:sp>
        <p:nvSpPr>
          <p:cNvPr id="402" name="Connection Line"/>
          <p:cNvSpPr/>
          <p:nvPr/>
        </p:nvSpPr>
        <p:spPr>
          <a:xfrm>
            <a:off x="9012973" y="6242771"/>
            <a:ext cx="1565038" cy="3679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15" h="21600" fill="norm" stroke="1" extrusionOk="0">
                <a:moveTo>
                  <a:pt x="14310" y="0"/>
                </a:moveTo>
                <a:cubicBezTo>
                  <a:pt x="-5385" y="5130"/>
                  <a:pt x="-4750" y="12330"/>
                  <a:pt x="16215" y="21600"/>
                </a:cubicBez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03" name="Connection Line"/>
          <p:cNvSpPr/>
          <p:nvPr/>
        </p:nvSpPr>
        <p:spPr>
          <a:xfrm>
            <a:off x="13337190" y="5151762"/>
            <a:ext cx="1835344" cy="1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762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extraction-time-cdf.pdf" descr="extraction-time-cdf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02457" y="2691369"/>
            <a:ext cx="17018001" cy="10210801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 Effect-safe Extraction in Practice</a:t>
            </a:r>
          </a:p>
        </p:txBody>
      </p:sp>
      <p:sp>
        <p:nvSpPr>
          <p:cNvPr id="4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08" name="Our Approach"/>
          <p:cNvSpPr txBox="1"/>
          <p:nvPr/>
        </p:nvSpPr>
        <p:spPr>
          <a:xfrm>
            <a:off x="8299551" y="9443211"/>
            <a:ext cx="330454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Our Approach</a:t>
            </a:r>
          </a:p>
        </p:txBody>
      </p:sp>
      <p:sp>
        <p:nvSpPr>
          <p:cNvPr id="409" name="Solver-Based Techniques"/>
          <p:cNvSpPr txBox="1"/>
          <p:nvPr/>
        </p:nvSpPr>
        <p:spPr>
          <a:xfrm>
            <a:off x="14039952" y="7944611"/>
            <a:ext cx="587248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Solver-Based Techniques</a:t>
            </a:r>
          </a:p>
        </p:txBody>
      </p:sp>
      <p:sp>
        <p:nvSpPr>
          <p:cNvPr id="410" name="Line"/>
          <p:cNvSpPr/>
          <p:nvPr/>
        </p:nvSpPr>
        <p:spPr>
          <a:xfrm flipH="1" flipV="1">
            <a:off x="8060873" y="7669769"/>
            <a:ext cx="1109966" cy="1734395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1" name="Line"/>
          <p:cNvSpPr/>
          <p:nvPr/>
        </p:nvSpPr>
        <p:spPr>
          <a:xfrm flipV="1">
            <a:off x="14649741" y="12309953"/>
            <a:ext cx="4163335" cy="873966"/>
          </a:xfrm>
          <a:prstGeom prst="line">
            <a:avLst/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2" name="Line"/>
          <p:cNvSpPr/>
          <p:nvPr/>
        </p:nvSpPr>
        <p:spPr>
          <a:xfrm flipH="1" flipV="1">
            <a:off x="13129214" y="6723149"/>
            <a:ext cx="2585945" cy="1259806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3" name="Extraction is fast"/>
          <p:cNvSpPr/>
          <p:nvPr/>
        </p:nvSpPr>
        <p:spPr>
          <a:xfrm>
            <a:off x="14737937" y="8936530"/>
            <a:ext cx="8473298" cy="2140267"/>
          </a:xfrm>
          <a:prstGeom prst="roundRect">
            <a:avLst>
              <a:gd name="adj" fmla="val 8901"/>
            </a:avLst>
          </a:prstGeom>
          <a:solidFill>
            <a:srgbClr val="D9EAD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lvl="1" algn="ctr">
              <a:lnSpc>
                <a:spcPct val="100000"/>
              </a:lnSpc>
              <a:spcBef>
                <a:spcPts val="0"/>
              </a:spcBef>
              <a:defRPr b="1" sz="6000"/>
            </a:pPr>
            <a:r>
              <a:t>Extraction is fast</a:t>
            </a:r>
          </a:p>
        </p:txBody>
      </p:sp>
      <p:sp>
        <p:nvSpPr>
          <p:cNvPr id="414" name="Line"/>
          <p:cNvSpPr/>
          <p:nvPr/>
        </p:nvSpPr>
        <p:spPr>
          <a:xfrm flipH="1" flipV="1">
            <a:off x="20180344" y="3768051"/>
            <a:ext cx="1281376" cy="361069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5" name="Solver Timeouts"/>
          <p:cNvSpPr txBox="1"/>
          <p:nvPr/>
        </p:nvSpPr>
        <p:spPr>
          <a:xfrm>
            <a:off x="20323071" y="4127848"/>
            <a:ext cx="3783585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Solver Timeouts</a:t>
            </a:r>
          </a:p>
        </p:txBody>
      </p:sp>
      <p:sp>
        <p:nvSpPr>
          <p:cNvPr id="416" name="Log scale"/>
          <p:cNvSpPr txBox="1"/>
          <p:nvPr/>
        </p:nvSpPr>
        <p:spPr>
          <a:xfrm>
            <a:off x="11799867" y="12706092"/>
            <a:ext cx="27447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Log scale</a:t>
            </a:r>
          </a:p>
        </p:txBody>
      </p:sp>
      <p:sp>
        <p:nvSpPr>
          <p:cNvPr id="417" name="Line"/>
          <p:cNvSpPr/>
          <p:nvPr/>
        </p:nvSpPr>
        <p:spPr>
          <a:xfrm flipH="1" flipV="1">
            <a:off x="14779172" y="6412469"/>
            <a:ext cx="1109967" cy="1734395"/>
          </a:xfrm>
          <a:prstGeom prst="line">
            <a:avLst/>
          </a:prstGeom>
          <a:ln w="762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8" name="Line"/>
          <p:cNvSpPr/>
          <p:nvPr/>
        </p:nvSpPr>
        <p:spPr>
          <a:xfrm flipH="1" flipV="1">
            <a:off x="7643540" y="12313649"/>
            <a:ext cx="4051177" cy="870269"/>
          </a:xfrm>
          <a:prstGeom prst="line">
            <a:avLst/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 Effect-safe Extraction in Practice</a:t>
            </a:r>
          </a:p>
        </p:txBody>
      </p:sp>
      <p:sp>
        <p:nvSpPr>
          <p:cNvPr id="4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22" name="g0.pdf" descr="g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33295" cy="10444413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LLVM-O0-O0"/>
          <p:cNvSpPr txBox="1"/>
          <p:nvPr/>
        </p:nvSpPr>
        <p:spPr>
          <a:xfrm>
            <a:off x="12153287" y="11340746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424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 Effect-safe Extraction in Practice</a:t>
            </a:r>
          </a:p>
        </p:txBody>
      </p:sp>
      <p:sp>
        <p:nvSpPr>
          <p:cNvPr id="4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28" name="g1.pdf" descr="g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27281" cy="10439400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LLVM-O0-O0"/>
          <p:cNvSpPr txBox="1"/>
          <p:nvPr/>
        </p:nvSpPr>
        <p:spPr>
          <a:xfrm>
            <a:off x="12153287" y="11340746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430" name="eggcc"/>
          <p:cNvSpPr txBox="1"/>
          <p:nvPr/>
        </p:nvSpPr>
        <p:spPr>
          <a:xfrm>
            <a:off x="12153287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431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 Effect-safe Extraction in Practice</a:t>
            </a:r>
          </a:p>
        </p:txBody>
      </p:sp>
      <p:sp>
        <p:nvSpPr>
          <p:cNvPr id="4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35" name="g2.pdf" descr="g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2578100"/>
            <a:ext cx="12527281" cy="10439400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LLVM-O0-O0"/>
          <p:cNvSpPr txBox="1"/>
          <p:nvPr/>
        </p:nvSpPr>
        <p:spPr>
          <a:xfrm>
            <a:off x="12153287" y="11340746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437" name="eggcc"/>
          <p:cNvSpPr txBox="1"/>
          <p:nvPr/>
        </p:nvSpPr>
        <p:spPr>
          <a:xfrm>
            <a:off x="12153287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438" name="LLVM-O3-O0"/>
          <p:cNvSpPr txBox="1"/>
          <p:nvPr/>
        </p:nvSpPr>
        <p:spPr>
          <a:xfrm>
            <a:off x="12153287" y="6338900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LLVM-O3-O0</a:t>
            </a:r>
          </a:p>
        </p:txBody>
      </p:sp>
      <p:sp>
        <p:nvSpPr>
          <p:cNvPr id="439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Fast Effect-safe Extraction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Fast Effect-safe Extraction in Practice</a:t>
            </a:r>
          </a:p>
        </p:txBody>
      </p:sp>
      <p:sp>
        <p:nvSpPr>
          <p:cNvPr id="4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43" name="g0.pdf" descr="g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802" y="2570218"/>
            <a:ext cx="12533296" cy="10444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44" name="g1.pdf" descr="g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09" y="2572724"/>
            <a:ext cx="12527281" cy="1043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g2.pdf" descr="g2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809" y="2572724"/>
            <a:ext cx="12527281" cy="1043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g3.pdf" descr="g3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809" y="2572724"/>
            <a:ext cx="12527281" cy="10439401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LLVM-O0-O0"/>
          <p:cNvSpPr txBox="1"/>
          <p:nvPr/>
        </p:nvSpPr>
        <p:spPr>
          <a:xfrm>
            <a:off x="12153287" y="11340746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LLVM-O0-O0</a:t>
            </a:r>
          </a:p>
        </p:txBody>
      </p:sp>
      <p:sp>
        <p:nvSpPr>
          <p:cNvPr id="448" name="eggcc"/>
          <p:cNvSpPr txBox="1"/>
          <p:nvPr/>
        </p:nvSpPr>
        <p:spPr>
          <a:xfrm>
            <a:off x="12153287" y="9471817"/>
            <a:ext cx="1866266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eggcc</a:t>
            </a:r>
          </a:p>
        </p:txBody>
      </p:sp>
      <p:sp>
        <p:nvSpPr>
          <p:cNvPr id="449" name="LLVM-O3-O0"/>
          <p:cNvSpPr txBox="1"/>
          <p:nvPr/>
        </p:nvSpPr>
        <p:spPr>
          <a:xfrm>
            <a:off x="12153287" y="6338900"/>
            <a:ext cx="386842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LLVM-O3-O0</a:t>
            </a:r>
          </a:p>
        </p:txBody>
      </p:sp>
      <p:sp>
        <p:nvSpPr>
          <p:cNvPr id="450" name="Solver Approaches"/>
          <p:cNvSpPr txBox="1"/>
          <p:nvPr/>
        </p:nvSpPr>
        <p:spPr>
          <a:xfrm>
            <a:off x="12153287" y="2942622"/>
            <a:ext cx="550037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Solver Approaches</a:t>
            </a:r>
          </a:p>
        </p:txBody>
      </p:sp>
      <p:sp>
        <p:nvSpPr>
          <p:cNvPr id="451" name="Non-trivial…"/>
          <p:cNvSpPr/>
          <p:nvPr/>
        </p:nvSpPr>
        <p:spPr>
          <a:xfrm>
            <a:off x="14737937" y="8172839"/>
            <a:ext cx="9081620" cy="2903958"/>
          </a:xfrm>
          <a:prstGeom prst="roundRect">
            <a:avLst>
              <a:gd name="adj" fmla="val 6560"/>
            </a:avLst>
          </a:prstGeom>
          <a:solidFill>
            <a:srgbClr val="D9EAD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lvl="1" algn="ctr">
              <a:lnSpc>
                <a:spcPct val="100000"/>
              </a:lnSpc>
              <a:spcBef>
                <a:spcPts val="0"/>
              </a:spcBef>
              <a:defRPr b="1" sz="7500"/>
            </a:pPr>
            <a:r>
              <a:t>Non-trivial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  <a:defRPr b="1" sz="7500"/>
            </a:pPr>
            <a:r>
              <a:t>e-graphs!</a:t>
            </a:r>
          </a:p>
        </p:txBody>
      </p:sp>
      <p:sp>
        <p:nvSpPr>
          <p:cNvPr id="452" name="Polybench Benchmark Suite"/>
          <p:cNvSpPr txBox="1"/>
          <p:nvPr/>
        </p:nvSpPr>
        <p:spPr>
          <a:xfrm>
            <a:off x="3754868" y="12611565"/>
            <a:ext cx="655066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Polybench Benchmark Suite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1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sx="100000" sy="100000" kx="0" ky="0" algn="b" rotWithShape="0" blurRad="190500" dist="12700" dir="5400000">
              <a:srgbClr val="000000"/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27000" tIns="127000" rIns="127000" bIns="1270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sx="100000" sy="100000" kx="0" ky="0" algn="b" rotWithShape="0" blurRad="190500" dist="12700" dir="5400000">
              <a:srgbClr val="000000"/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127000" tIns="127000" rIns="127000" bIns="1270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