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6" name="Shape 8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23939500" y="132714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2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xfrm>
            <a:off x="23939500" y="132714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xfrm>
            <a:off x="23939500" y="132714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xfrm>
            <a:off x="23939500" y="132714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"/>
          <p:cNvSpPr txBox="1"/>
          <p:nvPr>
            <p:ph type="sldNum" sz="quarter" idx="2"/>
          </p:nvPr>
        </p:nvSpPr>
        <p:spPr>
          <a:xfrm>
            <a:off x="23939500" y="132714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2" name="Slide Number"/>
          <p:cNvSpPr txBox="1"/>
          <p:nvPr>
            <p:ph type="sldNum" sz="quarter" idx="2"/>
          </p:nvPr>
        </p:nvSpPr>
        <p:spPr>
          <a:xfrm>
            <a:off x="23749000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1" name="Slide Number"/>
          <p:cNvSpPr txBox="1"/>
          <p:nvPr>
            <p:ph type="sldNum" sz="quarter" idx="2"/>
          </p:nvPr>
        </p:nvSpPr>
        <p:spPr>
          <a:xfrm>
            <a:off x="23747236" y="13078312"/>
            <a:ext cx="368504" cy="3746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>
            <a:lvl1pPr defTabSz="2438338">
              <a:defRPr spc="-170"/>
            </a:lvl1pPr>
          </a:lstStyle>
          <a:p>
            <a:pPr/>
            <a:r>
              <a:t>Slide Title</a:t>
            </a:r>
          </a:p>
        </p:txBody>
      </p:sp>
      <p:sp>
        <p:nvSpPr>
          <p:cNvPr id="79" name="Slide Number"/>
          <p:cNvSpPr txBox="1"/>
          <p:nvPr>
            <p:ph type="sldNum" sz="quarter" idx="2"/>
          </p:nvPr>
        </p:nvSpPr>
        <p:spPr>
          <a:xfrm>
            <a:off x="23939500" y="132714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944630" y="13270153"/>
            <a:ext cx="368504" cy="374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unknown.png" descr="unknown.png"/>
          <p:cNvPicPr>
            <a:picLocks noChangeAspect="1"/>
          </p:cNvPicPr>
          <p:nvPr/>
        </p:nvPicPr>
        <p:blipFill>
          <a:blip r:embed="rId2">
            <a:alphaModFix amt="35116"/>
            <a:extLst/>
          </a:blip>
          <a:srcRect l="0" t="1316" r="51406" b="0"/>
          <a:stretch>
            <a:fillRect/>
          </a:stretch>
        </p:blipFill>
        <p:spPr>
          <a:xfrm rot="5400000">
            <a:off x="2601545" y="-4249165"/>
            <a:ext cx="19180888" cy="24448211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Oliver Flatt, Anjali Pal, Yihong Zhang, Ryan Tjoa, Kirsten Graham, Alex Fischman,…"/>
          <p:cNvSpPr txBox="1"/>
          <p:nvPr>
            <p:ph type="body" sz="quarter" idx="1"/>
          </p:nvPr>
        </p:nvSpPr>
        <p:spPr>
          <a:xfrm>
            <a:off x="340904" y="11385363"/>
            <a:ext cx="23290712" cy="1289846"/>
          </a:xfrm>
          <a:prstGeom prst="rect">
            <a:avLst/>
          </a:prstGeom>
        </p:spPr>
        <p:txBody>
          <a:bodyPr/>
          <a:lstStyle/>
          <a:p>
            <a:pPr defTabSz="388620">
              <a:defRPr b="0" sz="39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Oliver Flatt, Anjali Pal, Yihong Zhang, Ryan Tjoa, Kirsten Graham, Alex Fischman,</a:t>
            </a:r>
          </a:p>
          <a:p>
            <a:pPr defTabSz="388620">
              <a:defRPr b="0" sz="39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Chandrakana Nandi, Eli Rosenthal, Zachary Tatlock, Haobin Ni</a:t>
            </a:r>
          </a:p>
        </p:txBody>
      </p:sp>
      <p:sp>
        <p:nvSpPr>
          <p:cNvPr id="90" name="Efficient Extraction from Effectful E-Graphs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Efficient Extraction from Effectful E-Graphs</a:t>
            </a:r>
          </a:p>
        </p:txBody>
      </p:sp>
      <p:pic>
        <p:nvPicPr>
          <p:cNvPr id="91" name="unknown.png" descr="unknown.png"/>
          <p:cNvPicPr>
            <a:picLocks noChangeAspect="1"/>
          </p:cNvPicPr>
          <p:nvPr/>
        </p:nvPicPr>
        <p:blipFill>
          <a:blip r:embed="rId3">
            <a:extLst/>
          </a:blip>
          <a:srcRect l="12093" t="31798" r="13465" b="37023"/>
          <a:stretch>
            <a:fillRect/>
          </a:stretch>
        </p:blipFill>
        <p:spPr>
          <a:xfrm>
            <a:off x="-58660" y="12501950"/>
            <a:ext cx="7830165" cy="12900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2" name="unknown.png" descr="unknow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195409" y="9443890"/>
            <a:ext cx="1460501" cy="1460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unknown.png" descr="unknown.png"/>
          <p:cNvPicPr>
            <a:picLocks noChangeAspect="1"/>
          </p:cNvPicPr>
          <p:nvPr/>
        </p:nvPicPr>
        <p:blipFill>
          <a:blip r:embed="rId5">
            <a:extLst/>
          </a:blip>
          <a:srcRect l="0" t="2040" r="0" b="2039"/>
          <a:stretch>
            <a:fillRect/>
          </a:stretch>
        </p:blipFill>
        <p:spPr>
          <a:xfrm>
            <a:off x="10278536" y="9444136"/>
            <a:ext cx="1460502" cy="1460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94" name="unknown.png" descr="unknown.png"/>
          <p:cNvPicPr>
            <a:picLocks noChangeAspect="1"/>
          </p:cNvPicPr>
          <p:nvPr/>
        </p:nvPicPr>
        <p:blipFill>
          <a:blip r:embed="rId6">
            <a:extLst/>
          </a:blip>
          <a:srcRect l="0" t="5217" r="0" b="19782"/>
          <a:stretch>
            <a:fillRect/>
          </a:stretch>
        </p:blipFill>
        <p:spPr>
          <a:xfrm>
            <a:off x="14320099" y="9444509"/>
            <a:ext cx="1460502" cy="1460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unknown.png" descr="unknown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216191" y="9444014"/>
            <a:ext cx="1460502" cy="1460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unknown.png" descr="unknown.png"/>
          <p:cNvPicPr>
            <a:picLocks noChangeAspect="1"/>
          </p:cNvPicPr>
          <p:nvPr/>
        </p:nvPicPr>
        <p:blipFill>
          <a:blip r:embed="rId8">
            <a:extLst/>
          </a:blip>
          <a:srcRect l="0" t="12340" r="0" b="12340"/>
          <a:stretch>
            <a:fillRect/>
          </a:stretch>
        </p:blipFill>
        <p:spPr>
          <a:xfrm>
            <a:off x="8257754" y="9443245"/>
            <a:ext cx="1460502" cy="1461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97" name="unknown.png" descr="unknown.png"/>
          <p:cNvPicPr>
            <a:picLocks noChangeAspect="1"/>
          </p:cNvPicPr>
          <p:nvPr/>
        </p:nvPicPr>
        <p:blipFill>
          <a:blip r:embed="rId9">
            <a:extLst/>
          </a:blip>
          <a:srcRect l="0" t="0" r="0" b="9252"/>
          <a:stretch>
            <a:fillRect/>
          </a:stretch>
        </p:blipFill>
        <p:spPr>
          <a:xfrm>
            <a:off x="6236972" y="9444510"/>
            <a:ext cx="1460501" cy="1460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pasted-movie.png" descr="pasted-movie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6340881" y="9443518"/>
            <a:ext cx="1460502" cy="1460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unknown.png" descr="unknown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8123955" y="9443518"/>
            <a:ext cx="6085419" cy="1460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asted-movie.png" descr="pasted-movie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174626" y="9443890"/>
            <a:ext cx="1460501" cy="1460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asted-movie.png" descr="pasted-movie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12299316" y="9443890"/>
            <a:ext cx="1460502" cy="1460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E-Graphs are Super Useful!"/>
          <p:cNvSpPr txBox="1"/>
          <p:nvPr>
            <p:ph type="title"/>
          </p:nvPr>
        </p:nvSpPr>
        <p:spPr>
          <a:xfrm>
            <a:off x="661473" y="818835"/>
            <a:ext cx="21971001" cy="1433164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E-Graphs are Super Useful!</a:t>
            </a:r>
          </a:p>
        </p:txBody>
      </p:sp>
      <p:sp>
        <p:nvSpPr>
          <p:cNvPr id="104" name="Slide Number"/>
          <p:cNvSpPr txBox="1"/>
          <p:nvPr>
            <p:ph type="sldNum" sz="quarter" idx="4294967295"/>
          </p:nvPr>
        </p:nvSpPr>
        <p:spPr>
          <a:xfrm>
            <a:off x="24008180" y="13270152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07" name="Group"/>
          <p:cNvGrpSpPr/>
          <p:nvPr/>
        </p:nvGrpSpPr>
        <p:grpSpPr>
          <a:xfrm>
            <a:off x="7877379" y="2999028"/>
            <a:ext cx="4455582" cy="4076635"/>
            <a:chOff x="0" y="410259"/>
            <a:chExt cx="4455581" cy="4076634"/>
          </a:xfrm>
        </p:grpSpPr>
        <p:pic>
          <p:nvPicPr>
            <p:cNvPr id="105" name="pasted-movie.png" descr="pasted-movi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90355" y="921668"/>
              <a:ext cx="3565227" cy="35652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6" name="Python Simulations"/>
            <p:cNvSpPr/>
            <p:nvPr/>
          </p:nvSpPr>
          <p:spPr>
            <a:xfrm>
              <a:off x="0" y="410259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Python Simulations</a:t>
              </a:r>
            </a:p>
          </p:txBody>
        </p:sp>
      </p:grpSp>
      <p:grpSp>
        <p:nvGrpSpPr>
          <p:cNvPr id="110" name="Group"/>
          <p:cNvGrpSpPr/>
          <p:nvPr/>
        </p:nvGrpSpPr>
        <p:grpSpPr>
          <a:xfrm>
            <a:off x="4969306" y="8419231"/>
            <a:ext cx="4767507" cy="4275670"/>
            <a:chOff x="0" y="410259"/>
            <a:chExt cx="4767506" cy="4275669"/>
          </a:xfrm>
        </p:grpSpPr>
        <p:pic>
          <p:nvPicPr>
            <p:cNvPr id="108" name="pasted-movie.png" descr="pasted-movi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971" b="0"/>
            <a:stretch>
              <a:fillRect/>
            </a:stretch>
          </p:blipFill>
          <p:spPr>
            <a:xfrm>
              <a:off x="0" y="929026"/>
              <a:ext cx="4767507" cy="37569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9" name="CAD"/>
            <p:cNvSpPr/>
            <p:nvPr/>
          </p:nvSpPr>
          <p:spPr>
            <a:xfrm>
              <a:off x="65577" y="4102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CAD</a:t>
              </a:r>
            </a:p>
          </p:txBody>
        </p:sp>
      </p:grpSp>
      <p:grpSp>
        <p:nvGrpSpPr>
          <p:cNvPr id="113" name="Group"/>
          <p:cNvGrpSpPr/>
          <p:nvPr/>
        </p:nvGrpSpPr>
        <p:grpSpPr>
          <a:xfrm>
            <a:off x="495571" y="7915607"/>
            <a:ext cx="3967143" cy="4387223"/>
            <a:chOff x="0" y="0"/>
            <a:chExt cx="3967141" cy="4387222"/>
          </a:xfrm>
        </p:grpSpPr>
        <p:pic>
          <p:nvPicPr>
            <p:cNvPr id="111" name="pasted-movie.png" descr="pasted-movi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456416" y="759472"/>
              <a:ext cx="3510726" cy="36277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2" name="SQL"/>
            <p:cNvSpPr txBox="1"/>
            <p:nvPr/>
          </p:nvSpPr>
          <p:spPr>
            <a:xfrm>
              <a:off x="0" y="-1"/>
              <a:ext cx="1322528" cy="8205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SQL</a:t>
              </a:r>
            </a:p>
          </p:txBody>
        </p:sp>
      </p:grpSp>
      <p:grpSp>
        <p:nvGrpSpPr>
          <p:cNvPr id="116" name="Group"/>
          <p:cNvGrpSpPr/>
          <p:nvPr/>
        </p:nvGrpSpPr>
        <p:grpSpPr>
          <a:xfrm>
            <a:off x="10243406" y="8003073"/>
            <a:ext cx="5172109" cy="3822927"/>
            <a:chOff x="0" y="0"/>
            <a:chExt cx="5172108" cy="3822926"/>
          </a:xfrm>
        </p:grpSpPr>
        <p:pic>
          <p:nvPicPr>
            <p:cNvPr id="114" name="pasted-movie.png" descr="pasted-movie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33361" y="874800"/>
              <a:ext cx="5138748" cy="29481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5" name="WASM"/>
            <p:cNvSpPr txBox="1"/>
            <p:nvPr/>
          </p:nvSpPr>
          <p:spPr>
            <a:xfrm>
              <a:off x="0" y="-1"/>
              <a:ext cx="2018081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WASM</a:t>
              </a:r>
            </a:p>
          </p:txBody>
        </p:sp>
      </p:grpSp>
      <p:grpSp>
        <p:nvGrpSpPr>
          <p:cNvPr id="119" name="Group"/>
          <p:cNvGrpSpPr/>
          <p:nvPr/>
        </p:nvGrpSpPr>
        <p:grpSpPr>
          <a:xfrm>
            <a:off x="456625" y="3000374"/>
            <a:ext cx="7092672" cy="3712050"/>
            <a:chOff x="0" y="410259"/>
            <a:chExt cx="7092670" cy="3712048"/>
          </a:xfrm>
        </p:grpSpPr>
        <p:pic>
          <p:nvPicPr>
            <p:cNvPr id="117" name="pasted-movie.png" descr="pasted-movie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944791"/>
              <a:ext cx="7092671" cy="31775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8" name="Floating point"/>
            <p:cNvSpPr/>
            <p:nvPr/>
          </p:nvSpPr>
          <p:spPr>
            <a:xfrm>
              <a:off x="396518" y="4102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Floating point</a:t>
              </a:r>
            </a:p>
          </p:txBody>
        </p:sp>
      </p:grpSp>
      <p:grpSp>
        <p:nvGrpSpPr>
          <p:cNvPr id="123" name="Group"/>
          <p:cNvGrpSpPr/>
          <p:nvPr/>
        </p:nvGrpSpPr>
        <p:grpSpPr>
          <a:xfrm>
            <a:off x="19959904" y="2691291"/>
            <a:ext cx="3360018" cy="5551850"/>
            <a:chOff x="0" y="410259"/>
            <a:chExt cx="3360017" cy="5551849"/>
          </a:xfrm>
        </p:grpSpPr>
        <p:pic>
          <p:nvPicPr>
            <p:cNvPr id="120" name="pasted-movie.png" descr="pasted-movie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989659"/>
              <a:ext cx="3360018" cy="33600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1" name="ML Kernels"/>
            <p:cNvSpPr/>
            <p:nvPr/>
          </p:nvSpPr>
          <p:spPr>
            <a:xfrm>
              <a:off x="25096" y="41025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ML Kernels</a:t>
              </a:r>
            </a:p>
          </p:txBody>
        </p:sp>
        <p:sp>
          <p:nvSpPr>
            <p:cNvPr id="122" name="(Luminal)"/>
            <p:cNvSpPr/>
            <p:nvPr/>
          </p:nvSpPr>
          <p:spPr>
            <a:xfrm>
              <a:off x="516434" y="469210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Luminal</a:t>
              </a:r>
            </a:p>
          </p:txBody>
        </p:sp>
      </p:grpSp>
      <p:grpSp>
        <p:nvGrpSpPr>
          <p:cNvPr id="126" name="Group"/>
          <p:cNvGrpSpPr/>
          <p:nvPr/>
        </p:nvGrpSpPr>
        <p:grpSpPr>
          <a:xfrm>
            <a:off x="13957960" y="3142788"/>
            <a:ext cx="4717849" cy="3427221"/>
            <a:chOff x="0" y="410258"/>
            <a:chExt cx="4717848" cy="3427220"/>
          </a:xfrm>
        </p:grpSpPr>
        <p:sp>
          <p:nvSpPr>
            <p:cNvPr id="124" name="RTL Optimization"/>
            <p:cNvSpPr/>
            <p:nvPr/>
          </p:nvSpPr>
          <p:spPr>
            <a:xfrm>
              <a:off x="95379" y="4102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RTL Optimization</a:t>
              </a:r>
            </a:p>
          </p:txBody>
        </p:sp>
        <p:pic>
          <p:nvPicPr>
            <p:cNvPr id="125" name="pasted-movie.png" descr="pasted-movie.png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0" y="712376"/>
              <a:ext cx="4717849" cy="31251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27" name="…and more!"/>
          <p:cNvSpPr txBox="1"/>
          <p:nvPr/>
        </p:nvSpPr>
        <p:spPr>
          <a:xfrm>
            <a:off x="20640253" y="12292916"/>
            <a:ext cx="3558541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…and more!</a:t>
            </a:r>
          </a:p>
        </p:txBody>
      </p:sp>
      <p:grpSp>
        <p:nvGrpSpPr>
          <p:cNvPr id="130" name="Group"/>
          <p:cNvGrpSpPr/>
          <p:nvPr/>
        </p:nvGrpSpPr>
        <p:grpSpPr>
          <a:xfrm>
            <a:off x="15955469" y="8129775"/>
            <a:ext cx="8050112" cy="3958886"/>
            <a:chOff x="0" y="0"/>
            <a:chExt cx="8050110" cy="3958885"/>
          </a:xfrm>
        </p:grpSpPr>
        <p:sp>
          <p:nvSpPr>
            <p:cNvPr id="128" name="WASM"/>
            <p:cNvSpPr txBox="1"/>
            <p:nvPr/>
          </p:nvSpPr>
          <p:spPr>
            <a:xfrm>
              <a:off x="775341" y="-1"/>
              <a:ext cx="6832703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User DSL Optimizations</a:t>
              </a:r>
            </a:p>
          </p:txBody>
        </p:sp>
        <p:pic>
          <p:nvPicPr>
            <p:cNvPr id="129" name="pasted-movie.png" descr="pasted-movie.png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0" y="738840"/>
              <a:ext cx="8050111" cy="32200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7" grpId="2"/>
      <p:bldP build="whole" bldLvl="1" animBg="1" rev="0" advAuto="0" spid="127" grpId="9"/>
      <p:bldP build="whole" bldLvl="1" animBg="1" rev="0" advAuto="0" spid="113" grpId="5"/>
      <p:bldP build="whole" bldLvl="1" animBg="1" rev="0" advAuto="0" spid="126" grpId="3"/>
      <p:bldP build="whole" bldLvl="1" animBg="1" rev="0" advAuto="0" spid="119" grpId="1"/>
      <p:bldP build="whole" bldLvl="1" animBg="1" rev="0" advAuto="0" spid="116" grpId="7"/>
      <p:bldP build="whole" bldLvl="1" animBg="1" rev="0" advAuto="0" spid="110" grpId="6"/>
      <p:bldP build="whole" bldLvl="1" animBg="1" rev="0" advAuto="0" spid="123" grpId="4"/>
      <p:bldP build="whole" bldLvl="1" animBg="1" rev="0" advAuto="0" spid="130" grpId="8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lide Number"/>
          <p:cNvSpPr txBox="1"/>
          <p:nvPr>
            <p:ph type="sldNum" sz="quarter" idx="4294967295"/>
          </p:nvPr>
        </p:nvSpPr>
        <p:spPr>
          <a:xfrm>
            <a:off x="24003050" y="13271498"/>
            <a:ext cx="241403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3" name="Input term: (a + 1) - 1"/>
          <p:cNvSpPr txBox="1"/>
          <p:nvPr/>
        </p:nvSpPr>
        <p:spPr>
          <a:xfrm>
            <a:off x="1206500" y="3165600"/>
            <a:ext cx="4716403" cy="289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Input term:</a:t>
            </a: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  (a + 1) - 1</a:t>
            </a:r>
          </a:p>
        </p:txBody>
      </p:sp>
      <p:sp>
        <p:nvSpPr>
          <p:cNvPr id="134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E-Graphs Explore a Big Space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lide Number"/>
          <p:cNvSpPr txBox="1"/>
          <p:nvPr>
            <p:ph type="sldNum" sz="quarter" idx="4294967295"/>
          </p:nvPr>
        </p:nvSpPr>
        <p:spPr>
          <a:xfrm>
            <a:off x="24003050" y="13271498"/>
            <a:ext cx="241403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7" name="Input term: (a + 1) - 1"/>
          <p:cNvSpPr txBox="1"/>
          <p:nvPr/>
        </p:nvSpPr>
        <p:spPr>
          <a:xfrm>
            <a:off x="1206500" y="3165600"/>
            <a:ext cx="4716403" cy="289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Input term:</a:t>
            </a: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  (a + 1) - 1</a:t>
            </a:r>
          </a:p>
        </p:txBody>
      </p:sp>
      <p:grpSp>
        <p:nvGrpSpPr>
          <p:cNvPr id="142" name="Group"/>
          <p:cNvGrpSpPr/>
          <p:nvPr/>
        </p:nvGrpSpPr>
        <p:grpSpPr>
          <a:xfrm>
            <a:off x="14866049" y="3212469"/>
            <a:ext cx="8500603" cy="5234894"/>
            <a:chOff x="0" y="0"/>
            <a:chExt cx="8500602" cy="5234892"/>
          </a:xfrm>
        </p:grpSpPr>
        <p:sp>
          <p:nvSpPr>
            <p:cNvPr id="138" name="(α + β) − γ ⇝ α + (β − γ)"/>
            <p:cNvSpPr txBox="1"/>
            <p:nvPr/>
          </p:nvSpPr>
          <p:spPr>
            <a:xfrm>
              <a:off x="1041262" y="1336448"/>
              <a:ext cx="745934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0433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(α + β) − γ ⇝ α + (β − γ)</a:t>
              </a:r>
            </a:p>
          </p:txBody>
        </p:sp>
        <p:sp>
          <p:nvSpPr>
            <p:cNvPr id="139" name="α − α ⇝ 0"/>
            <p:cNvSpPr txBox="1"/>
            <p:nvPr/>
          </p:nvSpPr>
          <p:spPr>
            <a:xfrm>
              <a:off x="1146731" y="2790370"/>
              <a:ext cx="2944268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FF93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α − α ⇝ 0</a:t>
              </a:r>
            </a:p>
          </p:txBody>
        </p:sp>
        <p:sp>
          <p:nvSpPr>
            <p:cNvPr id="140" name="Input term: (a + 1) - 1"/>
            <p:cNvSpPr txBox="1"/>
            <p:nvPr/>
          </p:nvSpPr>
          <p:spPr>
            <a:xfrm>
              <a:off x="0" y="0"/>
              <a:ext cx="4716403" cy="2092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pc="-200" sz="6000"/>
              </a:lvl1pPr>
            </a:lstStyle>
            <a:p>
              <a:pPr/>
              <a:r>
                <a:t>Rules:</a:t>
              </a:r>
            </a:p>
          </p:txBody>
        </p:sp>
        <p:sp>
          <p:nvSpPr>
            <p:cNvPr id="141" name="α + 0 ⇝ α"/>
            <p:cNvSpPr txBox="1"/>
            <p:nvPr/>
          </p:nvSpPr>
          <p:spPr>
            <a:xfrm>
              <a:off x="1146731" y="4244292"/>
              <a:ext cx="2944268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4F8F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α + 0 ⇝ α</a:t>
              </a:r>
            </a:p>
          </p:txBody>
        </p:sp>
      </p:grpSp>
      <p:sp>
        <p:nvSpPr>
          <p:cNvPr id="143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E-Graphs Explore a Big Space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lide Number"/>
          <p:cNvSpPr txBox="1"/>
          <p:nvPr>
            <p:ph type="sldNum" sz="quarter" idx="4294967295"/>
          </p:nvPr>
        </p:nvSpPr>
        <p:spPr>
          <a:xfrm>
            <a:off x="24003050" y="13271498"/>
            <a:ext cx="241403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48" name="+"/>
          <p:cNvGrpSpPr/>
          <p:nvPr/>
        </p:nvGrpSpPr>
        <p:grpSpPr>
          <a:xfrm>
            <a:off x="10241650" y="8588271"/>
            <a:ext cx="1270002" cy="1270002"/>
            <a:chOff x="0" y="0"/>
            <a:chExt cx="1270000" cy="1270000"/>
          </a:xfrm>
        </p:grpSpPr>
        <p:sp>
          <p:nvSpPr>
            <p:cNvPr id="146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47" name="+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+</a:t>
              </a:r>
            </a:p>
          </p:txBody>
        </p:sp>
      </p:grpSp>
      <p:grpSp>
        <p:nvGrpSpPr>
          <p:cNvPr id="151" name="a"/>
          <p:cNvGrpSpPr/>
          <p:nvPr/>
        </p:nvGrpSpPr>
        <p:grpSpPr>
          <a:xfrm>
            <a:off x="10241650" y="11016387"/>
            <a:ext cx="1270002" cy="1270002"/>
            <a:chOff x="0" y="0"/>
            <a:chExt cx="1270000" cy="1270000"/>
          </a:xfrm>
        </p:grpSpPr>
        <p:sp>
          <p:nvSpPr>
            <p:cNvPr id="149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50" name="a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54" name="1"/>
          <p:cNvGrpSpPr/>
          <p:nvPr/>
        </p:nvGrpSpPr>
        <p:grpSpPr>
          <a:xfrm>
            <a:off x="13078023" y="11016387"/>
            <a:ext cx="1270002" cy="1270002"/>
            <a:chOff x="0" y="0"/>
            <a:chExt cx="1270000" cy="1270000"/>
          </a:xfrm>
        </p:grpSpPr>
        <p:sp>
          <p:nvSpPr>
            <p:cNvPr id="152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53" name="1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57" name="−"/>
          <p:cNvGrpSpPr/>
          <p:nvPr/>
        </p:nvGrpSpPr>
        <p:grpSpPr>
          <a:xfrm>
            <a:off x="10241650" y="6160153"/>
            <a:ext cx="1270002" cy="1270002"/>
            <a:chOff x="0" y="0"/>
            <a:chExt cx="1270000" cy="1270000"/>
          </a:xfrm>
        </p:grpSpPr>
        <p:sp>
          <p:nvSpPr>
            <p:cNvPr id="155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56" name="−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−</a:t>
              </a:r>
            </a:p>
          </p:txBody>
        </p:sp>
      </p:grpSp>
      <p:sp>
        <p:nvSpPr>
          <p:cNvPr id="169" name="Connection Line"/>
          <p:cNvSpPr/>
          <p:nvPr/>
        </p:nvSpPr>
        <p:spPr>
          <a:xfrm>
            <a:off x="11250593" y="7435391"/>
            <a:ext cx="2088488" cy="3575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170" name="Connection Line"/>
          <p:cNvSpPr/>
          <p:nvPr/>
        </p:nvSpPr>
        <p:spPr>
          <a:xfrm>
            <a:off x="10876651" y="7455553"/>
            <a:ext cx="1" cy="1107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4400"/>
                  <a:pt x="0" y="7200"/>
                  <a:pt x="2160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171" name="Connection Line"/>
          <p:cNvSpPr/>
          <p:nvPr/>
        </p:nvSpPr>
        <p:spPr>
          <a:xfrm>
            <a:off x="10876651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4400"/>
                  <a:pt x="0" y="7200"/>
                  <a:pt x="2160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172" name="Connection Line"/>
          <p:cNvSpPr/>
          <p:nvPr/>
        </p:nvSpPr>
        <p:spPr>
          <a:xfrm>
            <a:off x="11454232" y="9717718"/>
            <a:ext cx="1681210" cy="14392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162" name="Input term: (a + 1) - 1"/>
          <p:cNvSpPr txBox="1"/>
          <p:nvPr/>
        </p:nvSpPr>
        <p:spPr>
          <a:xfrm>
            <a:off x="1206500" y="3165600"/>
            <a:ext cx="4716403" cy="289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Input term:</a:t>
            </a: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  (a + 1) - 1</a:t>
            </a:r>
          </a:p>
        </p:txBody>
      </p:sp>
      <p:grpSp>
        <p:nvGrpSpPr>
          <p:cNvPr id="167" name="Group"/>
          <p:cNvGrpSpPr/>
          <p:nvPr/>
        </p:nvGrpSpPr>
        <p:grpSpPr>
          <a:xfrm>
            <a:off x="14866049" y="3212469"/>
            <a:ext cx="8500603" cy="5234894"/>
            <a:chOff x="0" y="0"/>
            <a:chExt cx="8500602" cy="5234892"/>
          </a:xfrm>
        </p:grpSpPr>
        <p:sp>
          <p:nvSpPr>
            <p:cNvPr id="163" name="(α + β) − γ ⇝ α + (β − γ)"/>
            <p:cNvSpPr txBox="1"/>
            <p:nvPr/>
          </p:nvSpPr>
          <p:spPr>
            <a:xfrm>
              <a:off x="1041262" y="1336448"/>
              <a:ext cx="745934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0433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(α + β) − γ ⇝ α + (β − γ)</a:t>
              </a:r>
            </a:p>
          </p:txBody>
        </p:sp>
        <p:sp>
          <p:nvSpPr>
            <p:cNvPr id="164" name="α − α ⇝ 0"/>
            <p:cNvSpPr txBox="1"/>
            <p:nvPr/>
          </p:nvSpPr>
          <p:spPr>
            <a:xfrm>
              <a:off x="1146731" y="2790370"/>
              <a:ext cx="2944268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FF93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α − α ⇝ 0</a:t>
              </a:r>
            </a:p>
          </p:txBody>
        </p:sp>
        <p:sp>
          <p:nvSpPr>
            <p:cNvPr id="165" name="Input term: (a + 1) - 1"/>
            <p:cNvSpPr txBox="1"/>
            <p:nvPr/>
          </p:nvSpPr>
          <p:spPr>
            <a:xfrm>
              <a:off x="0" y="0"/>
              <a:ext cx="4716403" cy="2092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pc="-200" sz="6000"/>
              </a:lvl1pPr>
            </a:lstStyle>
            <a:p>
              <a:pPr/>
              <a:r>
                <a:t>Rules:</a:t>
              </a:r>
            </a:p>
          </p:txBody>
        </p:sp>
        <p:sp>
          <p:nvSpPr>
            <p:cNvPr id="166" name="α + 0 ⇝ α"/>
            <p:cNvSpPr txBox="1"/>
            <p:nvPr/>
          </p:nvSpPr>
          <p:spPr>
            <a:xfrm>
              <a:off x="1146731" y="4244292"/>
              <a:ext cx="2944268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4F8F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α + 0 ⇝ α</a:t>
              </a:r>
            </a:p>
          </p:txBody>
        </p:sp>
      </p:grpSp>
      <p:sp>
        <p:nvSpPr>
          <p:cNvPr id="168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E-Graphs Explore a Big Space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lide Number"/>
          <p:cNvSpPr txBox="1"/>
          <p:nvPr>
            <p:ph type="sldNum" sz="quarter" idx="4294967295"/>
          </p:nvPr>
        </p:nvSpPr>
        <p:spPr>
          <a:xfrm>
            <a:off x="24003050" y="13271498"/>
            <a:ext cx="241403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77" name="+"/>
          <p:cNvGrpSpPr/>
          <p:nvPr/>
        </p:nvGrpSpPr>
        <p:grpSpPr>
          <a:xfrm>
            <a:off x="10241650" y="8588271"/>
            <a:ext cx="1270002" cy="1270002"/>
            <a:chOff x="0" y="0"/>
            <a:chExt cx="1270000" cy="1270000"/>
          </a:xfrm>
        </p:grpSpPr>
        <p:sp>
          <p:nvSpPr>
            <p:cNvPr id="175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76" name="+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+</a:t>
              </a:r>
            </a:p>
          </p:txBody>
        </p:sp>
      </p:grpSp>
      <p:grpSp>
        <p:nvGrpSpPr>
          <p:cNvPr id="180" name="a"/>
          <p:cNvGrpSpPr/>
          <p:nvPr/>
        </p:nvGrpSpPr>
        <p:grpSpPr>
          <a:xfrm>
            <a:off x="10241650" y="11016387"/>
            <a:ext cx="1270002" cy="1270002"/>
            <a:chOff x="0" y="0"/>
            <a:chExt cx="1270000" cy="1270000"/>
          </a:xfrm>
        </p:grpSpPr>
        <p:sp>
          <p:nvSpPr>
            <p:cNvPr id="178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79" name="a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83" name="1"/>
          <p:cNvGrpSpPr/>
          <p:nvPr/>
        </p:nvGrpSpPr>
        <p:grpSpPr>
          <a:xfrm>
            <a:off x="13078023" y="11016387"/>
            <a:ext cx="1270002" cy="1270002"/>
            <a:chOff x="0" y="0"/>
            <a:chExt cx="1270000" cy="1270000"/>
          </a:xfrm>
        </p:grpSpPr>
        <p:sp>
          <p:nvSpPr>
            <p:cNvPr id="181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82" name="1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86" name="−"/>
          <p:cNvGrpSpPr/>
          <p:nvPr/>
        </p:nvGrpSpPr>
        <p:grpSpPr>
          <a:xfrm>
            <a:off x="10241650" y="6160153"/>
            <a:ext cx="1270002" cy="1270002"/>
            <a:chOff x="0" y="0"/>
            <a:chExt cx="1270000" cy="1270000"/>
          </a:xfrm>
        </p:grpSpPr>
        <p:sp>
          <p:nvSpPr>
            <p:cNvPr id="184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85" name="−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−</a:t>
              </a:r>
            </a:p>
          </p:txBody>
        </p:sp>
      </p:grpSp>
      <p:sp>
        <p:nvSpPr>
          <p:cNvPr id="209" name="Connection Line"/>
          <p:cNvSpPr/>
          <p:nvPr/>
        </p:nvSpPr>
        <p:spPr>
          <a:xfrm>
            <a:off x="11250593" y="7435391"/>
            <a:ext cx="2088488" cy="3575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210" name="Connection Line"/>
          <p:cNvSpPr/>
          <p:nvPr/>
        </p:nvSpPr>
        <p:spPr>
          <a:xfrm>
            <a:off x="10876651" y="7455553"/>
            <a:ext cx="1" cy="1107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4400"/>
                  <a:pt x="0" y="7200"/>
                  <a:pt x="2160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211" name="Connection Line"/>
          <p:cNvSpPr/>
          <p:nvPr/>
        </p:nvSpPr>
        <p:spPr>
          <a:xfrm>
            <a:off x="10876651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4400"/>
                  <a:pt x="0" y="7200"/>
                  <a:pt x="2160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212" name="Connection Line"/>
          <p:cNvSpPr/>
          <p:nvPr/>
        </p:nvSpPr>
        <p:spPr>
          <a:xfrm>
            <a:off x="11454232" y="9717718"/>
            <a:ext cx="1681210" cy="14392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grpSp>
        <p:nvGrpSpPr>
          <p:cNvPr id="193" name="+"/>
          <p:cNvGrpSpPr/>
          <p:nvPr/>
        </p:nvGrpSpPr>
        <p:grpSpPr>
          <a:xfrm>
            <a:off x="13078023" y="6160153"/>
            <a:ext cx="1270002" cy="1270002"/>
            <a:chOff x="0" y="0"/>
            <a:chExt cx="1270000" cy="1270000"/>
          </a:xfrm>
        </p:grpSpPr>
        <p:sp>
          <p:nvSpPr>
            <p:cNvPr id="191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92" name="+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+</a:t>
              </a:r>
            </a:p>
          </p:txBody>
        </p:sp>
      </p:grpSp>
      <p:grpSp>
        <p:nvGrpSpPr>
          <p:cNvPr id="196" name="−"/>
          <p:cNvGrpSpPr/>
          <p:nvPr/>
        </p:nvGrpSpPr>
        <p:grpSpPr>
          <a:xfrm>
            <a:off x="13078023" y="8588271"/>
            <a:ext cx="1270002" cy="1270002"/>
            <a:chOff x="0" y="0"/>
            <a:chExt cx="1270000" cy="1270000"/>
          </a:xfrm>
        </p:grpSpPr>
        <p:sp>
          <p:nvSpPr>
            <p:cNvPr id="194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95" name="−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−</a:t>
              </a:r>
            </a:p>
          </p:txBody>
        </p:sp>
      </p:grpSp>
      <p:sp>
        <p:nvSpPr>
          <p:cNvPr id="213" name="Connection Line"/>
          <p:cNvSpPr/>
          <p:nvPr/>
        </p:nvSpPr>
        <p:spPr>
          <a:xfrm>
            <a:off x="13713023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0" h="21600" fill="norm" stroke="1" extrusionOk="0">
                <a:moveTo>
                  <a:pt x="0" y="21600"/>
                </a:moveTo>
                <a:cubicBezTo>
                  <a:pt x="0" y="14400"/>
                  <a:pt x="0" y="7200"/>
                  <a:pt x="0" y="0"/>
                </a:cubicBezTo>
              </a:path>
            </a:pathLst>
          </a:custGeom>
          <a:ln w="50800">
            <a:solidFill>
              <a:srgbClr val="0433FF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214" name="Connection Line"/>
          <p:cNvSpPr/>
          <p:nvPr/>
        </p:nvSpPr>
        <p:spPr>
          <a:xfrm>
            <a:off x="13713023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0" h="21600" fill="norm" stroke="1" extrusionOk="0">
                <a:moveTo>
                  <a:pt x="0" y="21600"/>
                </a:moveTo>
                <a:cubicBezTo>
                  <a:pt x="0" y="14400"/>
                  <a:pt x="0" y="7200"/>
                  <a:pt x="0" y="0"/>
                </a:cubicBezTo>
              </a:path>
            </a:pathLst>
          </a:custGeom>
          <a:ln w="50800">
            <a:solidFill>
              <a:srgbClr val="0433FF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215" name="Connection Line"/>
          <p:cNvSpPr/>
          <p:nvPr/>
        </p:nvSpPr>
        <p:spPr>
          <a:xfrm>
            <a:off x="11250594" y="7435391"/>
            <a:ext cx="2088488" cy="3575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50800">
            <a:solidFill>
              <a:srgbClr val="0433FF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16" name="Connection Line"/>
          <p:cNvSpPr/>
          <p:nvPr/>
        </p:nvSpPr>
        <p:spPr>
          <a:xfrm>
            <a:off x="13713023" y="7455553"/>
            <a:ext cx="1" cy="1107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21600" y="7200"/>
                  <a:pt x="21600" y="14400"/>
                  <a:pt x="0" y="21600"/>
                </a:cubicBezTo>
              </a:path>
            </a:pathLst>
          </a:custGeom>
          <a:ln w="50800">
            <a:solidFill>
              <a:srgbClr val="0433FF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17" name="Connection Line"/>
          <p:cNvSpPr/>
          <p:nvPr/>
        </p:nvSpPr>
        <p:spPr>
          <a:xfrm>
            <a:off x="11537050" y="6795154"/>
            <a:ext cx="1515574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cubicBezTo>
                  <a:pt x="14400" y="0"/>
                  <a:pt x="7200" y="0"/>
                  <a:pt x="0" y="21600"/>
                </a:cubicBezTo>
              </a:path>
            </a:pathLst>
          </a:custGeom>
          <a:ln w="76200">
            <a:solidFill>
              <a:srgbClr val="0433FF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202" name="Input term: (a + 1) - 1"/>
          <p:cNvSpPr txBox="1"/>
          <p:nvPr/>
        </p:nvSpPr>
        <p:spPr>
          <a:xfrm>
            <a:off x="1206500" y="3165600"/>
            <a:ext cx="4716403" cy="289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Input term:</a:t>
            </a: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  (a + 1) - 1</a:t>
            </a:r>
          </a:p>
        </p:txBody>
      </p:sp>
      <p:grpSp>
        <p:nvGrpSpPr>
          <p:cNvPr id="207" name="Group"/>
          <p:cNvGrpSpPr/>
          <p:nvPr/>
        </p:nvGrpSpPr>
        <p:grpSpPr>
          <a:xfrm>
            <a:off x="14866049" y="3212469"/>
            <a:ext cx="8500603" cy="5234894"/>
            <a:chOff x="0" y="0"/>
            <a:chExt cx="8500602" cy="5234892"/>
          </a:xfrm>
        </p:grpSpPr>
        <p:sp>
          <p:nvSpPr>
            <p:cNvPr id="203" name="(α + β) − γ ⇝ α + (β − γ)"/>
            <p:cNvSpPr txBox="1"/>
            <p:nvPr/>
          </p:nvSpPr>
          <p:spPr>
            <a:xfrm>
              <a:off x="1041262" y="1336448"/>
              <a:ext cx="745934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0433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(α + β) − γ ⇝ α + (β − γ)</a:t>
              </a:r>
            </a:p>
          </p:txBody>
        </p:sp>
        <p:sp>
          <p:nvSpPr>
            <p:cNvPr id="204" name="α − α ⇝ 0"/>
            <p:cNvSpPr txBox="1"/>
            <p:nvPr/>
          </p:nvSpPr>
          <p:spPr>
            <a:xfrm>
              <a:off x="1146731" y="2790370"/>
              <a:ext cx="2944268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FF93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α − α ⇝ 0</a:t>
              </a:r>
            </a:p>
          </p:txBody>
        </p:sp>
        <p:sp>
          <p:nvSpPr>
            <p:cNvPr id="205" name="Input term: (a + 1) - 1"/>
            <p:cNvSpPr txBox="1"/>
            <p:nvPr/>
          </p:nvSpPr>
          <p:spPr>
            <a:xfrm>
              <a:off x="0" y="0"/>
              <a:ext cx="4716403" cy="2092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pc="-200" sz="6000"/>
              </a:lvl1pPr>
            </a:lstStyle>
            <a:p>
              <a:pPr/>
              <a:r>
                <a:t>Rules:</a:t>
              </a:r>
            </a:p>
          </p:txBody>
        </p:sp>
        <p:sp>
          <p:nvSpPr>
            <p:cNvPr id="206" name="α + 0 ⇝ α"/>
            <p:cNvSpPr txBox="1"/>
            <p:nvPr/>
          </p:nvSpPr>
          <p:spPr>
            <a:xfrm>
              <a:off x="1146731" y="4244292"/>
              <a:ext cx="2944268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4F8F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α + 0 ⇝ α</a:t>
              </a:r>
            </a:p>
          </p:txBody>
        </p:sp>
      </p:grpSp>
      <p:sp>
        <p:nvSpPr>
          <p:cNvPr id="208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E-Graphs Explore a Big Space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lide Number"/>
          <p:cNvSpPr txBox="1"/>
          <p:nvPr>
            <p:ph type="sldNum" sz="quarter" idx="4294967295"/>
          </p:nvPr>
        </p:nvSpPr>
        <p:spPr>
          <a:xfrm>
            <a:off x="24003050" y="13271498"/>
            <a:ext cx="241403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222" name="+"/>
          <p:cNvGrpSpPr/>
          <p:nvPr/>
        </p:nvGrpSpPr>
        <p:grpSpPr>
          <a:xfrm>
            <a:off x="10241650" y="8588271"/>
            <a:ext cx="1270002" cy="1270002"/>
            <a:chOff x="0" y="0"/>
            <a:chExt cx="1270000" cy="1270000"/>
          </a:xfrm>
        </p:grpSpPr>
        <p:sp>
          <p:nvSpPr>
            <p:cNvPr id="220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21" name="+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+</a:t>
              </a:r>
            </a:p>
          </p:txBody>
        </p:sp>
      </p:grpSp>
      <p:grpSp>
        <p:nvGrpSpPr>
          <p:cNvPr id="225" name="a"/>
          <p:cNvGrpSpPr/>
          <p:nvPr/>
        </p:nvGrpSpPr>
        <p:grpSpPr>
          <a:xfrm>
            <a:off x="10241650" y="11016387"/>
            <a:ext cx="1270002" cy="1270002"/>
            <a:chOff x="0" y="0"/>
            <a:chExt cx="1270000" cy="1270000"/>
          </a:xfrm>
        </p:grpSpPr>
        <p:sp>
          <p:nvSpPr>
            <p:cNvPr id="223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24" name="a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228" name="1"/>
          <p:cNvGrpSpPr/>
          <p:nvPr/>
        </p:nvGrpSpPr>
        <p:grpSpPr>
          <a:xfrm>
            <a:off x="13078023" y="11016387"/>
            <a:ext cx="1270002" cy="1270002"/>
            <a:chOff x="0" y="0"/>
            <a:chExt cx="1270000" cy="1270000"/>
          </a:xfrm>
        </p:grpSpPr>
        <p:sp>
          <p:nvSpPr>
            <p:cNvPr id="226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27" name="1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231" name="−"/>
          <p:cNvGrpSpPr/>
          <p:nvPr/>
        </p:nvGrpSpPr>
        <p:grpSpPr>
          <a:xfrm>
            <a:off x="10241650" y="6160153"/>
            <a:ext cx="1270002" cy="1270002"/>
            <a:chOff x="0" y="0"/>
            <a:chExt cx="1270000" cy="1270000"/>
          </a:xfrm>
        </p:grpSpPr>
        <p:sp>
          <p:nvSpPr>
            <p:cNvPr id="229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30" name="−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−</a:t>
              </a:r>
            </a:p>
          </p:txBody>
        </p:sp>
      </p:grpSp>
      <p:sp>
        <p:nvSpPr>
          <p:cNvPr id="258" name="Connection Line"/>
          <p:cNvSpPr/>
          <p:nvPr/>
        </p:nvSpPr>
        <p:spPr>
          <a:xfrm>
            <a:off x="11250593" y="7435391"/>
            <a:ext cx="2088488" cy="3575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259" name="Connection Line"/>
          <p:cNvSpPr/>
          <p:nvPr/>
        </p:nvSpPr>
        <p:spPr>
          <a:xfrm>
            <a:off x="10876651" y="7455553"/>
            <a:ext cx="1" cy="1107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4400"/>
                  <a:pt x="0" y="7200"/>
                  <a:pt x="2160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260" name="Connection Line"/>
          <p:cNvSpPr/>
          <p:nvPr/>
        </p:nvSpPr>
        <p:spPr>
          <a:xfrm>
            <a:off x="10876651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4400"/>
                  <a:pt x="0" y="7200"/>
                  <a:pt x="2160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261" name="Connection Line"/>
          <p:cNvSpPr/>
          <p:nvPr/>
        </p:nvSpPr>
        <p:spPr>
          <a:xfrm>
            <a:off x="11454232" y="9717718"/>
            <a:ext cx="1681210" cy="14392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grpSp>
        <p:nvGrpSpPr>
          <p:cNvPr id="238" name="+"/>
          <p:cNvGrpSpPr/>
          <p:nvPr/>
        </p:nvGrpSpPr>
        <p:grpSpPr>
          <a:xfrm>
            <a:off x="13078023" y="6160153"/>
            <a:ext cx="1270002" cy="1270002"/>
            <a:chOff x="0" y="0"/>
            <a:chExt cx="1270000" cy="1270000"/>
          </a:xfrm>
        </p:grpSpPr>
        <p:sp>
          <p:nvSpPr>
            <p:cNvPr id="236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37" name="+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+</a:t>
              </a:r>
            </a:p>
          </p:txBody>
        </p:sp>
      </p:grpSp>
      <p:grpSp>
        <p:nvGrpSpPr>
          <p:cNvPr id="241" name="−"/>
          <p:cNvGrpSpPr/>
          <p:nvPr/>
        </p:nvGrpSpPr>
        <p:grpSpPr>
          <a:xfrm>
            <a:off x="13078023" y="8588271"/>
            <a:ext cx="1270002" cy="1270002"/>
            <a:chOff x="0" y="0"/>
            <a:chExt cx="1270000" cy="1270000"/>
          </a:xfrm>
        </p:grpSpPr>
        <p:sp>
          <p:nvSpPr>
            <p:cNvPr id="239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40" name="−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−</a:t>
              </a:r>
            </a:p>
          </p:txBody>
        </p:sp>
      </p:grpSp>
      <p:sp>
        <p:nvSpPr>
          <p:cNvPr id="262" name="Connection Line"/>
          <p:cNvSpPr/>
          <p:nvPr/>
        </p:nvSpPr>
        <p:spPr>
          <a:xfrm>
            <a:off x="13713023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0" h="21600" fill="norm" stroke="1" extrusionOk="0">
                <a:moveTo>
                  <a:pt x="0" y="21600"/>
                </a:moveTo>
                <a:cubicBezTo>
                  <a:pt x="0" y="14400"/>
                  <a:pt x="0" y="7200"/>
                  <a:pt x="0" y="0"/>
                </a:cubicBezTo>
              </a:path>
            </a:pathLst>
          </a:custGeom>
          <a:ln w="50800">
            <a:solidFill>
              <a:srgbClr val="0433FF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263" name="Connection Line"/>
          <p:cNvSpPr/>
          <p:nvPr/>
        </p:nvSpPr>
        <p:spPr>
          <a:xfrm>
            <a:off x="13713023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0" h="21600" fill="norm" stroke="1" extrusionOk="0">
                <a:moveTo>
                  <a:pt x="0" y="21600"/>
                </a:moveTo>
                <a:cubicBezTo>
                  <a:pt x="0" y="14400"/>
                  <a:pt x="0" y="7200"/>
                  <a:pt x="0" y="0"/>
                </a:cubicBezTo>
              </a:path>
            </a:pathLst>
          </a:custGeom>
          <a:ln w="50800">
            <a:solidFill>
              <a:srgbClr val="0433FF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264" name="Connection Line"/>
          <p:cNvSpPr/>
          <p:nvPr/>
        </p:nvSpPr>
        <p:spPr>
          <a:xfrm>
            <a:off x="11250594" y="7435391"/>
            <a:ext cx="2088488" cy="3575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50800">
            <a:solidFill>
              <a:srgbClr val="0433FF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65" name="Connection Line"/>
          <p:cNvSpPr/>
          <p:nvPr/>
        </p:nvSpPr>
        <p:spPr>
          <a:xfrm>
            <a:off x="13713023" y="7455553"/>
            <a:ext cx="1" cy="1107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21600" y="7200"/>
                  <a:pt x="21600" y="14400"/>
                  <a:pt x="0" y="21600"/>
                </a:cubicBezTo>
              </a:path>
            </a:pathLst>
          </a:custGeom>
          <a:ln w="50800">
            <a:solidFill>
              <a:srgbClr val="0433FF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66" name="Connection Line"/>
          <p:cNvSpPr/>
          <p:nvPr/>
        </p:nvSpPr>
        <p:spPr>
          <a:xfrm>
            <a:off x="11537050" y="6795154"/>
            <a:ext cx="1515574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cubicBezTo>
                  <a:pt x="14400" y="0"/>
                  <a:pt x="7200" y="0"/>
                  <a:pt x="0" y="21600"/>
                </a:cubicBezTo>
              </a:path>
            </a:pathLst>
          </a:custGeom>
          <a:ln w="76200">
            <a:solidFill>
              <a:srgbClr val="0433FF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249" name="0"/>
          <p:cNvGrpSpPr/>
          <p:nvPr/>
        </p:nvGrpSpPr>
        <p:grpSpPr>
          <a:xfrm>
            <a:off x="15124661" y="8588271"/>
            <a:ext cx="1270002" cy="1270002"/>
            <a:chOff x="0" y="0"/>
            <a:chExt cx="1270000" cy="1270000"/>
          </a:xfrm>
        </p:grpSpPr>
        <p:sp>
          <p:nvSpPr>
            <p:cNvPr id="247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FF93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48" name="0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0</a:t>
              </a:r>
            </a:p>
          </p:txBody>
        </p:sp>
      </p:grpSp>
      <p:sp>
        <p:nvSpPr>
          <p:cNvPr id="267" name="Connection Line"/>
          <p:cNvSpPr/>
          <p:nvPr/>
        </p:nvSpPr>
        <p:spPr>
          <a:xfrm>
            <a:off x="14373423" y="9223271"/>
            <a:ext cx="72583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76200">
            <a:solidFill>
              <a:srgbClr val="FF9300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251" name="Input term: (a + 1) - 1"/>
          <p:cNvSpPr txBox="1"/>
          <p:nvPr/>
        </p:nvSpPr>
        <p:spPr>
          <a:xfrm>
            <a:off x="1206500" y="3165600"/>
            <a:ext cx="4716403" cy="289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Input term:</a:t>
            </a: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  (a + 1) - 1</a:t>
            </a:r>
          </a:p>
        </p:txBody>
      </p:sp>
      <p:grpSp>
        <p:nvGrpSpPr>
          <p:cNvPr id="256" name="Group"/>
          <p:cNvGrpSpPr/>
          <p:nvPr/>
        </p:nvGrpSpPr>
        <p:grpSpPr>
          <a:xfrm>
            <a:off x="14866049" y="3212469"/>
            <a:ext cx="8500603" cy="5234894"/>
            <a:chOff x="0" y="0"/>
            <a:chExt cx="8500602" cy="5234892"/>
          </a:xfrm>
        </p:grpSpPr>
        <p:sp>
          <p:nvSpPr>
            <p:cNvPr id="252" name="(α + β) − γ ⇝ α + (β − γ)"/>
            <p:cNvSpPr txBox="1"/>
            <p:nvPr/>
          </p:nvSpPr>
          <p:spPr>
            <a:xfrm>
              <a:off x="1041262" y="1336448"/>
              <a:ext cx="745934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0433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(α + β) − γ ⇝ α + (β − γ)</a:t>
              </a:r>
            </a:p>
          </p:txBody>
        </p:sp>
        <p:sp>
          <p:nvSpPr>
            <p:cNvPr id="253" name="α − α ⇝ 0"/>
            <p:cNvSpPr txBox="1"/>
            <p:nvPr/>
          </p:nvSpPr>
          <p:spPr>
            <a:xfrm>
              <a:off x="1146731" y="2790370"/>
              <a:ext cx="2944268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FF93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α − α ⇝ 0</a:t>
              </a:r>
            </a:p>
          </p:txBody>
        </p:sp>
        <p:sp>
          <p:nvSpPr>
            <p:cNvPr id="254" name="Input term: (a + 1) - 1"/>
            <p:cNvSpPr txBox="1"/>
            <p:nvPr/>
          </p:nvSpPr>
          <p:spPr>
            <a:xfrm>
              <a:off x="0" y="0"/>
              <a:ext cx="4716403" cy="2092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pc="-200" sz="6000"/>
              </a:lvl1pPr>
            </a:lstStyle>
            <a:p>
              <a:pPr/>
              <a:r>
                <a:t>Rules:</a:t>
              </a:r>
            </a:p>
          </p:txBody>
        </p:sp>
        <p:sp>
          <p:nvSpPr>
            <p:cNvPr id="255" name="α + 0 ⇝ α"/>
            <p:cNvSpPr txBox="1"/>
            <p:nvPr/>
          </p:nvSpPr>
          <p:spPr>
            <a:xfrm>
              <a:off x="1146731" y="4244292"/>
              <a:ext cx="2944268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4F8F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α + 0 ⇝ α</a:t>
              </a:r>
            </a:p>
          </p:txBody>
        </p:sp>
      </p:grpSp>
      <p:sp>
        <p:nvSpPr>
          <p:cNvPr id="257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E-Graphs Explore a Big Space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lide Number"/>
          <p:cNvSpPr txBox="1"/>
          <p:nvPr>
            <p:ph type="sldNum" sz="quarter" idx="4294967295"/>
          </p:nvPr>
        </p:nvSpPr>
        <p:spPr>
          <a:xfrm>
            <a:off x="24003050" y="13271498"/>
            <a:ext cx="241403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272" name="+"/>
          <p:cNvGrpSpPr/>
          <p:nvPr/>
        </p:nvGrpSpPr>
        <p:grpSpPr>
          <a:xfrm>
            <a:off x="10241650" y="8588271"/>
            <a:ext cx="1270002" cy="1270002"/>
            <a:chOff x="0" y="0"/>
            <a:chExt cx="1270000" cy="1270000"/>
          </a:xfrm>
        </p:grpSpPr>
        <p:sp>
          <p:nvSpPr>
            <p:cNvPr id="270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71" name="+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+</a:t>
              </a:r>
            </a:p>
          </p:txBody>
        </p:sp>
      </p:grpSp>
      <p:grpSp>
        <p:nvGrpSpPr>
          <p:cNvPr id="275" name="a"/>
          <p:cNvGrpSpPr/>
          <p:nvPr/>
        </p:nvGrpSpPr>
        <p:grpSpPr>
          <a:xfrm>
            <a:off x="10241650" y="11016387"/>
            <a:ext cx="1270002" cy="1270002"/>
            <a:chOff x="0" y="0"/>
            <a:chExt cx="1270000" cy="1270000"/>
          </a:xfrm>
        </p:grpSpPr>
        <p:sp>
          <p:nvSpPr>
            <p:cNvPr id="273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74" name="a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278" name="1"/>
          <p:cNvGrpSpPr/>
          <p:nvPr/>
        </p:nvGrpSpPr>
        <p:grpSpPr>
          <a:xfrm>
            <a:off x="13078023" y="11016387"/>
            <a:ext cx="1270002" cy="1270002"/>
            <a:chOff x="0" y="0"/>
            <a:chExt cx="1270000" cy="1270000"/>
          </a:xfrm>
        </p:grpSpPr>
        <p:sp>
          <p:nvSpPr>
            <p:cNvPr id="276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77" name="1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281" name="−"/>
          <p:cNvGrpSpPr/>
          <p:nvPr/>
        </p:nvGrpSpPr>
        <p:grpSpPr>
          <a:xfrm>
            <a:off x="10241650" y="6160153"/>
            <a:ext cx="1270002" cy="1270002"/>
            <a:chOff x="0" y="0"/>
            <a:chExt cx="1270000" cy="1270000"/>
          </a:xfrm>
        </p:grpSpPr>
        <p:sp>
          <p:nvSpPr>
            <p:cNvPr id="279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80" name="−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−</a:t>
              </a:r>
            </a:p>
          </p:txBody>
        </p:sp>
      </p:grpSp>
      <p:sp>
        <p:nvSpPr>
          <p:cNvPr id="309" name="Connection Line"/>
          <p:cNvSpPr/>
          <p:nvPr/>
        </p:nvSpPr>
        <p:spPr>
          <a:xfrm>
            <a:off x="11250593" y="7435391"/>
            <a:ext cx="2088488" cy="3575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310" name="Connection Line"/>
          <p:cNvSpPr/>
          <p:nvPr/>
        </p:nvSpPr>
        <p:spPr>
          <a:xfrm>
            <a:off x="10876651" y="7455553"/>
            <a:ext cx="1" cy="1107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4400"/>
                  <a:pt x="0" y="7200"/>
                  <a:pt x="2160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311" name="Connection Line"/>
          <p:cNvSpPr/>
          <p:nvPr/>
        </p:nvSpPr>
        <p:spPr>
          <a:xfrm>
            <a:off x="10876651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4400"/>
                  <a:pt x="0" y="7200"/>
                  <a:pt x="2160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312" name="Connection Line"/>
          <p:cNvSpPr/>
          <p:nvPr/>
        </p:nvSpPr>
        <p:spPr>
          <a:xfrm>
            <a:off x="11454232" y="9717718"/>
            <a:ext cx="1681210" cy="14392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grpSp>
        <p:nvGrpSpPr>
          <p:cNvPr id="288" name="+"/>
          <p:cNvGrpSpPr/>
          <p:nvPr/>
        </p:nvGrpSpPr>
        <p:grpSpPr>
          <a:xfrm>
            <a:off x="13078023" y="6160153"/>
            <a:ext cx="1270002" cy="1270002"/>
            <a:chOff x="0" y="0"/>
            <a:chExt cx="1270000" cy="1270000"/>
          </a:xfrm>
        </p:grpSpPr>
        <p:sp>
          <p:nvSpPr>
            <p:cNvPr id="286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87" name="+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+</a:t>
              </a:r>
            </a:p>
          </p:txBody>
        </p:sp>
      </p:grpSp>
      <p:grpSp>
        <p:nvGrpSpPr>
          <p:cNvPr id="291" name="−"/>
          <p:cNvGrpSpPr/>
          <p:nvPr/>
        </p:nvGrpSpPr>
        <p:grpSpPr>
          <a:xfrm>
            <a:off x="13078023" y="8588271"/>
            <a:ext cx="1270002" cy="1270002"/>
            <a:chOff x="0" y="0"/>
            <a:chExt cx="1270000" cy="1270000"/>
          </a:xfrm>
        </p:grpSpPr>
        <p:sp>
          <p:nvSpPr>
            <p:cNvPr id="289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90" name="−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−</a:t>
              </a:r>
            </a:p>
          </p:txBody>
        </p:sp>
      </p:grpSp>
      <p:sp>
        <p:nvSpPr>
          <p:cNvPr id="313" name="Connection Line"/>
          <p:cNvSpPr/>
          <p:nvPr/>
        </p:nvSpPr>
        <p:spPr>
          <a:xfrm>
            <a:off x="13713023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0" h="21600" fill="norm" stroke="1" extrusionOk="0">
                <a:moveTo>
                  <a:pt x="0" y="21600"/>
                </a:moveTo>
                <a:cubicBezTo>
                  <a:pt x="0" y="14400"/>
                  <a:pt x="0" y="7200"/>
                  <a:pt x="0" y="0"/>
                </a:cubicBezTo>
              </a:path>
            </a:pathLst>
          </a:custGeom>
          <a:ln w="50800">
            <a:solidFill>
              <a:srgbClr val="0433FF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314" name="Connection Line"/>
          <p:cNvSpPr/>
          <p:nvPr/>
        </p:nvSpPr>
        <p:spPr>
          <a:xfrm>
            <a:off x="13713023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0" h="21600" fill="norm" stroke="1" extrusionOk="0">
                <a:moveTo>
                  <a:pt x="0" y="21600"/>
                </a:moveTo>
                <a:cubicBezTo>
                  <a:pt x="0" y="14400"/>
                  <a:pt x="0" y="7200"/>
                  <a:pt x="0" y="0"/>
                </a:cubicBezTo>
              </a:path>
            </a:pathLst>
          </a:custGeom>
          <a:ln w="50800">
            <a:solidFill>
              <a:srgbClr val="0433FF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315" name="Connection Line"/>
          <p:cNvSpPr/>
          <p:nvPr/>
        </p:nvSpPr>
        <p:spPr>
          <a:xfrm>
            <a:off x="11250594" y="7435391"/>
            <a:ext cx="2088488" cy="3575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50800">
            <a:solidFill>
              <a:srgbClr val="0433FF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16" name="Connection Line"/>
          <p:cNvSpPr/>
          <p:nvPr/>
        </p:nvSpPr>
        <p:spPr>
          <a:xfrm>
            <a:off x="13713023" y="7455553"/>
            <a:ext cx="1" cy="1107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21600" y="7200"/>
                  <a:pt x="21600" y="14400"/>
                  <a:pt x="0" y="21600"/>
                </a:cubicBezTo>
              </a:path>
            </a:pathLst>
          </a:custGeom>
          <a:ln w="50800">
            <a:solidFill>
              <a:srgbClr val="0433FF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17" name="Connection Line"/>
          <p:cNvSpPr/>
          <p:nvPr/>
        </p:nvSpPr>
        <p:spPr>
          <a:xfrm>
            <a:off x="11537050" y="6795154"/>
            <a:ext cx="1515574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cubicBezTo>
                  <a:pt x="14400" y="0"/>
                  <a:pt x="7200" y="0"/>
                  <a:pt x="0" y="21600"/>
                </a:cubicBezTo>
              </a:path>
            </a:pathLst>
          </a:custGeom>
          <a:ln w="76200">
            <a:solidFill>
              <a:srgbClr val="0433FF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299" name="0"/>
          <p:cNvGrpSpPr/>
          <p:nvPr/>
        </p:nvGrpSpPr>
        <p:grpSpPr>
          <a:xfrm>
            <a:off x="15124661" y="8588271"/>
            <a:ext cx="1270002" cy="1270002"/>
            <a:chOff x="0" y="0"/>
            <a:chExt cx="1270000" cy="1270000"/>
          </a:xfrm>
        </p:grpSpPr>
        <p:sp>
          <p:nvSpPr>
            <p:cNvPr id="297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FF93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98" name="0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0</a:t>
              </a:r>
            </a:p>
          </p:txBody>
        </p:sp>
      </p:grpSp>
      <p:sp>
        <p:nvSpPr>
          <p:cNvPr id="318" name="Connection Line"/>
          <p:cNvSpPr/>
          <p:nvPr/>
        </p:nvSpPr>
        <p:spPr>
          <a:xfrm>
            <a:off x="14373423" y="9223271"/>
            <a:ext cx="72583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76200">
            <a:solidFill>
              <a:srgbClr val="FF9300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19" name="Connection Line"/>
          <p:cNvSpPr/>
          <p:nvPr/>
        </p:nvSpPr>
        <p:spPr>
          <a:xfrm>
            <a:off x="11078831" y="7358093"/>
            <a:ext cx="2121342" cy="3632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4530" y="13899"/>
                  <a:pt x="11730" y="6699"/>
                  <a:pt x="21600" y="0"/>
                </a:cubicBezTo>
              </a:path>
            </a:pathLst>
          </a:custGeom>
          <a:ln w="76200">
            <a:solidFill>
              <a:srgbClr val="4F8F00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02" name="Input term: (a + 1) - 1"/>
          <p:cNvSpPr txBox="1"/>
          <p:nvPr/>
        </p:nvSpPr>
        <p:spPr>
          <a:xfrm>
            <a:off x="1206500" y="3165600"/>
            <a:ext cx="4716403" cy="289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Input term:</a:t>
            </a: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  (a + 1) - 1</a:t>
            </a:r>
          </a:p>
        </p:txBody>
      </p:sp>
      <p:grpSp>
        <p:nvGrpSpPr>
          <p:cNvPr id="307" name="Group"/>
          <p:cNvGrpSpPr/>
          <p:nvPr/>
        </p:nvGrpSpPr>
        <p:grpSpPr>
          <a:xfrm>
            <a:off x="14866049" y="3212469"/>
            <a:ext cx="8500603" cy="5234894"/>
            <a:chOff x="0" y="0"/>
            <a:chExt cx="8500602" cy="5234892"/>
          </a:xfrm>
        </p:grpSpPr>
        <p:sp>
          <p:nvSpPr>
            <p:cNvPr id="303" name="(α + β) − γ ⇝ α + (β − γ)"/>
            <p:cNvSpPr txBox="1"/>
            <p:nvPr/>
          </p:nvSpPr>
          <p:spPr>
            <a:xfrm>
              <a:off x="1041262" y="1336448"/>
              <a:ext cx="745934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0433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(α + β) − γ ⇝ α + (β − γ)</a:t>
              </a:r>
            </a:p>
          </p:txBody>
        </p:sp>
        <p:sp>
          <p:nvSpPr>
            <p:cNvPr id="304" name="α − α ⇝ 0"/>
            <p:cNvSpPr txBox="1"/>
            <p:nvPr/>
          </p:nvSpPr>
          <p:spPr>
            <a:xfrm>
              <a:off x="1146731" y="2790370"/>
              <a:ext cx="2944268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FF93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α − α ⇝ 0</a:t>
              </a:r>
            </a:p>
          </p:txBody>
        </p:sp>
        <p:sp>
          <p:nvSpPr>
            <p:cNvPr id="305" name="Input term: (a + 1) - 1"/>
            <p:cNvSpPr txBox="1"/>
            <p:nvPr/>
          </p:nvSpPr>
          <p:spPr>
            <a:xfrm>
              <a:off x="0" y="0"/>
              <a:ext cx="4716403" cy="2092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pc="-200" sz="6000"/>
              </a:lvl1pPr>
            </a:lstStyle>
            <a:p>
              <a:pPr/>
              <a:r>
                <a:t>Rules:</a:t>
              </a:r>
            </a:p>
          </p:txBody>
        </p:sp>
        <p:sp>
          <p:nvSpPr>
            <p:cNvPr id="306" name="α + 0 ⇝ α"/>
            <p:cNvSpPr txBox="1"/>
            <p:nvPr/>
          </p:nvSpPr>
          <p:spPr>
            <a:xfrm>
              <a:off x="1146731" y="4244292"/>
              <a:ext cx="2944268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4F8F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α + 0 ⇝ α</a:t>
              </a:r>
            </a:p>
          </p:txBody>
        </p:sp>
      </p:grpSp>
      <p:sp>
        <p:nvSpPr>
          <p:cNvPr id="308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E-Graphs Explore a Big Space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lide Number"/>
          <p:cNvSpPr txBox="1"/>
          <p:nvPr>
            <p:ph type="sldNum" sz="quarter" idx="4294967295"/>
          </p:nvPr>
        </p:nvSpPr>
        <p:spPr>
          <a:xfrm>
            <a:off x="24003050" y="13271498"/>
            <a:ext cx="241403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22" name="Shape"/>
          <p:cNvSpPr/>
          <p:nvPr/>
        </p:nvSpPr>
        <p:spPr>
          <a:xfrm>
            <a:off x="12939483" y="8320339"/>
            <a:ext cx="3821987" cy="17885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0" h="20239" fill="norm" stroke="1" extrusionOk="0">
                <a:moveTo>
                  <a:pt x="30" y="9560"/>
                </a:moveTo>
                <a:cubicBezTo>
                  <a:pt x="100" y="12968"/>
                  <a:pt x="23" y="16369"/>
                  <a:pt x="1256" y="18605"/>
                </a:cubicBezTo>
                <a:cubicBezTo>
                  <a:pt x="2488" y="20840"/>
                  <a:pt x="4215" y="20426"/>
                  <a:pt x="5891" y="19465"/>
                </a:cubicBezTo>
                <a:cubicBezTo>
                  <a:pt x="7265" y="18677"/>
                  <a:pt x="8719" y="17626"/>
                  <a:pt x="10192" y="17550"/>
                </a:cubicBezTo>
                <a:cubicBezTo>
                  <a:pt x="12232" y="17444"/>
                  <a:pt x="14240" y="19292"/>
                  <a:pt x="16150" y="19391"/>
                </a:cubicBezTo>
                <a:cubicBezTo>
                  <a:pt x="18623" y="19518"/>
                  <a:pt x="20717" y="16947"/>
                  <a:pt x="21155" y="12007"/>
                </a:cubicBezTo>
                <a:cubicBezTo>
                  <a:pt x="21506" y="8052"/>
                  <a:pt x="20580" y="4523"/>
                  <a:pt x="19141" y="2378"/>
                </a:cubicBezTo>
                <a:cubicBezTo>
                  <a:pt x="17156" y="-580"/>
                  <a:pt x="14452" y="-760"/>
                  <a:pt x="11937" y="1738"/>
                </a:cubicBezTo>
                <a:cubicBezTo>
                  <a:pt x="11230" y="2439"/>
                  <a:pt x="10558" y="3411"/>
                  <a:pt x="9769" y="3538"/>
                </a:cubicBezTo>
                <a:cubicBezTo>
                  <a:pt x="8817" y="3691"/>
                  <a:pt x="7951" y="2610"/>
                  <a:pt x="7049" y="1982"/>
                </a:cubicBezTo>
                <a:cubicBezTo>
                  <a:pt x="5679" y="1029"/>
                  <a:pt x="4247" y="1091"/>
                  <a:pt x="2842" y="1517"/>
                </a:cubicBezTo>
                <a:cubicBezTo>
                  <a:pt x="1927" y="1794"/>
                  <a:pt x="1042" y="2238"/>
                  <a:pt x="505" y="3647"/>
                </a:cubicBezTo>
                <a:cubicBezTo>
                  <a:pt x="-94" y="5220"/>
                  <a:pt x="-15" y="7409"/>
                  <a:pt x="30" y="9560"/>
                </a:cubicBezTo>
                <a:close/>
              </a:path>
            </a:pathLst>
          </a:custGeom>
          <a:solidFill>
            <a:srgbClr val="0076BA">
              <a:alpha val="40000"/>
            </a:srgbClr>
          </a:solidFill>
          <a:ln w="12700">
            <a:miter lim="400000"/>
          </a:ln>
        </p:spPr>
        <p:txBody>
          <a:bodyPr lIns="127000" tIns="127000" rIns="127000" bIns="127000" anchor="ctr"/>
          <a:lstStyle/>
          <a:p>
            <a:pPr/>
          </a:p>
        </p:txBody>
      </p:sp>
      <p:sp>
        <p:nvSpPr>
          <p:cNvPr id="323" name="Shape"/>
          <p:cNvSpPr/>
          <p:nvPr/>
        </p:nvSpPr>
        <p:spPr>
          <a:xfrm>
            <a:off x="9948553" y="5886184"/>
            <a:ext cx="4673484" cy="6655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1" h="21147" fill="norm" stroke="1" extrusionOk="0">
                <a:moveTo>
                  <a:pt x="1897" y="196"/>
                </a:moveTo>
                <a:cubicBezTo>
                  <a:pt x="3336" y="-282"/>
                  <a:pt x="4709" y="236"/>
                  <a:pt x="6155" y="481"/>
                </a:cubicBezTo>
                <a:cubicBezTo>
                  <a:pt x="6884" y="605"/>
                  <a:pt x="7647" y="652"/>
                  <a:pt x="8380" y="751"/>
                </a:cubicBezTo>
                <a:cubicBezTo>
                  <a:pt x="9135" y="853"/>
                  <a:pt x="9858" y="1007"/>
                  <a:pt x="10575" y="1115"/>
                </a:cubicBezTo>
                <a:cubicBezTo>
                  <a:pt x="11465" y="1249"/>
                  <a:pt x="12411" y="1336"/>
                  <a:pt x="13337" y="1153"/>
                </a:cubicBezTo>
                <a:cubicBezTo>
                  <a:pt x="14189" y="984"/>
                  <a:pt x="14929" y="587"/>
                  <a:pt x="15761" y="398"/>
                </a:cubicBezTo>
                <a:cubicBezTo>
                  <a:pt x="16611" y="204"/>
                  <a:pt x="17463" y="208"/>
                  <a:pt x="18256" y="301"/>
                </a:cubicBezTo>
                <a:cubicBezTo>
                  <a:pt x="19039" y="392"/>
                  <a:pt x="19830" y="578"/>
                  <a:pt x="20511" y="1046"/>
                </a:cubicBezTo>
                <a:cubicBezTo>
                  <a:pt x="21355" y="1628"/>
                  <a:pt x="21563" y="2431"/>
                  <a:pt x="21400" y="3196"/>
                </a:cubicBezTo>
                <a:cubicBezTo>
                  <a:pt x="21231" y="3986"/>
                  <a:pt x="20673" y="4792"/>
                  <a:pt x="19596" y="5279"/>
                </a:cubicBezTo>
                <a:cubicBezTo>
                  <a:pt x="18734" y="5668"/>
                  <a:pt x="17667" y="5755"/>
                  <a:pt x="16731" y="6057"/>
                </a:cubicBezTo>
                <a:cubicBezTo>
                  <a:pt x="15503" y="6453"/>
                  <a:pt x="14591" y="7173"/>
                  <a:pt x="13870" y="7953"/>
                </a:cubicBezTo>
                <a:cubicBezTo>
                  <a:pt x="12906" y="8995"/>
                  <a:pt x="12203" y="10178"/>
                  <a:pt x="11414" y="11327"/>
                </a:cubicBezTo>
                <a:cubicBezTo>
                  <a:pt x="10870" y="12120"/>
                  <a:pt x="10279" y="12897"/>
                  <a:pt x="9558" y="13608"/>
                </a:cubicBezTo>
                <a:cubicBezTo>
                  <a:pt x="8707" y="14447"/>
                  <a:pt x="7632" y="15256"/>
                  <a:pt x="7572" y="16263"/>
                </a:cubicBezTo>
                <a:cubicBezTo>
                  <a:pt x="7537" y="16873"/>
                  <a:pt x="7881" y="17451"/>
                  <a:pt x="8040" y="18050"/>
                </a:cubicBezTo>
                <a:cubicBezTo>
                  <a:pt x="8237" y="18790"/>
                  <a:pt x="8157" y="19537"/>
                  <a:pt x="7561" y="20109"/>
                </a:cubicBezTo>
                <a:cubicBezTo>
                  <a:pt x="7004" y="20644"/>
                  <a:pt x="6076" y="20940"/>
                  <a:pt x="5058" y="21072"/>
                </a:cubicBezTo>
                <a:cubicBezTo>
                  <a:pt x="3154" y="21318"/>
                  <a:pt x="1245" y="20975"/>
                  <a:pt x="410" y="19876"/>
                </a:cubicBezTo>
                <a:cubicBezTo>
                  <a:pt x="24" y="19368"/>
                  <a:pt x="-22" y="18777"/>
                  <a:pt x="7" y="18198"/>
                </a:cubicBezTo>
                <a:cubicBezTo>
                  <a:pt x="36" y="17621"/>
                  <a:pt x="128" y="17011"/>
                  <a:pt x="580" y="16463"/>
                </a:cubicBezTo>
                <a:cubicBezTo>
                  <a:pt x="1273" y="15622"/>
                  <a:pt x="2563" y="15165"/>
                  <a:pt x="3744" y="14653"/>
                </a:cubicBezTo>
                <a:cubicBezTo>
                  <a:pt x="4936" y="14136"/>
                  <a:pt x="6056" y="13531"/>
                  <a:pt x="6859" y="12730"/>
                </a:cubicBezTo>
                <a:cubicBezTo>
                  <a:pt x="7671" y="11917"/>
                  <a:pt x="8205" y="11006"/>
                  <a:pt x="8786" y="10107"/>
                </a:cubicBezTo>
                <a:cubicBezTo>
                  <a:pt x="9676" y="8730"/>
                  <a:pt x="10242" y="6974"/>
                  <a:pt x="11999" y="6156"/>
                </a:cubicBezTo>
                <a:cubicBezTo>
                  <a:pt x="12608" y="5872"/>
                  <a:pt x="13280" y="5659"/>
                  <a:pt x="13632" y="5289"/>
                </a:cubicBezTo>
                <a:cubicBezTo>
                  <a:pt x="14021" y="4879"/>
                  <a:pt x="13994" y="4383"/>
                  <a:pt x="13461" y="3932"/>
                </a:cubicBezTo>
                <a:cubicBezTo>
                  <a:pt x="12555" y="3165"/>
                  <a:pt x="10957" y="3388"/>
                  <a:pt x="9549" y="3825"/>
                </a:cubicBezTo>
                <a:cubicBezTo>
                  <a:pt x="9054" y="3979"/>
                  <a:pt x="8547" y="4138"/>
                  <a:pt x="8075" y="4325"/>
                </a:cubicBezTo>
                <a:cubicBezTo>
                  <a:pt x="6983" y="4758"/>
                  <a:pt x="6087" y="5468"/>
                  <a:pt x="4855" y="5666"/>
                </a:cubicBezTo>
                <a:cubicBezTo>
                  <a:pt x="3978" y="5807"/>
                  <a:pt x="3062" y="5672"/>
                  <a:pt x="2270" y="5371"/>
                </a:cubicBezTo>
                <a:cubicBezTo>
                  <a:pt x="1563" y="5102"/>
                  <a:pt x="980" y="4723"/>
                  <a:pt x="586" y="4232"/>
                </a:cubicBezTo>
                <a:cubicBezTo>
                  <a:pt x="-10" y="3487"/>
                  <a:pt x="-37" y="2631"/>
                  <a:pt x="184" y="1899"/>
                </a:cubicBezTo>
                <a:cubicBezTo>
                  <a:pt x="401" y="1184"/>
                  <a:pt x="903" y="527"/>
                  <a:pt x="1897" y="196"/>
                </a:cubicBezTo>
                <a:close/>
              </a:path>
            </a:pathLst>
          </a:custGeom>
          <a:solidFill>
            <a:srgbClr val="D31876">
              <a:alpha val="40000"/>
            </a:srgbClr>
          </a:solidFill>
          <a:ln w="12700">
            <a:miter lim="400000"/>
          </a:ln>
        </p:spPr>
        <p:txBody>
          <a:bodyPr lIns="127000" tIns="127000" rIns="127000" bIns="127000" anchor="ctr"/>
          <a:lstStyle/>
          <a:p>
            <a:pPr/>
          </a:p>
        </p:txBody>
      </p:sp>
      <p:grpSp>
        <p:nvGrpSpPr>
          <p:cNvPr id="326" name="+"/>
          <p:cNvGrpSpPr/>
          <p:nvPr/>
        </p:nvGrpSpPr>
        <p:grpSpPr>
          <a:xfrm>
            <a:off x="10244845" y="8588271"/>
            <a:ext cx="1270002" cy="1270002"/>
            <a:chOff x="0" y="0"/>
            <a:chExt cx="1270000" cy="1270000"/>
          </a:xfrm>
        </p:grpSpPr>
        <p:sp>
          <p:nvSpPr>
            <p:cNvPr id="324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25" name="+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+</a:t>
              </a:r>
            </a:p>
          </p:txBody>
        </p:sp>
      </p:grpSp>
      <p:grpSp>
        <p:nvGrpSpPr>
          <p:cNvPr id="329" name="a"/>
          <p:cNvGrpSpPr/>
          <p:nvPr/>
        </p:nvGrpSpPr>
        <p:grpSpPr>
          <a:xfrm>
            <a:off x="10244845" y="11016387"/>
            <a:ext cx="1270002" cy="1270002"/>
            <a:chOff x="0" y="0"/>
            <a:chExt cx="1270000" cy="1270000"/>
          </a:xfrm>
        </p:grpSpPr>
        <p:sp>
          <p:nvSpPr>
            <p:cNvPr id="327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28" name="a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332" name="1"/>
          <p:cNvGrpSpPr/>
          <p:nvPr/>
        </p:nvGrpSpPr>
        <p:grpSpPr>
          <a:xfrm>
            <a:off x="13081218" y="11016387"/>
            <a:ext cx="1270002" cy="1270002"/>
            <a:chOff x="0" y="0"/>
            <a:chExt cx="1270000" cy="1270000"/>
          </a:xfrm>
        </p:grpSpPr>
        <p:sp>
          <p:nvSpPr>
            <p:cNvPr id="330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31" name="1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35" name="−"/>
          <p:cNvGrpSpPr/>
          <p:nvPr/>
        </p:nvGrpSpPr>
        <p:grpSpPr>
          <a:xfrm>
            <a:off x="10244845" y="6160153"/>
            <a:ext cx="1270002" cy="1270002"/>
            <a:chOff x="0" y="0"/>
            <a:chExt cx="1270000" cy="1270000"/>
          </a:xfrm>
        </p:grpSpPr>
        <p:sp>
          <p:nvSpPr>
            <p:cNvPr id="333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34" name="−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−</a:t>
              </a:r>
            </a:p>
          </p:txBody>
        </p:sp>
      </p:grpSp>
      <p:sp>
        <p:nvSpPr>
          <p:cNvPr id="363" name="Connection Line"/>
          <p:cNvSpPr/>
          <p:nvPr/>
        </p:nvSpPr>
        <p:spPr>
          <a:xfrm>
            <a:off x="11253788" y="7435391"/>
            <a:ext cx="2088489" cy="3575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364" name="Connection Line"/>
          <p:cNvSpPr/>
          <p:nvPr/>
        </p:nvSpPr>
        <p:spPr>
          <a:xfrm>
            <a:off x="10879846" y="7455553"/>
            <a:ext cx="1" cy="1107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4400"/>
                  <a:pt x="0" y="7200"/>
                  <a:pt x="2160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365" name="Connection Line"/>
          <p:cNvSpPr/>
          <p:nvPr/>
        </p:nvSpPr>
        <p:spPr>
          <a:xfrm>
            <a:off x="10879846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4400"/>
                  <a:pt x="0" y="7200"/>
                  <a:pt x="2160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366" name="Connection Line"/>
          <p:cNvSpPr/>
          <p:nvPr/>
        </p:nvSpPr>
        <p:spPr>
          <a:xfrm>
            <a:off x="11457427" y="9717718"/>
            <a:ext cx="1681210" cy="14392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grpSp>
        <p:nvGrpSpPr>
          <p:cNvPr id="342" name="+"/>
          <p:cNvGrpSpPr/>
          <p:nvPr/>
        </p:nvGrpSpPr>
        <p:grpSpPr>
          <a:xfrm>
            <a:off x="13081218" y="6160153"/>
            <a:ext cx="1270002" cy="1270002"/>
            <a:chOff x="0" y="0"/>
            <a:chExt cx="1270000" cy="1270000"/>
          </a:xfrm>
        </p:grpSpPr>
        <p:sp>
          <p:nvSpPr>
            <p:cNvPr id="340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41" name="+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+</a:t>
              </a:r>
            </a:p>
          </p:txBody>
        </p:sp>
      </p:grpSp>
      <p:grpSp>
        <p:nvGrpSpPr>
          <p:cNvPr id="345" name="−"/>
          <p:cNvGrpSpPr/>
          <p:nvPr/>
        </p:nvGrpSpPr>
        <p:grpSpPr>
          <a:xfrm>
            <a:off x="13081218" y="8588271"/>
            <a:ext cx="1270002" cy="1270002"/>
            <a:chOff x="0" y="0"/>
            <a:chExt cx="1270000" cy="1270000"/>
          </a:xfrm>
        </p:grpSpPr>
        <p:sp>
          <p:nvSpPr>
            <p:cNvPr id="343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44" name="−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−</a:t>
              </a:r>
            </a:p>
          </p:txBody>
        </p:sp>
      </p:grpSp>
      <p:sp>
        <p:nvSpPr>
          <p:cNvPr id="367" name="Connection Line"/>
          <p:cNvSpPr/>
          <p:nvPr/>
        </p:nvSpPr>
        <p:spPr>
          <a:xfrm>
            <a:off x="13716219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0" h="21600" fill="norm" stroke="1" extrusionOk="0">
                <a:moveTo>
                  <a:pt x="0" y="21600"/>
                </a:moveTo>
                <a:cubicBezTo>
                  <a:pt x="0" y="14400"/>
                  <a:pt x="0" y="7200"/>
                  <a:pt x="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368" name="Connection Line"/>
          <p:cNvSpPr/>
          <p:nvPr/>
        </p:nvSpPr>
        <p:spPr>
          <a:xfrm>
            <a:off x="13716219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0" h="21600" fill="norm" stroke="1" extrusionOk="0">
                <a:moveTo>
                  <a:pt x="0" y="21600"/>
                </a:moveTo>
                <a:cubicBezTo>
                  <a:pt x="0" y="14400"/>
                  <a:pt x="0" y="7200"/>
                  <a:pt x="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369" name="Connection Line"/>
          <p:cNvSpPr/>
          <p:nvPr/>
        </p:nvSpPr>
        <p:spPr>
          <a:xfrm>
            <a:off x="11253789" y="7435391"/>
            <a:ext cx="2088488" cy="3575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508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70" name="Connection Line"/>
          <p:cNvSpPr/>
          <p:nvPr/>
        </p:nvSpPr>
        <p:spPr>
          <a:xfrm>
            <a:off x="13716219" y="7455553"/>
            <a:ext cx="1" cy="1107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0" h="21600" fill="norm" stroke="1" extrusionOk="0">
                <a:moveTo>
                  <a:pt x="0" y="0"/>
                </a:moveTo>
                <a:cubicBezTo>
                  <a:pt x="0" y="7200"/>
                  <a:pt x="-21600" y="14400"/>
                  <a:pt x="0" y="2160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71" name="Connection Line"/>
          <p:cNvSpPr/>
          <p:nvPr/>
        </p:nvSpPr>
        <p:spPr>
          <a:xfrm>
            <a:off x="11540245" y="6795154"/>
            <a:ext cx="1515574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21600" y="0"/>
                </a:moveTo>
                <a:cubicBezTo>
                  <a:pt x="14400" y="0"/>
                  <a:pt x="7200" y="0"/>
                  <a:pt x="0" y="0"/>
                </a:cubicBezTo>
              </a:path>
            </a:pathLst>
          </a:cu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353" name="0"/>
          <p:cNvGrpSpPr/>
          <p:nvPr/>
        </p:nvGrpSpPr>
        <p:grpSpPr>
          <a:xfrm>
            <a:off x="15127858" y="8588271"/>
            <a:ext cx="1270001" cy="1270002"/>
            <a:chOff x="0" y="0"/>
            <a:chExt cx="1270000" cy="1270000"/>
          </a:xfrm>
        </p:grpSpPr>
        <p:sp>
          <p:nvSpPr>
            <p:cNvPr id="351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52" name="0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0</a:t>
              </a:r>
            </a:p>
          </p:txBody>
        </p:sp>
      </p:grpSp>
      <p:sp>
        <p:nvSpPr>
          <p:cNvPr id="372" name="Connection Line"/>
          <p:cNvSpPr/>
          <p:nvPr/>
        </p:nvSpPr>
        <p:spPr>
          <a:xfrm>
            <a:off x="14376618" y="9223271"/>
            <a:ext cx="725841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73" name="Connection Line"/>
          <p:cNvSpPr/>
          <p:nvPr/>
        </p:nvSpPr>
        <p:spPr>
          <a:xfrm>
            <a:off x="11104855" y="7360309"/>
            <a:ext cx="2101169" cy="36306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5165" y="13518"/>
                  <a:pt x="12365" y="6318"/>
                  <a:pt x="21600" y="0"/>
                </a:cubicBezTo>
              </a:path>
            </a:pathLst>
          </a:cu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56" name="Input term: (a + 1) - 1"/>
          <p:cNvSpPr txBox="1"/>
          <p:nvPr/>
        </p:nvSpPr>
        <p:spPr>
          <a:xfrm>
            <a:off x="1206500" y="3165600"/>
            <a:ext cx="4716403" cy="289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Input term:</a:t>
            </a: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  (a + 1) - 1</a:t>
            </a:r>
          </a:p>
        </p:txBody>
      </p:sp>
      <p:grpSp>
        <p:nvGrpSpPr>
          <p:cNvPr id="361" name="Group"/>
          <p:cNvGrpSpPr/>
          <p:nvPr/>
        </p:nvGrpSpPr>
        <p:grpSpPr>
          <a:xfrm>
            <a:off x="14866049" y="3212469"/>
            <a:ext cx="8500603" cy="5234894"/>
            <a:chOff x="0" y="0"/>
            <a:chExt cx="8500602" cy="5234892"/>
          </a:xfrm>
        </p:grpSpPr>
        <p:sp>
          <p:nvSpPr>
            <p:cNvPr id="357" name="(α + β) − γ ⇝ α + (β − γ)"/>
            <p:cNvSpPr txBox="1"/>
            <p:nvPr/>
          </p:nvSpPr>
          <p:spPr>
            <a:xfrm>
              <a:off x="1041262" y="1336448"/>
              <a:ext cx="745934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0433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(α + β) − γ ⇝ α + (β − γ)</a:t>
              </a:r>
            </a:p>
          </p:txBody>
        </p:sp>
        <p:sp>
          <p:nvSpPr>
            <p:cNvPr id="358" name="α − α ⇝ 0"/>
            <p:cNvSpPr txBox="1"/>
            <p:nvPr/>
          </p:nvSpPr>
          <p:spPr>
            <a:xfrm>
              <a:off x="1146731" y="2790370"/>
              <a:ext cx="2944268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FF93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α − α ⇝ 0</a:t>
              </a:r>
            </a:p>
          </p:txBody>
        </p:sp>
        <p:sp>
          <p:nvSpPr>
            <p:cNvPr id="359" name="Input term: (a + 1) - 1"/>
            <p:cNvSpPr txBox="1"/>
            <p:nvPr/>
          </p:nvSpPr>
          <p:spPr>
            <a:xfrm>
              <a:off x="0" y="0"/>
              <a:ext cx="4716403" cy="2092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pc="-200" sz="6000"/>
              </a:lvl1pPr>
            </a:lstStyle>
            <a:p>
              <a:pPr/>
              <a:r>
                <a:t>Rules:</a:t>
              </a:r>
            </a:p>
          </p:txBody>
        </p:sp>
        <p:sp>
          <p:nvSpPr>
            <p:cNvPr id="360" name="α + 0 ⇝ α"/>
            <p:cNvSpPr txBox="1"/>
            <p:nvPr/>
          </p:nvSpPr>
          <p:spPr>
            <a:xfrm>
              <a:off x="1146731" y="4244292"/>
              <a:ext cx="2944268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4F8F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α + 0 ⇝ α</a:t>
              </a:r>
            </a:p>
          </p:txBody>
        </p:sp>
      </p:grpSp>
      <p:sp>
        <p:nvSpPr>
          <p:cNvPr id="362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E-Graphs Explore a Big Space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E-Graphs Explore a Big Space</a:t>
            </a:r>
          </a:p>
        </p:txBody>
      </p:sp>
      <p:sp>
        <p:nvSpPr>
          <p:cNvPr id="376" name="Slide Number"/>
          <p:cNvSpPr txBox="1"/>
          <p:nvPr>
            <p:ph type="sldNum" sz="quarter" idx="4294967295"/>
          </p:nvPr>
        </p:nvSpPr>
        <p:spPr>
          <a:xfrm>
            <a:off x="23939500" y="132714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77" name="Shape"/>
          <p:cNvSpPr/>
          <p:nvPr/>
        </p:nvSpPr>
        <p:spPr>
          <a:xfrm>
            <a:off x="12939483" y="8320339"/>
            <a:ext cx="3821987" cy="17885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0" h="20239" fill="norm" stroke="1" extrusionOk="0">
                <a:moveTo>
                  <a:pt x="30" y="9560"/>
                </a:moveTo>
                <a:cubicBezTo>
                  <a:pt x="100" y="12968"/>
                  <a:pt x="23" y="16369"/>
                  <a:pt x="1256" y="18605"/>
                </a:cubicBezTo>
                <a:cubicBezTo>
                  <a:pt x="2488" y="20840"/>
                  <a:pt x="4215" y="20426"/>
                  <a:pt x="5891" y="19465"/>
                </a:cubicBezTo>
                <a:cubicBezTo>
                  <a:pt x="7265" y="18677"/>
                  <a:pt x="8719" y="17626"/>
                  <a:pt x="10192" y="17550"/>
                </a:cubicBezTo>
                <a:cubicBezTo>
                  <a:pt x="12232" y="17444"/>
                  <a:pt x="14240" y="19292"/>
                  <a:pt x="16150" y="19391"/>
                </a:cubicBezTo>
                <a:cubicBezTo>
                  <a:pt x="18623" y="19518"/>
                  <a:pt x="20717" y="16947"/>
                  <a:pt x="21155" y="12007"/>
                </a:cubicBezTo>
                <a:cubicBezTo>
                  <a:pt x="21506" y="8052"/>
                  <a:pt x="20580" y="4523"/>
                  <a:pt x="19141" y="2378"/>
                </a:cubicBezTo>
                <a:cubicBezTo>
                  <a:pt x="17156" y="-580"/>
                  <a:pt x="14452" y="-760"/>
                  <a:pt x="11937" y="1738"/>
                </a:cubicBezTo>
                <a:cubicBezTo>
                  <a:pt x="11230" y="2439"/>
                  <a:pt x="10558" y="3411"/>
                  <a:pt x="9769" y="3538"/>
                </a:cubicBezTo>
                <a:cubicBezTo>
                  <a:pt x="8817" y="3691"/>
                  <a:pt x="7951" y="2610"/>
                  <a:pt x="7049" y="1982"/>
                </a:cubicBezTo>
                <a:cubicBezTo>
                  <a:pt x="5679" y="1029"/>
                  <a:pt x="4247" y="1091"/>
                  <a:pt x="2842" y="1517"/>
                </a:cubicBezTo>
                <a:cubicBezTo>
                  <a:pt x="1927" y="1794"/>
                  <a:pt x="1042" y="2238"/>
                  <a:pt x="505" y="3647"/>
                </a:cubicBezTo>
                <a:cubicBezTo>
                  <a:pt x="-94" y="5220"/>
                  <a:pt x="-15" y="7409"/>
                  <a:pt x="30" y="9560"/>
                </a:cubicBezTo>
                <a:close/>
              </a:path>
            </a:pathLst>
          </a:custGeom>
          <a:solidFill>
            <a:srgbClr val="0076BA">
              <a:alpha val="40000"/>
            </a:srgbClr>
          </a:solidFill>
          <a:ln w="12700">
            <a:miter lim="400000"/>
          </a:ln>
        </p:spPr>
        <p:txBody>
          <a:bodyPr lIns="127000" tIns="127000" rIns="127000" bIns="127000" anchor="ctr"/>
          <a:lstStyle/>
          <a:p>
            <a:pPr/>
          </a:p>
        </p:txBody>
      </p:sp>
      <p:sp>
        <p:nvSpPr>
          <p:cNvPr id="378" name="Shape"/>
          <p:cNvSpPr/>
          <p:nvPr/>
        </p:nvSpPr>
        <p:spPr>
          <a:xfrm>
            <a:off x="9948553" y="5886184"/>
            <a:ext cx="4673484" cy="6655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1" h="21147" fill="norm" stroke="1" extrusionOk="0">
                <a:moveTo>
                  <a:pt x="1897" y="196"/>
                </a:moveTo>
                <a:cubicBezTo>
                  <a:pt x="3336" y="-282"/>
                  <a:pt x="4709" y="236"/>
                  <a:pt x="6155" y="481"/>
                </a:cubicBezTo>
                <a:cubicBezTo>
                  <a:pt x="6884" y="605"/>
                  <a:pt x="7647" y="652"/>
                  <a:pt x="8380" y="751"/>
                </a:cubicBezTo>
                <a:cubicBezTo>
                  <a:pt x="9135" y="853"/>
                  <a:pt x="9858" y="1007"/>
                  <a:pt x="10575" y="1115"/>
                </a:cubicBezTo>
                <a:cubicBezTo>
                  <a:pt x="11465" y="1249"/>
                  <a:pt x="12411" y="1336"/>
                  <a:pt x="13337" y="1153"/>
                </a:cubicBezTo>
                <a:cubicBezTo>
                  <a:pt x="14189" y="984"/>
                  <a:pt x="14929" y="587"/>
                  <a:pt x="15761" y="398"/>
                </a:cubicBezTo>
                <a:cubicBezTo>
                  <a:pt x="16611" y="204"/>
                  <a:pt x="17463" y="208"/>
                  <a:pt x="18256" y="301"/>
                </a:cubicBezTo>
                <a:cubicBezTo>
                  <a:pt x="19039" y="392"/>
                  <a:pt x="19830" y="578"/>
                  <a:pt x="20511" y="1046"/>
                </a:cubicBezTo>
                <a:cubicBezTo>
                  <a:pt x="21355" y="1628"/>
                  <a:pt x="21563" y="2431"/>
                  <a:pt x="21400" y="3196"/>
                </a:cubicBezTo>
                <a:cubicBezTo>
                  <a:pt x="21231" y="3986"/>
                  <a:pt x="20673" y="4792"/>
                  <a:pt x="19596" y="5279"/>
                </a:cubicBezTo>
                <a:cubicBezTo>
                  <a:pt x="18734" y="5668"/>
                  <a:pt x="17667" y="5755"/>
                  <a:pt x="16731" y="6057"/>
                </a:cubicBezTo>
                <a:cubicBezTo>
                  <a:pt x="15503" y="6453"/>
                  <a:pt x="14591" y="7173"/>
                  <a:pt x="13870" y="7953"/>
                </a:cubicBezTo>
                <a:cubicBezTo>
                  <a:pt x="12906" y="8995"/>
                  <a:pt x="12203" y="10178"/>
                  <a:pt x="11414" y="11327"/>
                </a:cubicBezTo>
                <a:cubicBezTo>
                  <a:pt x="10870" y="12120"/>
                  <a:pt x="10279" y="12897"/>
                  <a:pt x="9558" y="13608"/>
                </a:cubicBezTo>
                <a:cubicBezTo>
                  <a:pt x="8707" y="14447"/>
                  <a:pt x="7632" y="15256"/>
                  <a:pt x="7572" y="16263"/>
                </a:cubicBezTo>
                <a:cubicBezTo>
                  <a:pt x="7537" y="16873"/>
                  <a:pt x="7881" y="17451"/>
                  <a:pt x="8040" y="18050"/>
                </a:cubicBezTo>
                <a:cubicBezTo>
                  <a:pt x="8237" y="18790"/>
                  <a:pt x="8157" y="19537"/>
                  <a:pt x="7561" y="20109"/>
                </a:cubicBezTo>
                <a:cubicBezTo>
                  <a:pt x="7004" y="20644"/>
                  <a:pt x="6076" y="20940"/>
                  <a:pt x="5058" y="21072"/>
                </a:cubicBezTo>
                <a:cubicBezTo>
                  <a:pt x="3154" y="21318"/>
                  <a:pt x="1245" y="20975"/>
                  <a:pt x="410" y="19876"/>
                </a:cubicBezTo>
                <a:cubicBezTo>
                  <a:pt x="24" y="19368"/>
                  <a:pt x="-22" y="18777"/>
                  <a:pt x="7" y="18198"/>
                </a:cubicBezTo>
                <a:cubicBezTo>
                  <a:pt x="36" y="17621"/>
                  <a:pt x="128" y="17011"/>
                  <a:pt x="580" y="16463"/>
                </a:cubicBezTo>
                <a:cubicBezTo>
                  <a:pt x="1273" y="15622"/>
                  <a:pt x="2563" y="15165"/>
                  <a:pt x="3744" y="14653"/>
                </a:cubicBezTo>
                <a:cubicBezTo>
                  <a:pt x="4936" y="14136"/>
                  <a:pt x="6056" y="13531"/>
                  <a:pt x="6859" y="12730"/>
                </a:cubicBezTo>
                <a:cubicBezTo>
                  <a:pt x="7671" y="11917"/>
                  <a:pt x="8205" y="11006"/>
                  <a:pt x="8786" y="10107"/>
                </a:cubicBezTo>
                <a:cubicBezTo>
                  <a:pt x="9676" y="8730"/>
                  <a:pt x="10242" y="6974"/>
                  <a:pt x="11999" y="6156"/>
                </a:cubicBezTo>
                <a:cubicBezTo>
                  <a:pt x="12608" y="5872"/>
                  <a:pt x="13280" y="5659"/>
                  <a:pt x="13632" y="5289"/>
                </a:cubicBezTo>
                <a:cubicBezTo>
                  <a:pt x="14021" y="4879"/>
                  <a:pt x="13994" y="4383"/>
                  <a:pt x="13461" y="3932"/>
                </a:cubicBezTo>
                <a:cubicBezTo>
                  <a:pt x="12555" y="3165"/>
                  <a:pt x="10957" y="3388"/>
                  <a:pt x="9549" y="3825"/>
                </a:cubicBezTo>
                <a:cubicBezTo>
                  <a:pt x="9054" y="3979"/>
                  <a:pt x="8547" y="4138"/>
                  <a:pt x="8075" y="4325"/>
                </a:cubicBezTo>
                <a:cubicBezTo>
                  <a:pt x="6983" y="4758"/>
                  <a:pt x="6087" y="5468"/>
                  <a:pt x="4855" y="5666"/>
                </a:cubicBezTo>
                <a:cubicBezTo>
                  <a:pt x="3978" y="5807"/>
                  <a:pt x="3062" y="5672"/>
                  <a:pt x="2270" y="5371"/>
                </a:cubicBezTo>
                <a:cubicBezTo>
                  <a:pt x="1563" y="5102"/>
                  <a:pt x="980" y="4723"/>
                  <a:pt x="586" y="4232"/>
                </a:cubicBezTo>
                <a:cubicBezTo>
                  <a:pt x="-10" y="3487"/>
                  <a:pt x="-37" y="2631"/>
                  <a:pt x="184" y="1899"/>
                </a:cubicBezTo>
                <a:cubicBezTo>
                  <a:pt x="401" y="1184"/>
                  <a:pt x="903" y="527"/>
                  <a:pt x="1897" y="196"/>
                </a:cubicBezTo>
                <a:close/>
              </a:path>
            </a:pathLst>
          </a:custGeom>
          <a:solidFill>
            <a:srgbClr val="D31876">
              <a:alpha val="40000"/>
            </a:srgbClr>
          </a:solidFill>
          <a:ln w="12700">
            <a:miter lim="400000"/>
          </a:ln>
        </p:spPr>
        <p:txBody>
          <a:bodyPr lIns="127000" tIns="127000" rIns="127000" bIns="127000" anchor="ctr"/>
          <a:lstStyle/>
          <a:p>
            <a:pPr/>
          </a:p>
        </p:txBody>
      </p:sp>
      <p:grpSp>
        <p:nvGrpSpPr>
          <p:cNvPr id="381" name="+"/>
          <p:cNvGrpSpPr/>
          <p:nvPr/>
        </p:nvGrpSpPr>
        <p:grpSpPr>
          <a:xfrm>
            <a:off x="10244845" y="8588271"/>
            <a:ext cx="1270002" cy="1270002"/>
            <a:chOff x="0" y="0"/>
            <a:chExt cx="1270000" cy="1270000"/>
          </a:xfrm>
        </p:grpSpPr>
        <p:sp>
          <p:nvSpPr>
            <p:cNvPr id="379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80" name="+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+</a:t>
              </a:r>
            </a:p>
          </p:txBody>
        </p:sp>
      </p:grpSp>
      <p:grpSp>
        <p:nvGrpSpPr>
          <p:cNvPr id="384" name="a"/>
          <p:cNvGrpSpPr/>
          <p:nvPr/>
        </p:nvGrpSpPr>
        <p:grpSpPr>
          <a:xfrm>
            <a:off x="10244845" y="11016387"/>
            <a:ext cx="1270002" cy="1270002"/>
            <a:chOff x="0" y="0"/>
            <a:chExt cx="1270000" cy="1270000"/>
          </a:xfrm>
        </p:grpSpPr>
        <p:sp>
          <p:nvSpPr>
            <p:cNvPr id="382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83" name="a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387" name="1"/>
          <p:cNvGrpSpPr/>
          <p:nvPr/>
        </p:nvGrpSpPr>
        <p:grpSpPr>
          <a:xfrm>
            <a:off x="13081218" y="11016387"/>
            <a:ext cx="1270002" cy="1270002"/>
            <a:chOff x="0" y="0"/>
            <a:chExt cx="1270000" cy="1270000"/>
          </a:xfrm>
        </p:grpSpPr>
        <p:sp>
          <p:nvSpPr>
            <p:cNvPr id="385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86" name="1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90" name="−"/>
          <p:cNvGrpSpPr/>
          <p:nvPr/>
        </p:nvGrpSpPr>
        <p:grpSpPr>
          <a:xfrm>
            <a:off x="10244845" y="6160153"/>
            <a:ext cx="1270002" cy="1270002"/>
            <a:chOff x="0" y="0"/>
            <a:chExt cx="1270000" cy="1270000"/>
          </a:xfrm>
        </p:grpSpPr>
        <p:sp>
          <p:nvSpPr>
            <p:cNvPr id="388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89" name="−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−</a:t>
              </a:r>
            </a:p>
          </p:txBody>
        </p:sp>
      </p:grpSp>
      <p:sp>
        <p:nvSpPr>
          <p:cNvPr id="419" name="Connection Line"/>
          <p:cNvSpPr/>
          <p:nvPr/>
        </p:nvSpPr>
        <p:spPr>
          <a:xfrm>
            <a:off x="11253788" y="7435391"/>
            <a:ext cx="2088489" cy="3575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420" name="Connection Line"/>
          <p:cNvSpPr/>
          <p:nvPr/>
        </p:nvSpPr>
        <p:spPr>
          <a:xfrm>
            <a:off x="10879846" y="7455553"/>
            <a:ext cx="1" cy="1107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4400"/>
                  <a:pt x="0" y="7200"/>
                  <a:pt x="2160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421" name="Connection Line"/>
          <p:cNvSpPr/>
          <p:nvPr/>
        </p:nvSpPr>
        <p:spPr>
          <a:xfrm>
            <a:off x="10879846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4400"/>
                  <a:pt x="0" y="7200"/>
                  <a:pt x="2160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422" name="Connection Line"/>
          <p:cNvSpPr/>
          <p:nvPr/>
        </p:nvSpPr>
        <p:spPr>
          <a:xfrm>
            <a:off x="11457427" y="9717718"/>
            <a:ext cx="1681210" cy="14392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grpSp>
        <p:nvGrpSpPr>
          <p:cNvPr id="397" name="+"/>
          <p:cNvGrpSpPr/>
          <p:nvPr/>
        </p:nvGrpSpPr>
        <p:grpSpPr>
          <a:xfrm>
            <a:off x="13081218" y="6160153"/>
            <a:ext cx="1270002" cy="1270002"/>
            <a:chOff x="0" y="0"/>
            <a:chExt cx="1270000" cy="1270000"/>
          </a:xfrm>
        </p:grpSpPr>
        <p:sp>
          <p:nvSpPr>
            <p:cNvPr id="395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96" name="+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+</a:t>
              </a:r>
            </a:p>
          </p:txBody>
        </p:sp>
      </p:grpSp>
      <p:grpSp>
        <p:nvGrpSpPr>
          <p:cNvPr id="400" name="−"/>
          <p:cNvGrpSpPr/>
          <p:nvPr/>
        </p:nvGrpSpPr>
        <p:grpSpPr>
          <a:xfrm>
            <a:off x="13081218" y="8588271"/>
            <a:ext cx="1270002" cy="1270002"/>
            <a:chOff x="0" y="0"/>
            <a:chExt cx="1270000" cy="1270000"/>
          </a:xfrm>
        </p:grpSpPr>
        <p:sp>
          <p:nvSpPr>
            <p:cNvPr id="398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99" name="−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−</a:t>
              </a:r>
            </a:p>
          </p:txBody>
        </p:sp>
      </p:grpSp>
      <p:sp>
        <p:nvSpPr>
          <p:cNvPr id="423" name="Connection Line"/>
          <p:cNvSpPr/>
          <p:nvPr/>
        </p:nvSpPr>
        <p:spPr>
          <a:xfrm>
            <a:off x="13716219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0" h="21600" fill="norm" stroke="1" extrusionOk="0">
                <a:moveTo>
                  <a:pt x="0" y="21600"/>
                </a:moveTo>
                <a:cubicBezTo>
                  <a:pt x="0" y="14400"/>
                  <a:pt x="0" y="7200"/>
                  <a:pt x="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424" name="Connection Line"/>
          <p:cNvSpPr/>
          <p:nvPr/>
        </p:nvSpPr>
        <p:spPr>
          <a:xfrm>
            <a:off x="13716219" y="9883671"/>
            <a:ext cx="1" cy="1107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0" h="21600" fill="norm" stroke="1" extrusionOk="0">
                <a:moveTo>
                  <a:pt x="0" y="21600"/>
                </a:moveTo>
                <a:cubicBezTo>
                  <a:pt x="0" y="14400"/>
                  <a:pt x="0" y="7200"/>
                  <a:pt x="0" y="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425" name="Connection Line"/>
          <p:cNvSpPr/>
          <p:nvPr/>
        </p:nvSpPr>
        <p:spPr>
          <a:xfrm>
            <a:off x="11253789" y="7435391"/>
            <a:ext cx="2088488" cy="3575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508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426" name="Connection Line"/>
          <p:cNvSpPr/>
          <p:nvPr/>
        </p:nvSpPr>
        <p:spPr>
          <a:xfrm>
            <a:off x="13716219" y="7455553"/>
            <a:ext cx="1" cy="1107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0" h="21600" fill="norm" stroke="1" extrusionOk="0">
                <a:moveTo>
                  <a:pt x="0" y="0"/>
                </a:moveTo>
                <a:cubicBezTo>
                  <a:pt x="0" y="7200"/>
                  <a:pt x="-21600" y="14400"/>
                  <a:pt x="0" y="21600"/>
                </a:cubicBezTo>
              </a:path>
            </a:pathLst>
          </a:custGeom>
          <a:ln w="508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427" name="Connection Line"/>
          <p:cNvSpPr/>
          <p:nvPr/>
        </p:nvSpPr>
        <p:spPr>
          <a:xfrm>
            <a:off x="11540245" y="6795154"/>
            <a:ext cx="1515574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21600" y="0"/>
                </a:moveTo>
                <a:cubicBezTo>
                  <a:pt x="14400" y="0"/>
                  <a:pt x="7200" y="0"/>
                  <a:pt x="0" y="0"/>
                </a:cubicBezTo>
              </a:path>
            </a:pathLst>
          </a:cu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408" name="0"/>
          <p:cNvGrpSpPr/>
          <p:nvPr/>
        </p:nvGrpSpPr>
        <p:grpSpPr>
          <a:xfrm>
            <a:off x="15127858" y="8588271"/>
            <a:ext cx="1270001" cy="1270002"/>
            <a:chOff x="0" y="0"/>
            <a:chExt cx="1270000" cy="1270000"/>
          </a:xfrm>
        </p:grpSpPr>
        <p:sp>
          <p:nvSpPr>
            <p:cNvPr id="406" name="Rounded Rectangle"/>
            <p:cNvSpPr/>
            <p:nvPr/>
          </p:nvSpPr>
          <p:spPr>
            <a:xfrm>
              <a:off x="0" y="0"/>
              <a:ext cx="1270001" cy="1270001"/>
            </a:xfrm>
            <a:prstGeom prst="roundRect">
              <a:avLst>
                <a:gd name="adj" fmla="val 30640"/>
              </a:avLst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75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07" name="0"/>
            <p:cNvSpPr txBox="1"/>
            <p:nvPr/>
          </p:nvSpPr>
          <p:spPr>
            <a:xfrm>
              <a:off x="139371" y="139371"/>
              <a:ext cx="991259" cy="99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rmAutofit fontScale="100000" lnSpcReduction="0"/>
            </a:bodyPr>
            <a:lstStyle>
              <a:lvl1pPr algn="ctr" defTabSz="2267654">
                <a:lnSpc>
                  <a:spcPct val="100000"/>
                </a:lnSpc>
                <a:spcBef>
                  <a:spcPts val="0"/>
                </a:spcBef>
                <a:defRPr sz="6975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0</a:t>
              </a:r>
            </a:p>
          </p:txBody>
        </p:sp>
      </p:grpSp>
      <p:sp>
        <p:nvSpPr>
          <p:cNvPr id="428" name="Connection Line"/>
          <p:cNvSpPr/>
          <p:nvPr/>
        </p:nvSpPr>
        <p:spPr>
          <a:xfrm>
            <a:off x="14376618" y="9223271"/>
            <a:ext cx="725841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429" name="Connection Line"/>
          <p:cNvSpPr/>
          <p:nvPr/>
        </p:nvSpPr>
        <p:spPr>
          <a:xfrm>
            <a:off x="11121283" y="7374098"/>
            <a:ext cx="2102313" cy="3616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5315" y="13753"/>
                  <a:pt x="12515" y="6553"/>
                  <a:pt x="21600" y="0"/>
                </a:cubicBezTo>
              </a:path>
            </a:pathLst>
          </a:cu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411" name="Extraction Problem"/>
          <p:cNvSpPr txBox="1"/>
          <p:nvPr/>
        </p:nvSpPr>
        <p:spPr>
          <a:xfrm>
            <a:off x="6722520" y="2723822"/>
            <a:ext cx="21971001" cy="1434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b="1" spc="-200" sz="6000"/>
            </a:pPr>
            <a:r>
              <a:t>extract</a:t>
            </a:r>
            <a:r>
              <a:rPr b="0"/>
              <a:t> a resulting term (todo turn into bubble)</a:t>
            </a:r>
          </a:p>
        </p:txBody>
      </p:sp>
      <p:sp>
        <p:nvSpPr>
          <p:cNvPr id="412" name="Shape"/>
          <p:cNvSpPr/>
          <p:nvPr/>
        </p:nvSpPr>
        <p:spPr>
          <a:xfrm rot="7371614">
            <a:off x="9962903" y="4036412"/>
            <a:ext cx="1936301" cy="1258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050" y="13991"/>
                </a:moveTo>
                <a:lnTo>
                  <a:pt x="16050" y="21600"/>
                </a:lnTo>
                <a:lnTo>
                  <a:pt x="21600" y="10800"/>
                </a:lnTo>
                <a:lnTo>
                  <a:pt x="16050" y="0"/>
                </a:lnTo>
                <a:lnTo>
                  <a:pt x="16050" y="7609"/>
                </a:lnTo>
                <a:lnTo>
                  <a:pt x="0" y="7609"/>
                </a:lnTo>
                <a:lnTo>
                  <a:pt x="0" y="13991"/>
                </a:lnTo>
                <a:lnTo>
                  <a:pt x="16050" y="13991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127000" tIns="127000" rIns="127000" bIns="127000" anchor="ctr"/>
          <a:lstStyle/>
          <a:p>
            <a:pPr>
              <a:lnSpc>
                <a:spcPct val="100000"/>
              </a:lnSpc>
              <a:spcBef>
                <a:spcPts val="0"/>
              </a:spcBef>
            </a:pPr>
          </a:p>
        </p:txBody>
      </p:sp>
      <p:sp>
        <p:nvSpPr>
          <p:cNvPr id="413" name="Input term: (a + 1) - 1"/>
          <p:cNvSpPr txBox="1"/>
          <p:nvPr/>
        </p:nvSpPr>
        <p:spPr>
          <a:xfrm>
            <a:off x="1206500" y="3165600"/>
            <a:ext cx="4716403" cy="289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Input term:</a:t>
            </a: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</a:p>
          <a:p>
            <a:pPr>
              <a:lnSpc>
                <a:spcPct val="80000"/>
              </a:lnSpc>
              <a:spcBef>
                <a:spcPts val="0"/>
              </a:spcBef>
              <a:defRPr spc="-200" sz="6000"/>
            </a:pPr>
            <a:r>
              <a:t>  (a + 1) - 1</a:t>
            </a:r>
          </a:p>
        </p:txBody>
      </p:sp>
      <p:grpSp>
        <p:nvGrpSpPr>
          <p:cNvPr id="418" name="Group"/>
          <p:cNvGrpSpPr/>
          <p:nvPr/>
        </p:nvGrpSpPr>
        <p:grpSpPr>
          <a:xfrm>
            <a:off x="14866049" y="3212469"/>
            <a:ext cx="8500603" cy="5234894"/>
            <a:chOff x="0" y="0"/>
            <a:chExt cx="8500602" cy="5234892"/>
          </a:xfrm>
        </p:grpSpPr>
        <p:sp>
          <p:nvSpPr>
            <p:cNvPr id="414" name="(α + β) − γ ⇝ α + (β − γ)"/>
            <p:cNvSpPr txBox="1"/>
            <p:nvPr/>
          </p:nvSpPr>
          <p:spPr>
            <a:xfrm>
              <a:off x="1041262" y="1336448"/>
              <a:ext cx="745934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0433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(α + β) − γ ⇝ α + (β − γ)</a:t>
              </a:r>
            </a:p>
          </p:txBody>
        </p:sp>
        <p:sp>
          <p:nvSpPr>
            <p:cNvPr id="415" name="α − α ⇝ 0"/>
            <p:cNvSpPr txBox="1"/>
            <p:nvPr/>
          </p:nvSpPr>
          <p:spPr>
            <a:xfrm>
              <a:off x="1146731" y="2790370"/>
              <a:ext cx="2944268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FF93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α − α ⇝ 0</a:t>
              </a:r>
            </a:p>
          </p:txBody>
        </p:sp>
        <p:sp>
          <p:nvSpPr>
            <p:cNvPr id="416" name="Input term: (a + 1) - 1"/>
            <p:cNvSpPr txBox="1"/>
            <p:nvPr/>
          </p:nvSpPr>
          <p:spPr>
            <a:xfrm>
              <a:off x="0" y="0"/>
              <a:ext cx="4716403" cy="2092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pc="-200" sz="6000"/>
              </a:lvl1pPr>
            </a:lstStyle>
            <a:p>
              <a:pPr/>
              <a:r>
                <a:t>Rules:</a:t>
              </a:r>
            </a:p>
          </p:txBody>
        </p:sp>
        <p:sp>
          <p:nvSpPr>
            <p:cNvPr id="417" name="α + 0 ⇝ α"/>
            <p:cNvSpPr txBox="1"/>
            <p:nvPr/>
          </p:nvSpPr>
          <p:spPr>
            <a:xfrm>
              <a:off x="1146731" y="4244292"/>
              <a:ext cx="2944268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4F8F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α + 0 ⇝ α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E-Graphs are Super Useful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E-Graphs are Super Useful!</a:t>
            </a:r>
          </a:p>
        </p:txBody>
      </p:sp>
      <p:sp>
        <p:nvSpPr>
          <p:cNvPr id="432" name="Slide Number"/>
          <p:cNvSpPr txBox="1"/>
          <p:nvPr>
            <p:ph type="sldNum" sz="quarter" idx="4294967295"/>
          </p:nvPr>
        </p:nvSpPr>
        <p:spPr>
          <a:xfrm>
            <a:off x="23944630" y="13270152"/>
            <a:ext cx="368504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435" name="Group"/>
          <p:cNvGrpSpPr/>
          <p:nvPr/>
        </p:nvGrpSpPr>
        <p:grpSpPr>
          <a:xfrm>
            <a:off x="8754160" y="2951103"/>
            <a:ext cx="5556810" cy="5059738"/>
            <a:chOff x="0" y="0"/>
            <a:chExt cx="5556808" cy="5059736"/>
          </a:xfrm>
        </p:grpSpPr>
        <p:pic>
          <p:nvPicPr>
            <p:cNvPr id="433" name="pasted-movie.png" descr="pasted-movi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92723" y="897971"/>
              <a:ext cx="4161765" cy="41617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34" name="Python Simulations"/>
            <p:cNvSpPr txBox="1"/>
            <p:nvPr/>
          </p:nvSpPr>
          <p:spPr>
            <a:xfrm>
              <a:off x="-1" y="-1"/>
              <a:ext cx="5556810" cy="8205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Python Simulations</a:t>
              </a:r>
            </a:p>
          </p:txBody>
        </p:sp>
      </p:grpSp>
      <p:grpSp>
        <p:nvGrpSpPr>
          <p:cNvPr id="439" name="Group"/>
          <p:cNvGrpSpPr/>
          <p:nvPr/>
        </p:nvGrpSpPr>
        <p:grpSpPr>
          <a:xfrm>
            <a:off x="6115049" y="7966249"/>
            <a:ext cx="7131983" cy="5578986"/>
            <a:chOff x="0" y="0"/>
            <a:chExt cx="7131981" cy="5578984"/>
          </a:xfrm>
        </p:grpSpPr>
        <p:pic>
          <p:nvPicPr>
            <p:cNvPr id="436" name="pasted-movie.png" descr="pasted-movi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383999"/>
              <a:ext cx="7131983" cy="50597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37" name="CAD"/>
            <p:cNvSpPr txBox="1"/>
            <p:nvPr/>
          </p:nvSpPr>
          <p:spPr>
            <a:xfrm>
              <a:off x="681694" y="-1"/>
              <a:ext cx="1401166" cy="8205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CAD</a:t>
              </a:r>
            </a:p>
          </p:txBody>
        </p:sp>
        <p:sp>
          <p:nvSpPr>
            <p:cNvPr id="438" name="(Szalinski)"/>
            <p:cNvSpPr txBox="1"/>
            <p:nvPr/>
          </p:nvSpPr>
          <p:spPr>
            <a:xfrm>
              <a:off x="327844" y="4758466"/>
              <a:ext cx="2926386" cy="8205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(Szalinski)</a:t>
              </a:r>
            </a:p>
          </p:txBody>
        </p:sp>
      </p:grpSp>
      <p:grpSp>
        <p:nvGrpSpPr>
          <p:cNvPr id="442" name="Group"/>
          <p:cNvGrpSpPr/>
          <p:nvPr/>
        </p:nvGrpSpPr>
        <p:grpSpPr>
          <a:xfrm>
            <a:off x="377087" y="7966249"/>
            <a:ext cx="3967143" cy="4387223"/>
            <a:chOff x="0" y="0"/>
            <a:chExt cx="3967141" cy="4387222"/>
          </a:xfrm>
        </p:grpSpPr>
        <p:pic>
          <p:nvPicPr>
            <p:cNvPr id="440" name="pasted-movie.png" descr="pasted-movi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456416" y="759472"/>
              <a:ext cx="3510726" cy="36277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1" name="SQL"/>
            <p:cNvSpPr txBox="1"/>
            <p:nvPr/>
          </p:nvSpPr>
          <p:spPr>
            <a:xfrm>
              <a:off x="0" y="-1"/>
              <a:ext cx="1322528" cy="8205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SQL</a:t>
              </a:r>
            </a:p>
          </p:txBody>
        </p:sp>
      </p:grpSp>
      <p:grpSp>
        <p:nvGrpSpPr>
          <p:cNvPr id="446" name="Group"/>
          <p:cNvGrpSpPr/>
          <p:nvPr/>
        </p:nvGrpSpPr>
        <p:grpSpPr>
          <a:xfrm>
            <a:off x="12711154" y="9105231"/>
            <a:ext cx="6746662" cy="5227405"/>
            <a:chOff x="0" y="0"/>
            <a:chExt cx="6746661" cy="5227403"/>
          </a:xfrm>
        </p:grpSpPr>
        <p:pic>
          <p:nvPicPr>
            <p:cNvPr id="443" name="pasted-movie.png" descr="pasted-movie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211290"/>
              <a:ext cx="6631479" cy="38045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4" name="WASM"/>
            <p:cNvSpPr txBox="1"/>
            <p:nvPr/>
          </p:nvSpPr>
          <p:spPr>
            <a:xfrm>
              <a:off x="274696" y="-1"/>
              <a:ext cx="2018082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WASM</a:t>
              </a:r>
            </a:p>
          </p:txBody>
        </p:sp>
        <p:sp>
          <p:nvSpPr>
            <p:cNvPr id="445" name="(Cranelift)"/>
            <p:cNvSpPr txBox="1"/>
            <p:nvPr/>
          </p:nvSpPr>
          <p:spPr>
            <a:xfrm>
              <a:off x="3922079" y="4406886"/>
              <a:ext cx="2824583" cy="8205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(Cranelift)</a:t>
              </a:r>
            </a:p>
          </p:txBody>
        </p:sp>
      </p:grpSp>
      <p:grpSp>
        <p:nvGrpSpPr>
          <p:cNvPr id="450" name="Group"/>
          <p:cNvGrpSpPr/>
          <p:nvPr/>
        </p:nvGrpSpPr>
        <p:grpSpPr>
          <a:xfrm>
            <a:off x="504018" y="2590115"/>
            <a:ext cx="7877242" cy="4678144"/>
            <a:chOff x="0" y="0"/>
            <a:chExt cx="7877240" cy="4678143"/>
          </a:xfrm>
        </p:grpSpPr>
        <p:pic>
          <p:nvPicPr>
            <p:cNvPr id="447" name="pasted-movie.png" descr="pasted-movie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589338"/>
              <a:ext cx="7877242" cy="35290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8" name="Floating point"/>
            <p:cNvSpPr txBox="1"/>
            <p:nvPr/>
          </p:nvSpPr>
          <p:spPr>
            <a:xfrm>
              <a:off x="349124" y="-1"/>
              <a:ext cx="3987700" cy="8205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Floating point</a:t>
              </a:r>
            </a:p>
          </p:txBody>
        </p:sp>
        <p:sp>
          <p:nvSpPr>
            <p:cNvPr id="449" name="(Herbie)"/>
            <p:cNvSpPr txBox="1"/>
            <p:nvPr/>
          </p:nvSpPr>
          <p:spPr>
            <a:xfrm>
              <a:off x="3879725" y="3857624"/>
              <a:ext cx="2305203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(Herbie)</a:t>
              </a:r>
            </a:p>
          </p:txBody>
        </p:sp>
      </p:grpSp>
      <p:grpSp>
        <p:nvGrpSpPr>
          <p:cNvPr id="454" name="Group"/>
          <p:cNvGrpSpPr/>
          <p:nvPr/>
        </p:nvGrpSpPr>
        <p:grpSpPr>
          <a:xfrm>
            <a:off x="20340451" y="3036423"/>
            <a:ext cx="4158143" cy="4889098"/>
            <a:chOff x="0" y="0"/>
            <a:chExt cx="4158142" cy="4889095"/>
          </a:xfrm>
        </p:grpSpPr>
        <p:pic>
          <p:nvPicPr>
            <p:cNvPr id="451" name="pasted-movie.png" descr="pasted-movie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596739" y="788083"/>
              <a:ext cx="3360019" cy="33600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52" name="ML Kernels"/>
            <p:cNvSpPr txBox="1"/>
            <p:nvPr/>
          </p:nvSpPr>
          <p:spPr>
            <a:xfrm>
              <a:off x="0" y="-1"/>
              <a:ext cx="3309824" cy="8205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ML Kernels</a:t>
              </a:r>
            </a:p>
          </p:txBody>
        </p:sp>
        <p:sp>
          <p:nvSpPr>
            <p:cNvPr id="453" name="(Luminal)"/>
            <p:cNvSpPr txBox="1"/>
            <p:nvPr/>
          </p:nvSpPr>
          <p:spPr>
            <a:xfrm>
              <a:off x="1492056" y="4068577"/>
              <a:ext cx="2666087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(Luminal)</a:t>
              </a:r>
            </a:p>
          </p:txBody>
        </p:sp>
      </p:grpSp>
      <p:grpSp>
        <p:nvGrpSpPr>
          <p:cNvPr id="457" name="Group"/>
          <p:cNvGrpSpPr/>
          <p:nvPr/>
        </p:nvGrpSpPr>
        <p:grpSpPr>
          <a:xfrm>
            <a:off x="14621470" y="4164094"/>
            <a:ext cx="5408481" cy="3268757"/>
            <a:chOff x="0" y="0"/>
            <a:chExt cx="5408480" cy="3268755"/>
          </a:xfrm>
        </p:grpSpPr>
        <p:sp>
          <p:nvSpPr>
            <p:cNvPr id="455" name="RTL Optimization"/>
            <p:cNvSpPr txBox="1"/>
            <p:nvPr/>
          </p:nvSpPr>
          <p:spPr>
            <a:xfrm>
              <a:off x="427134" y="-1"/>
              <a:ext cx="4981347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RTL Optimization</a:t>
              </a:r>
            </a:p>
          </p:txBody>
        </p:sp>
        <p:pic>
          <p:nvPicPr>
            <p:cNvPr id="456" name="pasted-movie.png" descr="pasted-movie.png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0" y="143653"/>
              <a:ext cx="4717849" cy="31251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58" name="…and more!"/>
          <p:cNvSpPr txBox="1"/>
          <p:nvPr/>
        </p:nvSpPr>
        <p:spPr>
          <a:xfrm>
            <a:off x="20640253" y="12292916"/>
            <a:ext cx="3558541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…and more!</a:t>
            </a:r>
          </a:p>
        </p:txBody>
      </p:sp>
      <p:grpSp>
        <p:nvGrpSpPr>
          <p:cNvPr id="461" name="None handle side-effects!"/>
          <p:cNvGrpSpPr/>
          <p:nvPr/>
        </p:nvGrpSpPr>
        <p:grpSpPr>
          <a:xfrm>
            <a:off x="685477" y="3586168"/>
            <a:ext cx="17991127" cy="1463363"/>
            <a:chOff x="0" y="0"/>
            <a:chExt cx="17991126" cy="1463361"/>
          </a:xfrm>
        </p:grpSpPr>
        <p:sp>
          <p:nvSpPr>
            <p:cNvPr id="459" name="Rounded Rectangle"/>
            <p:cNvSpPr/>
            <p:nvPr/>
          </p:nvSpPr>
          <p:spPr>
            <a:xfrm>
              <a:off x="0" y="0"/>
              <a:ext cx="17991127" cy="1463362"/>
            </a:xfrm>
            <a:prstGeom prst="roundRect">
              <a:avLst>
                <a:gd name="adj" fmla="val 13276"/>
              </a:avLst>
            </a:prstGeom>
            <a:solidFill>
              <a:srgbClr val="FFE599"/>
            </a:solidFill>
            <a:ln w="12700" cap="flat">
              <a:noFill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b="1" sz="5000"/>
              </a:pPr>
            </a:p>
          </p:txBody>
        </p:sp>
        <p:sp>
          <p:nvSpPr>
            <p:cNvPr id="460" name="None handle side-effects!"/>
            <p:cNvSpPr txBox="1"/>
            <p:nvPr/>
          </p:nvSpPr>
          <p:spPr>
            <a:xfrm>
              <a:off x="56901" y="216538"/>
              <a:ext cx="17877325" cy="10302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7000" tIns="127000" rIns="127000" bIns="12700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b="1" sz="5000"/>
              </a:lvl1pPr>
            </a:lstStyle>
            <a:p>
              <a:pPr/>
              <a:r>
                <a:t>None handle side-effects!</a:t>
              </a:r>
            </a:p>
          </p:txBody>
        </p:sp>
      </p:grpSp>
      <p:grpSp>
        <p:nvGrpSpPr>
          <p:cNvPr id="464" name="None handle side-effects!"/>
          <p:cNvGrpSpPr/>
          <p:nvPr/>
        </p:nvGrpSpPr>
        <p:grpSpPr>
          <a:xfrm>
            <a:off x="1120535" y="8009753"/>
            <a:ext cx="21525097" cy="3893905"/>
            <a:chOff x="0" y="0"/>
            <a:chExt cx="21525095" cy="3893904"/>
          </a:xfrm>
        </p:grpSpPr>
        <p:sp>
          <p:nvSpPr>
            <p:cNvPr id="462" name="Rounded Rectangle"/>
            <p:cNvSpPr/>
            <p:nvPr/>
          </p:nvSpPr>
          <p:spPr>
            <a:xfrm>
              <a:off x="0" y="0"/>
              <a:ext cx="21525096" cy="1750808"/>
            </a:xfrm>
            <a:prstGeom prst="roundRect">
              <a:avLst>
                <a:gd name="adj" fmla="val 13276"/>
              </a:avLst>
            </a:prstGeom>
            <a:solidFill>
              <a:srgbClr val="FFE599"/>
            </a:solidFill>
            <a:ln w="12700" cap="flat">
              <a:noFill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b="1" sz="5000"/>
              </a:pPr>
            </a:p>
          </p:txBody>
        </p:sp>
        <p:sp>
          <p:nvSpPr>
            <p:cNvPr id="463" name="TODO point at luminal, numba, wasm, and mlir with a bubble for “need side effects!”"/>
            <p:cNvSpPr txBox="1"/>
            <p:nvPr/>
          </p:nvSpPr>
          <p:spPr>
            <a:xfrm>
              <a:off x="68078" y="259073"/>
              <a:ext cx="21388939" cy="36348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7000" tIns="127000" rIns="127000" bIns="12700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b="1" sz="5000"/>
              </a:lvl1pPr>
            </a:lstStyle>
            <a:p>
              <a:pPr/>
              <a:r>
                <a:t>TODO point at luminal, numba, wasm, and mlir with a bubble for “need side effects!”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61" grpId="1"/>
      <p:bldP build="whole" bldLvl="1" animBg="1" rev="0" advAuto="0" spid="464" grpId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Upda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Update</a:t>
            </a:r>
          </a:p>
        </p:txBody>
      </p:sp>
      <p:sp>
        <p:nvSpPr>
          <p:cNvPr id="4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483" name="Group"/>
          <p:cNvGrpSpPr/>
          <p:nvPr/>
        </p:nvGrpSpPr>
        <p:grpSpPr>
          <a:xfrm>
            <a:off x="-342901" y="53675"/>
            <a:ext cx="16671230" cy="654073"/>
            <a:chOff x="0" y="0"/>
            <a:chExt cx="16671228" cy="654072"/>
          </a:xfrm>
        </p:grpSpPr>
        <p:grpSp>
          <p:nvGrpSpPr>
            <p:cNvPr id="470" name="Group"/>
            <p:cNvGrpSpPr/>
            <p:nvPr/>
          </p:nvGrpSpPr>
          <p:grpSpPr>
            <a:xfrm>
              <a:off x="9884046" y="9824"/>
              <a:ext cx="3492501" cy="644249"/>
              <a:chOff x="0" y="0"/>
              <a:chExt cx="3492500" cy="644247"/>
            </a:xfrm>
          </p:grpSpPr>
          <p:sp>
            <p:nvSpPr>
              <p:cNvPr id="468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7100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69" name="Effectful E-Graphs"/>
              <p:cNvSpPr txBox="1"/>
              <p:nvPr/>
            </p:nvSpPr>
            <p:spPr>
              <a:xfrm>
                <a:off x="356779" y="69246"/>
                <a:ext cx="2911202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Effectful E-Graphs</a:t>
                </a:r>
              </a:p>
            </p:txBody>
          </p:sp>
        </p:grpSp>
        <p:grpSp>
          <p:nvGrpSpPr>
            <p:cNvPr id="473" name="Group"/>
            <p:cNvGrpSpPr/>
            <p:nvPr/>
          </p:nvGrpSpPr>
          <p:grpSpPr>
            <a:xfrm>
              <a:off x="13178728" y="0"/>
              <a:ext cx="3492501" cy="644248"/>
              <a:chOff x="0" y="0"/>
              <a:chExt cx="3492500" cy="644247"/>
            </a:xfrm>
          </p:grpSpPr>
          <p:sp>
            <p:nvSpPr>
              <p:cNvPr id="471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EAD3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</a:pPr>
              </a:p>
            </p:txBody>
          </p:sp>
          <p:sp>
            <p:nvSpPr>
              <p:cNvPr id="472" name="Effectful Extraction"/>
              <p:cNvSpPr txBox="1"/>
              <p:nvPr/>
            </p:nvSpPr>
            <p:spPr>
              <a:xfrm>
                <a:off x="284377" y="65926"/>
                <a:ext cx="3056005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Effectful Extraction</a:t>
                </a:r>
              </a:p>
            </p:txBody>
          </p:sp>
        </p:grpSp>
        <p:grpSp>
          <p:nvGrpSpPr>
            <p:cNvPr id="476" name="Group"/>
            <p:cNvGrpSpPr/>
            <p:nvPr/>
          </p:nvGrpSpPr>
          <p:grpSpPr>
            <a:xfrm>
              <a:off x="3294682" y="9824"/>
              <a:ext cx="3492501" cy="644249"/>
              <a:chOff x="0" y="0"/>
              <a:chExt cx="3492500" cy="644247"/>
            </a:xfrm>
          </p:grpSpPr>
          <p:sp>
            <p:nvSpPr>
              <p:cNvPr id="474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475" name="E-Graphs"/>
              <p:cNvSpPr txBox="1"/>
              <p:nvPr/>
            </p:nvSpPr>
            <p:spPr>
              <a:xfrm>
                <a:off x="934828" y="69246"/>
                <a:ext cx="1628104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E-Graphs</a:t>
                </a:r>
              </a:p>
            </p:txBody>
          </p:sp>
        </p:grpSp>
        <p:grpSp>
          <p:nvGrpSpPr>
            <p:cNvPr id="479" name="Group"/>
            <p:cNvGrpSpPr/>
            <p:nvPr/>
          </p:nvGrpSpPr>
          <p:grpSpPr>
            <a:xfrm>
              <a:off x="6589364" y="9824"/>
              <a:ext cx="3492501" cy="644249"/>
              <a:chOff x="0" y="0"/>
              <a:chExt cx="3492500" cy="644247"/>
            </a:xfrm>
          </p:grpSpPr>
          <p:sp>
            <p:nvSpPr>
              <p:cNvPr id="477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478" name="Extraction"/>
              <p:cNvSpPr txBox="1"/>
              <p:nvPr/>
            </p:nvSpPr>
            <p:spPr>
              <a:xfrm>
                <a:off x="790357" y="69246"/>
                <a:ext cx="1917046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Extraction</a:t>
                </a:r>
              </a:p>
            </p:txBody>
          </p:sp>
        </p:grpSp>
        <p:grpSp>
          <p:nvGrpSpPr>
            <p:cNvPr id="482" name="Group"/>
            <p:cNvGrpSpPr/>
            <p:nvPr/>
          </p:nvGrpSpPr>
          <p:grpSpPr>
            <a:xfrm>
              <a:off x="-1" y="9824"/>
              <a:ext cx="3492501" cy="644249"/>
              <a:chOff x="0" y="0"/>
              <a:chExt cx="3492500" cy="644247"/>
            </a:xfrm>
          </p:grpSpPr>
          <p:sp>
            <p:nvSpPr>
              <p:cNvPr id="480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481" name="Rewriting"/>
              <p:cNvSpPr txBox="1"/>
              <p:nvPr/>
            </p:nvSpPr>
            <p:spPr>
              <a:xfrm>
                <a:off x="852376" y="69246"/>
                <a:ext cx="1793009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Rewriting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Upda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Update</a:t>
            </a:r>
          </a:p>
        </p:txBody>
      </p:sp>
      <p:sp>
        <p:nvSpPr>
          <p:cNvPr id="4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502" name="Group"/>
          <p:cNvGrpSpPr/>
          <p:nvPr/>
        </p:nvGrpSpPr>
        <p:grpSpPr>
          <a:xfrm>
            <a:off x="-342901" y="53675"/>
            <a:ext cx="16671230" cy="654073"/>
            <a:chOff x="0" y="0"/>
            <a:chExt cx="16671228" cy="654072"/>
          </a:xfrm>
        </p:grpSpPr>
        <p:grpSp>
          <p:nvGrpSpPr>
            <p:cNvPr id="489" name="Group"/>
            <p:cNvGrpSpPr/>
            <p:nvPr/>
          </p:nvGrpSpPr>
          <p:grpSpPr>
            <a:xfrm>
              <a:off x="9884046" y="9824"/>
              <a:ext cx="3492501" cy="644249"/>
              <a:chOff x="0" y="0"/>
              <a:chExt cx="3492500" cy="644247"/>
            </a:xfrm>
          </p:grpSpPr>
          <p:sp>
            <p:nvSpPr>
              <p:cNvPr id="487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7100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88" name="Effectful E-Graphs"/>
              <p:cNvSpPr txBox="1"/>
              <p:nvPr/>
            </p:nvSpPr>
            <p:spPr>
              <a:xfrm>
                <a:off x="356779" y="69246"/>
                <a:ext cx="2911202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Effectful E-Graphs</a:t>
                </a:r>
              </a:p>
            </p:txBody>
          </p:sp>
        </p:grpSp>
        <p:grpSp>
          <p:nvGrpSpPr>
            <p:cNvPr id="492" name="Group"/>
            <p:cNvGrpSpPr/>
            <p:nvPr/>
          </p:nvGrpSpPr>
          <p:grpSpPr>
            <a:xfrm>
              <a:off x="13178728" y="0"/>
              <a:ext cx="3492501" cy="644248"/>
              <a:chOff x="0" y="0"/>
              <a:chExt cx="3492500" cy="644247"/>
            </a:xfrm>
          </p:grpSpPr>
          <p:sp>
            <p:nvSpPr>
              <p:cNvPr id="490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EAD3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</a:pPr>
              </a:p>
            </p:txBody>
          </p:sp>
          <p:sp>
            <p:nvSpPr>
              <p:cNvPr id="491" name="Effectful Extraction"/>
              <p:cNvSpPr txBox="1"/>
              <p:nvPr/>
            </p:nvSpPr>
            <p:spPr>
              <a:xfrm>
                <a:off x="284377" y="65926"/>
                <a:ext cx="3056005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Effectful Extraction</a:t>
                </a:r>
              </a:p>
            </p:txBody>
          </p:sp>
        </p:grpSp>
        <p:grpSp>
          <p:nvGrpSpPr>
            <p:cNvPr id="495" name="Group"/>
            <p:cNvGrpSpPr/>
            <p:nvPr/>
          </p:nvGrpSpPr>
          <p:grpSpPr>
            <a:xfrm>
              <a:off x="3294682" y="9824"/>
              <a:ext cx="3492501" cy="644249"/>
              <a:chOff x="0" y="0"/>
              <a:chExt cx="3492500" cy="644247"/>
            </a:xfrm>
          </p:grpSpPr>
          <p:sp>
            <p:nvSpPr>
              <p:cNvPr id="493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494" name="E-Graphs"/>
              <p:cNvSpPr txBox="1"/>
              <p:nvPr/>
            </p:nvSpPr>
            <p:spPr>
              <a:xfrm>
                <a:off x="934828" y="69246"/>
                <a:ext cx="1628104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E-Graphs</a:t>
                </a:r>
              </a:p>
            </p:txBody>
          </p:sp>
        </p:grpSp>
        <p:grpSp>
          <p:nvGrpSpPr>
            <p:cNvPr id="498" name="Group"/>
            <p:cNvGrpSpPr/>
            <p:nvPr/>
          </p:nvGrpSpPr>
          <p:grpSpPr>
            <a:xfrm>
              <a:off x="6589364" y="9824"/>
              <a:ext cx="3492501" cy="644249"/>
              <a:chOff x="0" y="0"/>
              <a:chExt cx="3492500" cy="644247"/>
            </a:xfrm>
          </p:grpSpPr>
          <p:sp>
            <p:nvSpPr>
              <p:cNvPr id="496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497" name="Extraction"/>
              <p:cNvSpPr txBox="1"/>
              <p:nvPr/>
            </p:nvSpPr>
            <p:spPr>
              <a:xfrm>
                <a:off x="790357" y="69246"/>
                <a:ext cx="1917046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Extraction</a:t>
                </a:r>
              </a:p>
            </p:txBody>
          </p:sp>
        </p:grpSp>
        <p:grpSp>
          <p:nvGrpSpPr>
            <p:cNvPr id="501" name="Group"/>
            <p:cNvGrpSpPr/>
            <p:nvPr/>
          </p:nvGrpSpPr>
          <p:grpSpPr>
            <a:xfrm>
              <a:off x="-1" y="9824"/>
              <a:ext cx="3492501" cy="644249"/>
              <a:chOff x="0" y="0"/>
              <a:chExt cx="3492500" cy="644247"/>
            </a:xfrm>
          </p:grpSpPr>
          <p:sp>
            <p:nvSpPr>
              <p:cNvPr id="499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500" name="Rewriting"/>
              <p:cNvSpPr txBox="1"/>
              <p:nvPr/>
            </p:nvSpPr>
            <p:spPr>
              <a:xfrm>
                <a:off x="852376" y="69246"/>
                <a:ext cx="1793009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Rewriting</a:t>
                </a:r>
              </a:p>
            </p:txBody>
          </p:sp>
        </p:grpSp>
      </p:grpSp>
      <p:sp>
        <p:nvSpPr>
          <p:cNvPr id="503" name="v1 = update(a, x)…"/>
          <p:cNvSpPr/>
          <p:nvPr/>
        </p:nvSpPr>
        <p:spPr>
          <a:xfrm>
            <a:off x="720277" y="3105330"/>
            <a:ext cx="9244925" cy="432403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1</a:t>
            </a:r>
            <a:r>
              <a:t> = update(a, x)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2</a:t>
            </a:r>
            <a:r>
              <a:t> = update(a, x)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3</a:t>
            </a:r>
            <a:r>
              <a:t> = update(b, y)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4</a:t>
            </a:r>
            <a:r>
              <a:t> = update(c, v</a:t>
            </a:r>
            <a:r>
              <a:rPr baseline="-5999"/>
              <a:t>2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Upda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Update</a:t>
            </a:r>
          </a:p>
        </p:txBody>
      </p:sp>
      <p:sp>
        <p:nvSpPr>
          <p:cNvPr id="5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07" name="Write v to address a, return previous value at a"/>
          <p:cNvSpPr/>
          <p:nvPr/>
        </p:nvSpPr>
        <p:spPr>
          <a:xfrm>
            <a:off x="10188319" y="2886201"/>
            <a:ext cx="10477104" cy="2224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802" y="0"/>
                </a:moveTo>
                <a:cubicBezTo>
                  <a:pt x="2671" y="0"/>
                  <a:pt x="2566" y="465"/>
                  <a:pt x="2547" y="1060"/>
                </a:cubicBezTo>
                <a:lnTo>
                  <a:pt x="0" y="6028"/>
                </a:lnTo>
                <a:lnTo>
                  <a:pt x="2540" y="10981"/>
                </a:lnTo>
                <a:lnTo>
                  <a:pt x="2540" y="20363"/>
                </a:lnTo>
                <a:cubicBezTo>
                  <a:pt x="2540" y="21045"/>
                  <a:pt x="2657" y="21600"/>
                  <a:pt x="2802" y="21600"/>
                </a:cubicBezTo>
                <a:lnTo>
                  <a:pt x="21337" y="21600"/>
                </a:lnTo>
                <a:cubicBezTo>
                  <a:pt x="21482" y="21600"/>
                  <a:pt x="21600" y="21045"/>
                  <a:pt x="21600" y="20363"/>
                </a:cubicBezTo>
                <a:lnTo>
                  <a:pt x="21600" y="1237"/>
                </a:lnTo>
                <a:cubicBezTo>
                  <a:pt x="21600" y="555"/>
                  <a:pt x="21482" y="0"/>
                  <a:pt x="21337" y="0"/>
                </a:cubicBezTo>
                <a:lnTo>
                  <a:pt x="2802" y="0"/>
                </a:lnTo>
                <a:close/>
              </a:path>
            </a:pathLst>
          </a:custGeom>
          <a:solidFill>
            <a:srgbClr val="FFE5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0" tIns="127000" rIns="127000" bIns="127000" anchor="ctr"/>
          <a:lstStyle/>
          <a:p>
            <a:pPr defTabSz="2438338">
              <a:lnSpc>
                <a:spcPct val="100000"/>
              </a:lnSpc>
              <a:spcBef>
                <a:spcPts val="0"/>
              </a:spcBef>
              <a:defRPr sz="4000"/>
            </a:pPr>
            <a:r>
              <a:t>Write </a:t>
            </a:r>
            <a:r>
              <a:rPr b="1"/>
              <a:t>v</a:t>
            </a:r>
            <a:r>
              <a:t> to address </a:t>
            </a:r>
            <a:r>
              <a:rPr b="1"/>
              <a:t>a, </a:t>
            </a:r>
            <a:r>
              <a:t>return previous value at </a:t>
            </a:r>
            <a:r>
              <a:rPr b="1"/>
              <a:t>a</a:t>
            </a:r>
          </a:p>
        </p:txBody>
      </p:sp>
      <p:grpSp>
        <p:nvGrpSpPr>
          <p:cNvPr id="523" name="Group"/>
          <p:cNvGrpSpPr/>
          <p:nvPr/>
        </p:nvGrpSpPr>
        <p:grpSpPr>
          <a:xfrm>
            <a:off x="-342901" y="53675"/>
            <a:ext cx="16671230" cy="654073"/>
            <a:chOff x="0" y="0"/>
            <a:chExt cx="16671228" cy="654072"/>
          </a:xfrm>
        </p:grpSpPr>
        <p:grpSp>
          <p:nvGrpSpPr>
            <p:cNvPr id="510" name="Group"/>
            <p:cNvGrpSpPr/>
            <p:nvPr/>
          </p:nvGrpSpPr>
          <p:grpSpPr>
            <a:xfrm>
              <a:off x="9884046" y="9824"/>
              <a:ext cx="3492501" cy="644249"/>
              <a:chOff x="0" y="0"/>
              <a:chExt cx="3492500" cy="644247"/>
            </a:xfrm>
          </p:grpSpPr>
          <p:sp>
            <p:nvSpPr>
              <p:cNvPr id="508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7100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09" name="Effectful E-Graphs"/>
              <p:cNvSpPr txBox="1"/>
              <p:nvPr/>
            </p:nvSpPr>
            <p:spPr>
              <a:xfrm>
                <a:off x="356779" y="69246"/>
                <a:ext cx="2911202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Effectful E-Graphs</a:t>
                </a:r>
              </a:p>
            </p:txBody>
          </p:sp>
        </p:grpSp>
        <p:grpSp>
          <p:nvGrpSpPr>
            <p:cNvPr id="513" name="Group"/>
            <p:cNvGrpSpPr/>
            <p:nvPr/>
          </p:nvGrpSpPr>
          <p:grpSpPr>
            <a:xfrm>
              <a:off x="13178728" y="0"/>
              <a:ext cx="3492501" cy="644248"/>
              <a:chOff x="0" y="0"/>
              <a:chExt cx="3492500" cy="644247"/>
            </a:xfrm>
          </p:grpSpPr>
          <p:sp>
            <p:nvSpPr>
              <p:cNvPr id="511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EAD3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</a:pPr>
              </a:p>
            </p:txBody>
          </p:sp>
          <p:sp>
            <p:nvSpPr>
              <p:cNvPr id="512" name="Effectful Extraction"/>
              <p:cNvSpPr txBox="1"/>
              <p:nvPr/>
            </p:nvSpPr>
            <p:spPr>
              <a:xfrm>
                <a:off x="284377" y="65926"/>
                <a:ext cx="3056005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Effectful Extraction</a:t>
                </a:r>
              </a:p>
            </p:txBody>
          </p:sp>
        </p:grpSp>
        <p:grpSp>
          <p:nvGrpSpPr>
            <p:cNvPr id="516" name="Group"/>
            <p:cNvGrpSpPr/>
            <p:nvPr/>
          </p:nvGrpSpPr>
          <p:grpSpPr>
            <a:xfrm>
              <a:off x="3294682" y="9824"/>
              <a:ext cx="3492501" cy="644249"/>
              <a:chOff x="0" y="0"/>
              <a:chExt cx="3492500" cy="644247"/>
            </a:xfrm>
          </p:grpSpPr>
          <p:sp>
            <p:nvSpPr>
              <p:cNvPr id="514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515" name="E-Graphs"/>
              <p:cNvSpPr txBox="1"/>
              <p:nvPr/>
            </p:nvSpPr>
            <p:spPr>
              <a:xfrm>
                <a:off x="934828" y="69246"/>
                <a:ext cx="1628104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E-Graphs</a:t>
                </a:r>
              </a:p>
            </p:txBody>
          </p:sp>
        </p:grpSp>
        <p:grpSp>
          <p:nvGrpSpPr>
            <p:cNvPr id="519" name="Group"/>
            <p:cNvGrpSpPr/>
            <p:nvPr/>
          </p:nvGrpSpPr>
          <p:grpSpPr>
            <a:xfrm>
              <a:off x="6589364" y="9824"/>
              <a:ext cx="3492501" cy="644249"/>
              <a:chOff x="0" y="0"/>
              <a:chExt cx="3492500" cy="644247"/>
            </a:xfrm>
          </p:grpSpPr>
          <p:sp>
            <p:nvSpPr>
              <p:cNvPr id="517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518" name="Extraction"/>
              <p:cNvSpPr txBox="1"/>
              <p:nvPr/>
            </p:nvSpPr>
            <p:spPr>
              <a:xfrm>
                <a:off x="790357" y="69246"/>
                <a:ext cx="1917046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Extraction</a:t>
                </a:r>
              </a:p>
            </p:txBody>
          </p:sp>
        </p:grpSp>
        <p:grpSp>
          <p:nvGrpSpPr>
            <p:cNvPr id="522" name="Group"/>
            <p:cNvGrpSpPr/>
            <p:nvPr/>
          </p:nvGrpSpPr>
          <p:grpSpPr>
            <a:xfrm>
              <a:off x="-1" y="9824"/>
              <a:ext cx="3492501" cy="644249"/>
              <a:chOff x="0" y="0"/>
              <a:chExt cx="3492500" cy="644247"/>
            </a:xfrm>
          </p:grpSpPr>
          <p:sp>
            <p:nvSpPr>
              <p:cNvPr id="520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521" name="Rewriting"/>
              <p:cNvSpPr txBox="1"/>
              <p:nvPr/>
            </p:nvSpPr>
            <p:spPr>
              <a:xfrm>
                <a:off x="852376" y="69246"/>
                <a:ext cx="1793009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Rewriting</a:t>
                </a:r>
              </a:p>
            </p:txBody>
          </p:sp>
        </p:grpSp>
      </p:grpSp>
      <p:sp>
        <p:nvSpPr>
          <p:cNvPr id="524" name="v1 = update(a, x)…"/>
          <p:cNvSpPr/>
          <p:nvPr/>
        </p:nvSpPr>
        <p:spPr>
          <a:xfrm>
            <a:off x="720277" y="3105330"/>
            <a:ext cx="9244925" cy="432403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1</a:t>
            </a:r>
            <a:r>
              <a:t> = update(a, x)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2</a:t>
            </a:r>
            <a:r>
              <a:t> = update(a, x)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3</a:t>
            </a:r>
            <a:r>
              <a:t> = update(b, y)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4</a:t>
            </a:r>
            <a:r>
              <a:t> = update(c, v</a:t>
            </a:r>
            <a:r>
              <a:rPr baseline="-5999"/>
              <a:t>2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Redundant Update Elimin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Redundant Update Elimination</a:t>
            </a:r>
          </a:p>
        </p:txBody>
      </p:sp>
      <p:sp>
        <p:nvSpPr>
          <p:cNvPr id="5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28" name="update"/>
          <p:cNvSpPr/>
          <p:nvPr/>
        </p:nvSpPr>
        <p:spPr>
          <a:xfrm>
            <a:off x="4299150" y="8943637"/>
            <a:ext cx="1714501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update</a:t>
            </a:r>
          </a:p>
        </p:txBody>
      </p:sp>
      <p:sp>
        <p:nvSpPr>
          <p:cNvPr id="529" name="a"/>
          <p:cNvSpPr/>
          <p:nvPr/>
        </p:nvSpPr>
        <p:spPr>
          <a:xfrm>
            <a:off x="2683005" y="10266770"/>
            <a:ext cx="788409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530" name="v"/>
          <p:cNvSpPr/>
          <p:nvPr/>
        </p:nvSpPr>
        <p:spPr>
          <a:xfrm>
            <a:off x="4144790" y="10266770"/>
            <a:ext cx="788409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531" name="σ"/>
          <p:cNvSpPr/>
          <p:nvPr/>
        </p:nvSpPr>
        <p:spPr>
          <a:xfrm>
            <a:off x="5373252" y="10266770"/>
            <a:ext cx="788408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σ</a:t>
            </a:r>
          </a:p>
        </p:txBody>
      </p:sp>
      <p:sp>
        <p:nvSpPr>
          <p:cNvPr id="532" name="x"/>
          <p:cNvSpPr/>
          <p:nvPr/>
        </p:nvSpPr>
        <p:spPr>
          <a:xfrm>
            <a:off x="4144790" y="7620505"/>
            <a:ext cx="788409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533" name="σʹ"/>
          <p:cNvSpPr/>
          <p:nvPr/>
        </p:nvSpPr>
        <p:spPr>
          <a:xfrm>
            <a:off x="5373252" y="7620505"/>
            <a:ext cx="788408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pPr>
            <a:r>
              <a:t>σ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ʹ</a:t>
            </a:r>
          </a:p>
        </p:txBody>
      </p:sp>
      <p:cxnSp>
        <p:nvCxnSpPr>
          <p:cNvPr id="534" name="Connection Line"/>
          <p:cNvCxnSpPr>
            <a:stCxn id="532" idx="0"/>
            <a:endCxn id="528" idx="0"/>
          </p:cNvCxnSpPr>
          <p:nvPr/>
        </p:nvCxnSpPr>
        <p:spPr>
          <a:xfrm>
            <a:off x="4538994" y="8011544"/>
            <a:ext cx="617407" cy="1323134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535" name="Connection Line"/>
          <p:cNvCxnSpPr>
            <a:stCxn id="533" idx="0"/>
            <a:endCxn id="528" idx="0"/>
          </p:cNvCxnSpPr>
          <p:nvPr/>
        </p:nvCxnSpPr>
        <p:spPr>
          <a:xfrm flipH="1">
            <a:off x="5156400" y="8011544"/>
            <a:ext cx="611057" cy="1323134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536" name="Connection Line"/>
          <p:cNvCxnSpPr>
            <a:stCxn id="528" idx="0"/>
            <a:endCxn id="529" idx="0"/>
          </p:cNvCxnSpPr>
          <p:nvPr/>
        </p:nvCxnSpPr>
        <p:spPr>
          <a:xfrm flipH="1">
            <a:off x="3077209" y="9334677"/>
            <a:ext cx="2079192" cy="1323133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537" name="Connection Line"/>
          <p:cNvCxnSpPr>
            <a:stCxn id="530" idx="0"/>
            <a:endCxn id="528" idx="0"/>
          </p:cNvCxnSpPr>
          <p:nvPr/>
        </p:nvCxnSpPr>
        <p:spPr>
          <a:xfrm flipV="1">
            <a:off x="4538994" y="9334677"/>
            <a:ext cx="617407" cy="1323133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538" name="Connection Line"/>
          <p:cNvCxnSpPr>
            <a:stCxn id="528" idx="0"/>
            <a:endCxn id="531" idx="0"/>
          </p:cNvCxnSpPr>
          <p:nvPr/>
        </p:nvCxnSpPr>
        <p:spPr>
          <a:xfrm>
            <a:off x="5156400" y="9334677"/>
            <a:ext cx="611057" cy="1323133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sp>
        <p:nvSpPr>
          <p:cNvPr id="539" name="update"/>
          <p:cNvSpPr/>
          <p:nvPr/>
        </p:nvSpPr>
        <p:spPr>
          <a:xfrm>
            <a:off x="4299150" y="6297372"/>
            <a:ext cx="1714501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update</a:t>
            </a:r>
          </a:p>
        </p:txBody>
      </p:sp>
      <p:sp>
        <p:nvSpPr>
          <p:cNvPr id="540" name="y"/>
          <p:cNvSpPr/>
          <p:nvPr/>
        </p:nvSpPr>
        <p:spPr>
          <a:xfrm>
            <a:off x="4144790" y="4974240"/>
            <a:ext cx="788409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y</a:t>
            </a:r>
          </a:p>
        </p:txBody>
      </p:sp>
      <p:sp>
        <p:nvSpPr>
          <p:cNvPr id="541" name="σʹʹ"/>
          <p:cNvSpPr/>
          <p:nvPr/>
        </p:nvSpPr>
        <p:spPr>
          <a:xfrm>
            <a:off x="5373252" y="4974240"/>
            <a:ext cx="788408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pPr>
            <a:r>
              <a:t>σ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ʹʹ</a:t>
            </a:r>
          </a:p>
        </p:txBody>
      </p:sp>
      <p:cxnSp>
        <p:nvCxnSpPr>
          <p:cNvPr id="542" name="Connection Line"/>
          <p:cNvCxnSpPr>
            <a:stCxn id="539" idx="0"/>
            <a:endCxn id="540" idx="0"/>
          </p:cNvCxnSpPr>
          <p:nvPr/>
        </p:nvCxnSpPr>
        <p:spPr>
          <a:xfrm flipH="1" flipV="1">
            <a:off x="4538994" y="5365280"/>
            <a:ext cx="617407" cy="1323133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543" name="Connection Line"/>
          <p:cNvCxnSpPr>
            <a:stCxn id="541" idx="0"/>
            <a:endCxn id="539" idx="0"/>
          </p:cNvCxnSpPr>
          <p:nvPr/>
        </p:nvCxnSpPr>
        <p:spPr>
          <a:xfrm flipH="1">
            <a:off x="5156400" y="5365280"/>
            <a:ext cx="611057" cy="1323133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544" name="Connection Line"/>
          <p:cNvCxnSpPr>
            <a:stCxn id="539" idx="0"/>
            <a:endCxn id="533" idx="0"/>
          </p:cNvCxnSpPr>
          <p:nvPr/>
        </p:nvCxnSpPr>
        <p:spPr>
          <a:xfrm>
            <a:off x="5156400" y="6688412"/>
            <a:ext cx="611057" cy="1323133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545" name="Connection Line"/>
          <p:cNvCxnSpPr>
            <a:stCxn id="539" idx="0"/>
            <a:endCxn id="529" idx="0"/>
          </p:cNvCxnSpPr>
          <p:nvPr/>
        </p:nvCxnSpPr>
        <p:spPr>
          <a:xfrm flipH="1">
            <a:off x="3077209" y="6688412"/>
            <a:ext cx="2079192" cy="396939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546" name="Connection Line"/>
          <p:cNvCxnSpPr>
            <a:stCxn id="539" idx="0"/>
            <a:endCxn id="530" idx="0"/>
          </p:cNvCxnSpPr>
          <p:nvPr/>
        </p:nvCxnSpPr>
        <p:spPr>
          <a:xfrm flipH="1">
            <a:off x="4538994" y="6688412"/>
            <a:ext cx="617407" cy="396939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grpSp>
        <p:nvGrpSpPr>
          <p:cNvPr id="562" name="Group"/>
          <p:cNvGrpSpPr/>
          <p:nvPr/>
        </p:nvGrpSpPr>
        <p:grpSpPr>
          <a:xfrm>
            <a:off x="-342901" y="53675"/>
            <a:ext cx="16671230" cy="654073"/>
            <a:chOff x="0" y="0"/>
            <a:chExt cx="16671228" cy="654072"/>
          </a:xfrm>
        </p:grpSpPr>
        <p:grpSp>
          <p:nvGrpSpPr>
            <p:cNvPr id="549" name="Group"/>
            <p:cNvGrpSpPr/>
            <p:nvPr/>
          </p:nvGrpSpPr>
          <p:grpSpPr>
            <a:xfrm>
              <a:off x="9884046" y="9824"/>
              <a:ext cx="3492501" cy="644249"/>
              <a:chOff x="0" y="0"/>
              <a:chExt cx="3492500" cy="644247"/>
            </a:xfrm>
          </p:grpSpPr>
          <p:sp>
            <p:nvSpPr>
              <p:cNvPr id="547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7100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48" name="Effectful E-Graphs"/>
              <p:cNvSpPr txBox="1"/>
              <p:nvPr/>
            </p:nvSpPr>
            <p:spPr>
              <a:xfrm>
                <a:off x="356779" y="69246"/>
                <a:ext cx="2911202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Effectful E-Graphs</a:t>
                </a:r>
              </a:p>
            </p:txBody>
          </p:sp>
        </p:grpSp>
        <p:grpSp>
          <p:nvGrpSpPr>
            <p:cNvPr id="552" name="Group"/>
            <p:cNvGrpSpPr/>
            <p:nvPr/>
          </p:nvGrpSpPr>
          <p:grpSpPr>
            <a:xfrm>
              <a:off x="13178728" y="0"/>
              <a:ext cx="3492501" cy="644248"/>
              <a:chOff x="0" y="0"/>
              <a:chExt cx="3492500" cy="644247"/>
            </a:xfrm>
          </p:grpSpPr>
          <p:sp>
            <p:nvSpPr>
              <p:cNvPr id="550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EAD3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</a:pPr>
              </a:p>
            </p:txBody>
          </p:sp>
          <p:sp>
            <p:nvSpPr>
              <p:cNvPr id="551" name="Effectful Extraction"/>
              <p:cNvSpPr txBox="1"/>
              <p:nvPr/>
            </p:nvSpPr>
            <p:spPr>
              <a:xfrm>
                <a:off x="284377" y="65926"/>
                <a:ext cx="3056005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Effectful Extraction</a:t>
                </a:r>
              </a:p>
            </p:txBody>
          </p:sp>
        </p:grpSp>
        <p:grpSp>
          <p:nvGrpSpPr>
            <p:cNvPr id="555" name="Group"/>
            <p:cNvGrpSpPr/>
            <p:nvPr/>
          </p:nvGrpSpPr>
          <p:grpSpPr>
            <a:xfrm>
              <a:off x="3294682" y="9824"/>
              <a:ext cx="3492501" cy="644249"/>
              <a:chOff x="0" y="0"/>
              <a:chExt cx="3492500" cy="644247"/>
            </a:xfrm>
          </p:grpSpPr>
          <p:sp>
            <p:nvSpPr>
              <p:cNvPr id="553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554" name="E-Graphs"/>
              <p:cNvSpPr txBox="1"/>
              <p:nvPr/>
            </p:nvSpPr>
            <p:spPr>
              <a:xfrm>
                <a:off x="934828" y="69246"/>
                <a:ext cx="1628104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E-Graphs</a:t>
                </a:r>
              </a:p>
            </p:txBody>
          </p:sp>
        </p:grpSp>
        <p:grpSp>
          <p:nvGrpSpPr>
            <p:cNvPr id="558" name="Group"/>
            <p:cNvGrpSpPr/>
            <p:nvPr/>
          </p:nvGrpSpPr>
          <p:grpSpPr>
            <a:xfrm>
              <a:off x="6589364" y="9824"/>
              <a:ext cx="3492501" cy="644249"/>
              <a:chOff x="0" y="0"/>
              <a:chExt cx="3492500" cy="644247"/>
            </a:xfrm>
          </p:grpSpPr>
          <p:sp>
            <p:nvSpPr>
              <p:cNvPr id="556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557" name="Extraction"/>
              <p:cNvSpPr txBox="1"/>
              <p:nvPr/>
            </p:nvSpPr>
            <p:spPr>
              <a:xfrm>
                <a:off x="790357" y="69246"/>
                <a:ext cx="1917046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Extraction</a:t>
                </a:r>
              </a:p>
            </p:txBody>
          </p:sp>
        </p:grpSp>
        <p:grpSp>
          <p:nvGrpSpPr>
            <p:cNvPr id="561" name="Group"/>
            <p:cNvGrpSpPr/>
            <p:nvPr/>
          </p:nvGrpSpPr>
          <p:grpSpPr>
            <a:xfrm>
              <a:off x="-1" y="9824"/>
              <a:ext cx="3492501" cy="644249"/>
              <a:chOff x="0" y="0"/>
              <a:chExt cx="3492500" cy="644247"/>
            </a:xfrm>
          </p:grpSpPr>
          <p:sp>
            <p:nvSpPr>
              <p:cNvPr id="559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560" name="Rewriting"/>
              <p:cNvSpPr txBox="1"/>
              <p:nvPr/>
            </p:nvSpPr>
            <p:spPr>
              <a:xfrm>
                <a:off x="852376" y="69246"/>
                <a:ext cx="1793009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Rewriting</a:t>
                </a:r>
              </a:p>
            </p:txBody>
          </p:sp>
        </p:grpSp>
      </p:grpSp>
      <p:sp>
        <p:nvSpPr>
          <p:cNvPr id="563" name="x = update(a, v)…"/>
          <p:cNvSpPr/>
          <p:nvPr/>
        </p:nvSpPr>
        <p:spPr>
          <a:xfrm>
            <a:off x="8936335" y="3791866"/>
            <a:ext cx="6511330" cy="267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2438338">
              <a:lnSpc>
                <a:spcPct val="18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x = update(a, v)</a:t>
            </a:r>
          </a:p>
          <a:p>
            <a:pPr algn="ctr" defTabSz="2438338">
              <a:lnSpc>
                <a:spcPct val="18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y = update(a, v)</a:t>
            </a:r>
          </a:p>
        </p:txBody>
      </p:sp>
      <p:sp>
        <p:nvSpPr>
          <p:cNvPr id="564" name="update is idempotent"/>
          <p:cNvSpPr/>
          <p:nvPr/>
        </p:nvSpPr>
        <p:spPr>
          <a:xfrm>
            <a:off x="14869168" y="4614441"/>
            <a:ext cx="6486526" cy="10290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05" y="0"/>
                </a:moveTo>
                <a:cubicBezTo>
                  <a:pt x="2866" y="0"/>
                  <a:pt x="2753" y="714"/>
                  <a:pt x="2753" y="1591"/>
                </a:cubicBezTo>
                <a:lnTo>
                  <a:pt x="2753" y="4532"/>
                </a:lnTo>
                <a:lnTo>
                  <a:pt x="0" y="10588"/>
                </a:lnTo>
                <a:lnTo>
                  <a:pt x="2753" y="16652"/>
                </a:lnTo>
                <a:lnTo>
                  <a:pt x="2753" y="20017"/>
                </a:lnTo>
                <a:cubicBezTo>
                  <a:pt x="2753" y="20894"/>
                  <a:pt x="2866" y="21600"/>
                  <a:pt x="3005" y="21600"/>
                </a:cubicBezTo>
                <a:lnTo>
                  <a:pt x="21348" y="21600"/>
                </a:lnTo>
                <a:cubicBezTo>
                  <a:pt x="21487" y="21600"/>
                  <a:pt x="21600" y="20894"/>
                  <a:pt x="21600" y="20017"/>
                </a:cubicBezTo>
                <a:lnTo>
                  <a:pt x="21600" y="1591"/>
                </a:lnTo>
                <a:cubicBezTo>
                  <a:pt x="21600" y="714"/>
                  <a:pt x="21487" y="0"/>
                  <a:pt x="21348" y="0"/>
                </a:cubicBezTo>
                <a:lnTo>
                  <a:pt x="3005" y="0"/>
                </a:lnTo>
                <a:close/>
              </a:path>
            </a:pathLst>
          </a:custGeom>
          <a:solidFill>
            <a:srgbClr val="FFE5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0" tIns="127000" rIns="127000" bIns="12700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/>
            </a:lvl1pPr>
          </a:lstStyle>
          <a:p>
            <a:pPr/>
            <a:r>
              <a:t>update is idempotent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Shape"/>
          <p:cNvSpPr/>
          <p:nvPr/>
        </p:nvSpPr>
        <p:spPr>
          <a:xfrm flipH="1">
            <a:off x="3088066" y="4797668"/>
            <a:ext cx="2060740" cy="6433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30" h="21209" fill="norm" stroke="1" extrusionOk="0">
                <a:moveTo>
                  <a:pt x="941" y="2072"/>
                </a:moveTo>
                <a:cubicBezTo>
                  <a:pt x="991" y="2770"/>
                  <a:pt x="1849" y="3375"/>
                  <a:pt x="3711" y="3645"/>
                </a:cubicBezTo>
                <a:cubicBezTo>
                  <a:pt x="5530" y="3908"/>
                  <a:pt x="7816" y="3696"/>
                  <a:pt x="9530" y="4050"/>
                </a:cubicBezTo>
                <a:cubicBezTo>
                  <a:pt x="11330" y="4421"/>
                  <a:pt x="11609" y="5177"/>
                  <a:pt x="12096" y="5850"/>
                </a:cubicBezTo>
                <a:cubicBezTo>
                  <a:pt x="13191" y="7363"/>
                  <a:pt x="15847" y="8811"/>
                  <a:pt x="15997" y="10409"/>
                </a:cubicBezTo>
                <a:cubicBezTo>
                  <a:pt x="16173" y="12275"/>
                  <a:pt x="13047" y="13933"/>
                  <a:pt x="11664" y="15607"/>
                </a:cubicBezTo>
                <a:cubicBezTo>
                  <a:pt x="11080" y="16314"/>
                  <a:pt x="10600" y="17025"/>
                  <a:pt x="8532" y="17388"/>
                </a:cubicBezTo>
                <a:cubicBezTo>
                  <a:pt x="6852" y="17683"/>
                  <a:pt x="4783" y="17516"/>
                  <a:pt x="3014" y="17739"/>
                </a:cubicBezTo>
                <a:cubicBezTo>
                  <a:pt x="1355" y="17948"/>
                  <a:pt x="251" y="18461"/>
                  <a:pt x="47" y="19017"/>
                </a:cubicBezTo>
                <a:cubicBezTo>
                  <a:pt x="-293" y="19942"/>
                  <a:pt x="1248" y="20745"/>
                  <a:pt x="3853" y="21070"/>
                </a:cubicBezTo>
                <a:cubicBezTo>
                  <a:pt x="6603" y="21413"/>
                  <a:pt x="9739" y="21106"/>
                  <a:pt x="11787" y="20361"/>
                </a:cubicBezTo>
                <a:cubicBezTo>
                  <a:pt x="13999" y="19557"/>
                  <a:pt x="14481" y="18509"/>
                  <a:pt x="15205" y="17474"/>
                </a:cubicBezTo>
                <a:cubicBezTo>
                  <a:pt x="16572" y="15522"/>
                  <a:pt x="19121" y="13605"/>
                  <a:pt x="20299" y="11570"/>
                </a:cubicBezTo>
                <a:cubicBezTo>
                  <a:pt x="21307" y="9829"/>
                  <a:pt x="21252" y="8010"/>
                  <a:pt x="19067" y="6397"/>
                </a:cubicBezTo>
                <a:cubicBezTo>
                  <a:pt x="17376" y="5149"/>
                  <a:pt x="14421" y="4070"/>
                  <a:pt x="13183" y="2780"/>
                </a:cubicBezTo>
                <a:cubicBezTo>
                  <a:pt x="12463" y="2029"/>
                  <a:pt x="12282" y="1215"/>
                  <a:pt x="10632" y="614"/>
                </a:cubicBezTo>
                <a:cubicBezTo>
                  <a:pt x="8820" y="-47"/>
                  <a:pt x="5890" y="-187"/>
                  <a:pt x="3675" y="258"/>
                </a:cubicBezTo>
                <a:cubicBezTo>
                  <a:pt x="1793" y="635"/>
                  <a:pt x="890" y="1346"/>
                  <a:pt x="941" y="2072"/>
                </a:cubicBezTo>
                <a:close/>
              </a:path>
            </a:pathLst>
          </a:custGeom>
          <a:solidFill>
            <a:srgbClr val="929292">
              <a:alpha val="4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2438338"/>
          </a:p>
        </p:txBody>
      </p:sp>
      <p:sp>
        <p:nvSpPr>
          <p:cNvPr id="567" name="Shape"/>
          <p:cNvSpPr/>
          <p:nvPr/>
        </p:nvSpPr>
        <p:spPr>
          <a:xfrm>
            <a:off x="5172268" y="4765502"/>
            <a:ext cx="1608842" cy="38100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52" h="20801" fill="norm" stroke="1" extrusionOk="0">
                <a:moveTo>
                  <a:pt x="80" y="3510"/>
                </a:moveTo>
                <a:cubicBezTo>
                  <a:pt x="302" y="4815"/>
                  <a:pt x="2062" y="5815"/>
                  <a:pt x="4912" y="6141"/>
                </a:cubicBezTo>
                <a:cubicBezTo>
                  <a:pt x="7366" y="6422"/>
                  <a:pt x="10144" y="6041"/>
                  <a:pt x="12337" y="6597"/>
                </a:cubicBezTo>
                <a:cubicBezTo>
                  <a:pt x="15681" y="7443"/>
                  <a:pt x="15529" y="9183"/>
                  <a:pt x="15161" y="10687"/>
                </a:cubicBezTo>
                <a:cubicBezTo>
                  <a:pt x="14820" y="12077"/>
                  <a:pt x="14397" y="13739"/>
                  <a:pt x="10894" y="14508"/>
                </a:cubicBezTo>
                <a:cubicBezTo>
                  <a:pt x="8739" y="14980"/>
                  <a:pt x="6110" y="14723"/>
                  <a:pt x="3852" y="15089"/>
                </a:cubicBezTo>
                <a:cubicBezTo>
                  <a:pt x="1735" y="15433"/>
                  <a:pt x="336" y="16291"/>
                  <a:pt x="66" y="17205"/>
                </a:cubicBezTo>
                <a:cubicBezTo>
                  <a:pt x="-390" y="18751"/>
                  <a:pt x="1555" y="20096"/>
                  <a:pt x="4923" y="20605"/>
                </a:cubicBezTo>
                <a:cubicBezTo>
                  <a:pt x="8131" y="21089"/>
                  <a:pt x="12103" y="20671"/>
                  <a:pt x="15048" y="19431"/>
                </a:cubicBezTo>
                <a:cubicBezTo>
                  <a:pt x="20600" y="17094"/>
                  <a:pt x="20662" y="13704"/>
                  <a:pt x="20798" y="10655"/>
                </a:cubicBezTo>
                <a:cubicBezTo>
                  <a:pt x="20934" y="7594"/>
                  <a:pt x="21210" y="4191"/>
                  <a:pt x="15993" y="1694"/>
                </a:cubicBezTo>
                <a:cubicBezTo>
                  <a:pt x="12600" y="70"/>
                  <a:pt x="7429" y="-511"/>
                  <a:pt x="3569" y="504"/>
                </a:cubicBezTo>
                <a:cubicBezTo>
                  <a:pt x="1152" y="1140"/>
                  <a:pt x="-126" y="2301"/>
                  <a:pt x="80" y="3510"/>
                </a:cubicBezTo>
                <a:close/>
              </a:path>
            </a:pathLst>
          </a:custGeom>
          <a:solidFill>
            <a:srgbClr val="929292">
              <a:alpha val="4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2438338"/>
          </a:p>
        </p:txBody>
      </p:sp>
      <p:sp>
        <p:nvSpPr>
          <p:cNvPr id="568" name="Redundant Update Elimin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Redundant Update Elimination</a:t>
            </a:r>
          </a:p>
        </p:txBody>
      </p:sp>
      <p:sp>
        <p:nvSpPr>
          <p:cNvPr id="56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70" name="update"/>
          <p:cNvSpPr/>
          <p:nvPr/>
        </p:nvSpPr>
        <p:spPr>
          <a:xfrm>
            <a:off x="4299150" y="8943637"/>
            <a:ext cx="1714501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update</a:t>
            </a:r>
          </a:p>
        </p:txBody>
      </p:sp>
      <p:sp>
        <p:nvSpPr>
          <p:cNvPr id="571" name="a"/>
          <p:cNvSpPr/>
          <p:nvPr/>
        </p:nvSpPr>
        <p:spPr>
          <a:xfrm>
            <a:off x="2683005" y="10266770"/>
            <a:ext cx="788409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572" name="v"/>
          <p:cNvSpPr/>
          <p:nvPr/>
        </p:nvSpPr>
        <p:spPr>
          <a:xfrm>
            <a:off x="4144790" y="10266770"/>
            <a:ext cx="788409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573" name="σ"/>
          <p:cNvSpPr/>
          <p:nvPr/>
        </p:nvSpPr>
        <p:spPr>
          <a:xfrm>
            <a:off x="5373252" y="10266770"/>
            <a:ext cx="788408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σ</a:t>
            </a:r>
          </a:p>
        </p:txBody>
      </p:sp>
      <p:sp>
        <p:nvSpPr>
          <p:cNvPr id="574" name="x"/>
          <p:cNvSpPr/>
          <p:nvPr/>
        </p:nvSpPr>
        <p:spPr>
          <a:xfrm>
            <a:off x="4144790" y="7620505"/>
            <a:ext cx="788409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575" name="σʹ"/>
          <p:cNvSpPr/>
          <p:nvPr/>
        </p:nvSpPr>
        <p:spPr>
          <a:xfrm>
            <a:off x="5373252" y="7620505"/>
            <a:ext cx="788408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pPr>
            <a:r>
              <a:t>σ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ʹ</a:t>
            </a:r>
          </a:p>
        </p:txBody>
      </p:sp>
      <p:cxnSp>
        <p:nvCxnSpPr>
          <p:cNvPr id="576" name="Connection Line"/>
          <p:cNvCxnSpPr>
            <a:stCxn id="574" idx="0"/>
            <a:endCxn id="570" idx="0"/>
          </p:cNvCxnSpPr>
          <p:nvPr/>
        </p:nvCxnSpPr>
        <p:spPr>
          <a:xfrm>
            <a:off x="4538994" y="8011544"/>
            <a:ext cx="617407" cy="1323134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577" name="Connection Line"/>
          <p:cNvCxnSpPr>
            <a:stCxn id="575" idx="0"/>
            <a:endCxn id="570" idx="0"/>
          </p:cNvCxnSpPr>
          <p:nvPr/>
        </p:nvCxnSpPr>
        <p:spPr>
          <a:xfrm flipH="1">
            <a:off x="5156400" y="8011544"/>
            <a:ext cx="611057" cy="1323134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578" name="Connection Line"/>
          <p:cNvCxnSpPr>
            <a:stCxn id="570" idx="0"/>
            <a:endCxn id="571" idx="0"/>
          </p:cNvCxnSpPr>
          <p:nvPr/>
        </p:nvCxnSpPr>
        <p:spPr>
          <a:xfrm flipH="1">
            <a:off x="3077209" y="9334677"/>
            <a:ext cx="2079192" cy="1323133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579" name="Connection Line"/>
          <p:cNvCxnSpPr>
            <a:stCxn id="572" idx="0"/>
            <a:endCxn id="570" idx="0"/>
          </p:cNvCxnSpPr>
          <p:nvPr/>
        </p:nvCxnSpPr>
        <p:spPr>
          <a:xfrm flipV="1">
            <a:off x="4538994" y="9334677"/>
            <a:ext cx="617407" cy="1323133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580" name="Connection Line"/>
          <p:cNvCxnSpPr>
            <a:stCxn id="570" idx="0"/>
            <a:endCxn id="573" idx="0"/>
          </p:cNvCxnSpPr>
          <p:nvPr/>
        </p:nvCxnSpPr>
        <p:spPr>
          <a:xfrm>
            <a:off x="5156400" y="9334677"/>
            <a:ext cx="611057" cy="1323133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sp>
        <p:nvSpPr>
          <p:cNvPr id="581" name="update"/>
          <p:cNvSpPr/>
          <p:nvPr/>
        </p:nvSpPr>
        <p:spPr>
          <a:xfrm>
            <a:off x="4299150" y="6297372"/>
            <a:ext cx="1714501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update</a:t>
            </a:r>
          </a:p>
        </p:txBody>
      </p:sp>
      <p:sp>
        <p:nvSpPr>
          <p:cNvPr id="582" name="y"/>
          <p:cNvSpPr/>
          <p:nvPr/>
        </p:nvSpPr>
        <p:spPr>
          <a:xfrm>
            <a:off x="4144790" y="4974240"/>
            <a:ext cx="788409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y</a:t>
            </a:r>
          </a:p>
        </p:txBody>
      </p:sp>
      <p:sp>
        <p:nvSpPr>
          <p:cNvPr id="583" name="σʹʹ"/>
          <p:cNvSpPr/>
          <p:nvPr/>
        </p:nvSpPr>
        <p:spPr>
          <a:xfrm>
            <a:off x="5373252" y="4974240"/>
            <a:ext cx="788408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pPr>
            <a:r>
              <a:t>σ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ʹʹ</a:t>
            </a:r>
          </a:p>
        </p:txBody>
      </p:sp>
      <p:cxnSp>
        <p:nvCxnSpPr>
          <p:cNvPr id="584" name="Connection Line"/>
          <p:cNvCxnSpPr>
            <a:stCxn id="581" idx="0"/>
            <a:endCxn id="582" idx="0"/>
          </p:cNvCxnSpPr>
          <p:nvPr/>
        </p:nvCxnSpPr>
        <p:spPr>
          <a:xfrm flipH="1" flipV="1">
            <a:off x="4538994" y="5365280"/>
            <a:ext cx="617407" cy="1323133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585" name="Connection Line"/>
          <p:cNvCxnSpPr>
            <a:stCxn id="583" idx="0"/>
            <a:endCxn id="581" idx="0"/>
          </p:cNvCxnSpPr>
          <p:nvPr/>
        </p:nvCxnSpPr>
        <p:spPr>
          <a:xfrm flipH="1">
            <a:off x="5156400" y="5365280"/>
            <a:ext cx="611057" cy="1323133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586" name="Connection Line"/>
          <p:cNvCxnSpPr>
            <a:stCxn id="581" idx="0"/>
            <a:endCxn id="575" idx="0"/>
          </p:cNvCxnSpPr>
          <p:nvPr/>
        </p:nvCxnSpPr>
        <p:spPr>
          <a:xfrm>
            <a:off x="5156400" y="6688412"/>
            <a:ext cx="611057" cy="1323133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587" name="Connection Line"/>
          <p:cNvCxnSpPr>
            <a:stCxn id="581" idx="0"/>
            <a:endCxn id="571" idx="0"/>
          </p:cNvCxnSpPr>
          <p:nvPr/>
        </p:nvCxnSpPr>
        <p:spPr>
          <a:xfrm flipH="1">
            <a:off x="3077209" y="6688412"/>
            <a:ext cx="2079192" cy="396939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588" name="Connection Line"/>
          <p:cNvCxnSpPr>
            <a:stCxn id="581" idx="0"/>
            <a:endCxn id="572" idx="0"/>
          </p:cNvCxnSpPr>
          <p:nvPr/>
        </p:nvCxnSpPr>
        <p:spPr>
          <a:xfrm flipH="1">
            <a:off x="4538994" y="6688412"/>
            <a:ext cx="617407" cy="396939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589" name="Connection Line"/>
          <p:cNvCxnSpPr>
            <a:stCxn id="575" idx="0"/>
            <a:endCxn id="583" idx="0"/>
          </p:cNvCxnSpPr>
          <p:nvPr/>
        </p:nvCxnSpPr>
        <p:spPr>
          <a:xfrm flipV="1">
            <a:off x="5767456" y="5365280"/>
            <a:ext cx="1" cy="2646265"/>
          </a:xfrm>
          <a:prstGeom prst="straightConnector1">
            <a:avLst/>
          </a:prstGeom>
          <a:ln w="50800">
            <a:solidFill>
              <a:srgbClr val="000000"/>
            </a:solidFill>
            <a:custDash>
              <a:ds d="200000" sp="200000"/>
            </a:custDash>
            <a:miter lim="400000"/>
          </a:ln>
        </p:spPr>
      </p:cxnSp>
      <p:cxnSp>
        <p:nvCxnSpPr>
          <p:cNvPr id="590" name="Connection Line"/>
          <p:cNvCxnSpPr>
            <a:stCxn id="582" idx="0"/>
            <a:endCxn id="572" idx="0"/>
          </p:cNvCxnSpPr>
          <p:nvPr/>
        </p:nvCxnSpPr>
        <p:spPr>
          <a:xfrm>
            <a:off x="4538994" y="5365280"/>
            <a:ext cx="1" cy="5292530"/>
          </a:xfrm>
          <a:prstGeom prst="straightConnector1">
            <a:avLst/>
          </a:prstGeom>
          <a:ln w="50800">
            <a:solidFill>
              <a:srgbClr val="000000"/>
            </a:solidFill>
            <a:custDash>
              <a:ds d="200000" sp="200000"/>
            </a:custDash>
            <a:miter lim="400000"/>
          </a:ln>
        </p:spPr>
      </p:cxnSp>
      <p:grpSp>
        <p:nvGrpSpPr>
          <p:cNvPr id="606" name="Group"/>
          <p:cNvGrpSpPr/>
          <p:nvPr/>
        </p:nvGrpSpPr>
        <p:grpSpPr>
          <a:xfrm>
            <a:off x="-342901" y="53675"/>
            <a:ext cx="16671230" cy="654073"/>
            <a:chOff x="0" y="0"/>
            <a:chExt cx="16671228" cy="654072"/>
          </a:xfrm>
        </p:grpSpPr>
        <p:grpSp>
          <p:nvGrpSpPr>
            <p:cNvPr id="593" name="Group"/>
            <p:cNvGrpSpPr/>
            <p:nvPr/>
          </p:nvGrpSpPr>
          <p:grpSpPr>
            <a:xfrm>
              <a:off x="9884046" y="9824"/>
              <a:ext cx="3492501" cy="644249"/>
              <a:chOff x="0" y="0"/>
              <a:chExt cx="3492500" cy="644247"/>
            </a:xfrm>
          </p:grpSpPr>
          <p:sp>
            <p:nvSpPr>
              <p:cNvPr id="591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7100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92" name="Effectful E-Graphs"/>
              <p:cNvSpPr txBox="1"/>
              <p:nvPr/>
            </p:nvSpPr>
            <p:spPr>
              <a:xfrm>
                <a:off x="356779" y="69246"/>
                <a:ext cx="2911202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Effectful E-Graphs</a:t>
                </a:r>
              </a:p>
            </p:txBody>
          </p:sp>
        </p:grpSp>
        <p:grpSp>
          <p:nvGrpSpPr>
            <p:cNvPr id="596" name="Group"/>
            <p:cNvGrpSpPr/>
            <p:nvPr/>
          </p:nvGrpSpPr>
          <p:grpSpPr>
            <a:xfrm>
              <a:off x="13178728" y="0"/>
              <a:ext cx="3492501" cy="644248"/>
              <a:chOff x="0" y="0"/>
              <a:chExt cx="3492500" cy="644247"/>
            </a:xfrm>
          </p:grpSpPr>
          <p:sp>
            <p:nvSpPr>
              <p:cNvPr id="594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EAD3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</a:pPr>
              </a:p>
            </p:txBody>
          </p:sp>
          <p:sp>
            <p:nvSpPr>
              <p:cNvPr id="595" name="Effectful Extraction"/>
              <p:cNvSpPr txBox="1"/>
              <p:nvPr/>
            </p:nvSpPr>
            <p:spPr>
              <a:xfrm>
                <a:off x="284377" y="65926"/>
                <a:ext cx="3056005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Effectful Extraction</a:t>
                </a:r>
              </a:p>
            </p:txBody>
          </p:sp>
        </p:grpSp>
        <p:grpSp>
          <p:nvGrpSpPr>
            <p:cNvPr id="599" name="Group"/>
            <p:cNvGrpSpPr/>
            <p:nvPr/>
          </p:nvGrpSpPr>
          <p:grpSpPr>
            <a:xfrm>
              <a:off x="3294682" y="9824"/>
              <a:ext cx="3492501" cy="644249"/>
              <a:chOff x="0" y="0"/>
              <a:chExt cx="3492500" cy="644247"/>
            </a:xfrm>
          </p:grpSpPr>
          <p:sp>
            <p:nvSpPr>
              <p:cNvPr id="597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598" name="E-Graphs"/>
              <p:cNvSpPr txBox="1"/>
              <p:nvPr/>
            </p:nvSpPr>
            <p:spPr>
              <a:xfrm>
                <a:off x="934828" y="69246"/>
                <a:ext cx="1628104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E-Graphs</a:t>
                </a:r>
              </a:p>
            </p:txBody>
          </p:sp>
        </p:grpSp>
        <p:grpSp>
          <p:nvGrpSpPr>
            <p:cNvPr id="602" name="Group"/>
            <p:cNvGrpSpPr/>
            <p:nvPr/>
          </p:nvGrpSpPr>
          <p:grpSpPr>
            <a:xfrm>
              <a:off x="6589364" y="9824"/>
              <a:ext cx="3492501" cy="644249"/>
              <a:chOff x="0" y="0"/>
              <a:chExt cx="3492500" cy="644247"/>
            </a:xfrm>
          </p:grpSpPr>
          <p:sp>
            <p:nvSpPr>
              <p:cNvPr id="600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601" name="Extraction"/>
              <p:cNvSpPr txBox="1"/>
              <p:nvPr/>
            </p:nvSpPr>
            <p:spPr>
              <a:xfrm>
                <a:off x="790357" y="69246"/>
                <a:ext cx="1917046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Extraction</a:t>
                </a:r>
              </a:p>
            </p:txBody>
          </p:sp>
        </p:grpSp>
        <p:grpSp>
          <p:nvGrpSpPr>
            <p:cNvPr id="605" name="Group"/>
            <p:cNvGrpSpPr/>
            <p:nvPr/>
          </p:nvGrpSpPr>
          <p:grpSpPr>
            <a:xfrm>
              <a:off x="-1" y="9824"/>
              <a:ext cx="3492501" cy="644249"/>
              <a:chOff x="0" y="0"/>
              <a:chExt cx="3492500" cy="644247"/>
            </a:xfrm>
          </p:grpSpPr>
          <p:sp>
            <p:nvSpPr>
              <p:cNvPr id="603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604" name="Rewriting"/>
              <p:cNvSpPr txBox="1"/>
              <p:nvPr/>
            </p:nvSpPr>
            <p:spPr>
              <a:xfrm>
                <a:off x="852376" y="69246"/>
                <a:ext cx="1793009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Rewriting</a:t>
                </a:r>
              </a:p>
            </p:txBody>
          </p:sp>
        </p:grpSp>
      </p:grpSp>
      <p:sp>
        <p:nvSpPr>
          <p:cNvPr id="607" name="x = update(a, v)…"/>
          <p:cNvSpPr/>
          <p:nvPr/>
        </p:nvSpPr>
        <p:spPr>
          <a:xfrm>
            <a:off x="8936335" y="3791866"/>
            <a:ext cx="6511330" cy="267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2438338">
              <a:lnSpc>
                <a:spcPct val="18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x = update(a, v)</a:t>
            </a:r>
          </a:p>
          <a:p>
            <a:pPr algn="ctr" defTabSz="2438338">
              <a:lnSpc>
                <a:spcPct val="180000"/>
              </a:lnSpc>
              <a:spcBef>
                <a:spcPts val="0"/>
              </a:spcBef>
              <a:defRPr strike="sngStrike" sz="5000">
                <a:latin typeface="PT Mono"/>
                <a:ea typeface="PT Mono"/>
                <a:cs typeface="PT Mono"/>
                <a:sym typeface="PT Mono"/>
              </a:defRPr>
            </a:pPr>
            <a:r>
              <a:t>y = update(a, v)</a:t>
            </a:r>
          </a:p>
        </p:txBody>
      </p:sp>
      <p:sp>
        <p:nvSpPr>
          <p:cNvPr id="608" name="update is idempotent"/>
          <p:cNvSpPr/>
          <p:nvPr/>
        </p:nvSpPr>
        <p:spPr>
          <a:xfrm>
            <a:off x="14869168" y="4614441"/>
            <a:ext cx="6486526" cy="10290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05" y="0"/>
                </a:moveTo>
                <a:cubicBezTo>
                  <a:pt x="2866" y="0"/>
                  <a:pt x="2753" y="714"/>
                  <a:pt x="2753" y="1591"/>
                </a:cubicBezTo>
                <a:lnTo>
                  <a:pt x="2753" y="4532"/>
                </a:lnTo>
                <a:lnTo>
                  <a:pt x="0" y="10588"/>
                </a:lnTo>
                <a:lnTo>
                  <a:pt x="2753" y="16652"/>
                </a:lnTo>
                <a:lnTo>
                  <a:pt x="2753" y="20017"/>
                </a:lnTo>
                <a:cubicBezTo>
                  <a:pt x="2753" y="20894"/>
                  <a:pt x="2866" y="21600"/>
                  <a:pt x="3005" y="21600"/>
                </a:cubicBezTo>
                <a:lnTo>
                  <a:pt x="21348" y="21600"/>
                </a:lnTo>
                <a:cubicBezTo>
                  <a:pt x="21487" y="21600"/>
                  <a:pt x="21600" y="20894"/>
                  <a:pt x="21600" y="20017"/>
                </a:cubicBezTo>
                <a:lnTo>
                  <a:pt x="21600" y="1591"/>
                </a:lnTo>
                <a:cubicBezTo>
                  <a:pt x="21600" y="714"/>
                  <a:pt x="21487" y="0"/>
                  <a:pt x="21348" y="0"/>
                </a:cubicBezTo>
                <a:lnTo>
                  <a:pt x="3005" y="0"/>
                </a:lnTo>
                <a:close/>
              </a:path>
            </a:pathLst>
          </a:custGeom>
          <a:solidFill>
            <a:srgbClr val="FFE5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0" tIns="127000" rIns="127000" bIns="12700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/>
            </a:lvl1pPr>
          </a:lstStyle>
          <a:p>
            <a:pPr/>
            <a:r>
              <a:t>update is idempotent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Shape"/>
          <p:cNvSpPr/>
          <p:nvPr/>
        </p:nvSpPr>
        <p:spPr>
          <a:xfrm flipH="1">
            <a:off x="3088066" y="4797668"/>
            <a:ext cx="2060740" cy="6433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30" h="21209" fill="norm" stroke="1" extrusionOk="0">
                <a:moveTo>
                  <a:pt x="941" y="2072"/>
                </a:moveTo>
                <a:cubicBezTo>
                  <a:pt x="991" y="2770"/>
                  <a:pt x="1849" y="3375"/>
                  <a:pt x="3711" y="3645"/>
                </a:cubicBezTo>
                <a:cubicBezTo>
                  <a:pt x="5530" y="3908"/>
                  <a:pt x="7816" y="3696"/>
                  <a:pt x="9530" y="4050"/>
                </a:cubicBezTo>
                <a:cubicBezTo>
                  <a:pt x="11330" y="4421"/>
                  <a:pt x="11609" y="5177"/>
                  <a:pt x="12096" y="5850"/>
                </a:cubicBezTo>
                <a:cubicBezTo>
                  <a:pt x="13191" y="7363"/>
                  <a:pt x="15847" y="8811"/>
                  <a:pt x="15997" y="10409"/>
                </a:cubicBezTo>
                <a:cubicBezTo>
                  <a:pt x="16173" y="12275"/>
                  <a:pt x="13047" y="13933"/>
                  <a:pt x="11664" y="15607"/>
                </a:cubicBezTo>
                <a:cubicBezTo>
                  <a:pt x="11080" y="16314"/>
                  <a:pt x="10600" y="17025"/>
                  <a:pt x="8532" y="17388"/>
                </a:cubicBezTo>
                <a:cubicBezTo>
                  <a:pt x="6852" y="17683"/>
                  <a:pt x="4783" y="17516"/>
                  <a:pt x="3014" y="17739"/>
                </a:cubicBezTo>
                <a:cubicBezTo>
                  <a:pt x="1355" y="17948"/>
                  <a:pt x="251" y="18461"/>
                  <a:pt x="47" y="19017"/>
                </a:cubicBezTo>
                <a:cubicBezTo>
                  <a:pt x="-293" y="19942"/>
                  <a:pt x="1248" y="20745"/>
                  <a:pt x="3853" y="21070"/>
                </a:cubicBezTo>
                <a:cubicBezTo>
                  <a:pt x="6603" y="21413"/>
                  <a:pt x="9739" y="21106"/>
                  <a:pt x="11787" y="20361"/>
                </a:cubicBezTo>
                <a:cubicBezTo>
                  <a:pt x="13999" y="19557"/>
                  <a:pt x="14481" y="18509"/>
                  <a:pt x="15205" y="17474"/>
                </a:cubicBezTo>
                <a:cubicBezTo>
                  <a:pt x="16572" y="15522"/>
                  <a:pt x="19121" y="13605"/>
                  <a:pt x="20299" y="11570"/>
                </a:cubicBezTo>
                <a:cubicBezTo>
                  <a:pt x="21307" y="9829"/>
                  <a:pt x="21252" y="8010"/>
                  <a:pt x="19067" y="6397"/>
                </a:cubicBezTo>
                <a:cubicBezTo>
                  <a:pt x="17376" y="5149"/>
                  <a:pt x="14421" y="4070"/>
                  <a:pt x="13183" y="2780"/>
                </a:cubicBezTo>
                <a:cubicBezTo>
                  <a:pt x="12463" y="2029"/>
                  <a:pt x="12282" y="1215"/>
                  <a:pt x="10632" y="614"/>
                </a:cubicBezTo>
                <a:cubicBezTo>
                  <a:pt x="8820" y="-47"/>
                  <a:pt x="5890" y="-187"/>
                  <a:pt x="3675" y="258"/>
                </a:cubicBezTo>
                <a:cubicBezTo>
                  <a:pt x="1793" y="635"/>
                  <a:pt x="890" y="1346"/>
                  <a:pt x="941" y="2072"/>
                </a:cubicBezTo>
                <a:close/>
              </a:path>
            </a:pathLst>
          </a:custGeom>
          <a:solidFill>
            <a:srgbClr val="929292">
              <a:alpha val="4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2438338"/>
          </a:p>
        </p:txBody>
      </p:sp>
      <p:sp>
        <p:nvSpPr>
          <p:cNvPr id="611" name="Shape"/>
          <p:cNvSpPr/>
          <p:nvPr/>
        </p:nvSpPr>
        <p:spPr>
          <a:xfrm>
            <a:off x="5172268" y="4765502"/>
            <a:ext cx="1608842" cy="38100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52" h="20801" fill="norm" stroke="1" extrusionOk="0">
                <a:moveTo>
                  <a:pt x="80" y="3510"/>
                </a:moveTo>
                <a:cubicBezTo>
                  <a:pt x="302" y="4815"/>
                  <a:pt x="2062" y="5815"/>
                  <a:pt x="4912" y="6141"/>
                </a:cubicBezTo>
                <a:cubicBezTo>
                  <a:pt x="7366" y="6422"/>
                  <a:pt x="10144" y="6041"/>
                  <a:pt x="12337" y="6597"/>
                </a:cubicBezTo>
                <a:cubicBezTo>
                  <a:pt x="15681" y="7443"/>
                  <a:pt x="15529" y="9183"/>
                  <a:pt x="15161" y="10687"/>
                </a:cubicBezTo>
                <a:cubicBezTo>
                  <a:pt x="14820" y="12077"/>
                  <a:pt x="14397" y="13739"/>
                  <a:pt x="10894" y="14508"/>
                </a:cubicBezTo>
                <a:cubicBezTo>
                  <a:pt x="8739" y="14980"/>
                  <a:pt x="6110" y="14723"/>
                  <a:pt x="3852" y="15089"/>
                </a:cubicBezTo>
                <a:cubicBezTo>
                  <a:pt x="1735" y="15433"/>
                  <a:pt x="336" y="16291"/>
                  <a:pt x="66" y="17205"/>
                </a:cubicBezTo>
                <a:cubicBezTo>
                  <a:pt x="-390" y="18751"/>
                  <a:pt x="1555" y="20096"/>
                  <a:pt x="4923" y="20605"/>
                </a:cubicBezTo>
                <a:cubicBezTo>
                  <a:pt x="8131" y="21089"/>
                  <a:pt x="12103" y="20671"/>
                  <a:pt x="15048" y="19431"/>
                </a:cubicBezTo>
                <a:cubicBezTo>
                  <a:pt x="20600" y="17094"/>
                  <a:pt x="20662" y="13704"/>
                  <a:pt x="20798" y="10655"/>
                </a:cubicBezTo>
                <a:cubicBezTo>
                  <a:pt x="20934" y="7594"/>
                  <a:pt x="21210" y="4191"/>
                  <a:pt x="15993" y="1694"/>
                </a:cubicBezTo>
                <a:cubicBezTo>
                  <a:pt x="12600" y="70"/>
                  <a:pt x="7429" y="-511"/>
                  <a:pt x="3569" y="504"/>
                </a:cubicBezTo>
                <a:cubicBezTo>
                  <a:pt x="1152" y="1140"/>
                  <a:pt x="-126" y="2301"/>
                  <a:pt x="80" y="3510"/>
                </a:cubicBezTo>
                <a:close/>
              </a:path>
            </a:pathLst>
          </a:custGeom>
          <a:solidFill>
            <a:srgbClr val="929292">
              <a:alpha val="4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2438338"/>
          </a:p>
        </p:txBody>
      </p:sp>
      <p:sp>
        <p:nvSpPr>
          <p:cNvPr id="612" name="Redundant Update Elimin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Redundant Update Elimination</a:t>
            </a:r>
          </a:p>
        </p:txBody>
      </p:sp>
      <p:sp>
        <p:nvSpPr>
          <p:cNvPr id="6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14" name="update"/>
          <p:cNvSpPr/>
          <p:nvPr/>
        </p:nvSpPr>
        <p:spPr>
          <a:xfrm>
            <a:off x="4299150" y="8943637"/>
            <a:ext cx="1714501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update</a:t>
            </a:r>
          </a:p>
        </p:txBody>
      </p:sp>
      <p:sp>
        <p:nvSpPr>
          <p:cNvPr id="615" name="a"/>
          <p:cNvSpPr/>
          <p:nvPr/>
        </p:nvSpPr>
        <p:spPr>
          <a:xfrm>
            <a:off x="2683005" y="10266770"/>
            <a:ext cx="788409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616" name="v"/>
          <p:cNvSpPr/>
          <p:nvPr/>
        </p:nvSpPr>
        <p:spPr>
          <a:xfrm>
            <a:off x="4144790" y="10266770"/>
            <a:ext cx="788409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617" name="σ"/>
          <p:cNvSpPr/>
          <p:nvPr/>
        </p:nvSpPr>
        <p:spPr>
          <a:xfrm>
            <a:off x="5373252" y="10266770"/>
            <a:ext cx="788408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σ</a:t>
            </a:r>
          </a:p>
        </p:txBody>
      </p:sp>
      <p:sp>
        <p:nvSpPr>
          <p:cNvPr id="618" name="x"/>
          <p:cNvSpPr/>
          <p:nvPr/>
        </p:nvSpPr>
        <p:spPr>
          <a:xfrm>
            <a:off x="4144790" y="7620505"/>
            <a:ext cx="788409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619" name="σʹ"/>
          <p:cNvSpPr/>
          <p:nvPr/>
        </p:nvSpPr>
        <p:spPr>
          <a:xfrm>
            <a:off x="5373252" y="7620505"/>
            <a:ext cx="788408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pPr>
            <a:r>
              <a:t>σ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ʹ</a:t>
            </a:r>
          </a:p>
        </p:txBody>
      </p:sp>
      <p:cxnSp>
        <p:nvCxnSpPr>
          <p:cNvPr id="620" name="Connection Line"/>
          <p:cNvCxnSpPr>
            <a:stCxn id="618" idx="0"/>
            <a:endCxn id="614" idx="0"/>
          </p:cNvCxnSpPr>
          <p:nvPr/>
        </p:nvCxnSpPr>
        <p:spPr>
          <a:xfrm>
            <a:off x="4538994" y="8011544"/>
            <a:ext cx="617407" cy="1323134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621" name="Connection Line"/>
          <p:cNvCxnSpPr>
            <a:stCxn id="619" idx="0"/>
            <a:endCxn id="614" idx="0"/>
          </p:cNvCxnSpPr>
          <p:nvPr/>
        </p:nvCxnSpPr>
        <p:spPr>
          <a:xfrm flipH="1">
            <a:off x="5156400" y="8011544"/>
            <a:ext cx="611057" cy="1323134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622" name="Connection Line"/>
          <p:cNvCxnSpPr>
            <a:stCxn id="614" idx="0"/>
            <a:endCxn id="615" idx="0"/>
          </p:cNvCxnSpPr>
          <p:nvPr/>
        </p:nvCxnSpPr>
        <p:spPr>
          <a:xfrm flipH="1">
            <a:off x="3077209" y="9334677"/>
            <a:ext cx="2079192" cy="1323133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623" name="Connection Line"/>
          <p:cNvCxnSpPr>
            <a:stCxn id="616" idx="0"/>
            <a:endCxn id="614" idx="0"/>
          </p:cNvCxnSpPr>
          <p:nvPr/>
        </p:nvCxnSpPr>
        <p:spPr>
          <a:xfrm flipV="1">
            <a:off x="4538994" y="9334677"/>
            <a:ext cx="617407" cy="1323133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624" name="Connection Line"/>
          <p:cNvCxnSpPr>
            <a:stCxn id="614" idx="0"/>
            <a:endCxn id="617" idx="0"/>
          </p:cNvCxnSpPr>
          <p:nvPr/>
        </p:nvCxnSpPr>
        <p:spPr>
          <a:xfrm>
            <a:off x="5156400" y="9334677"/>
            <a:ext cx="611057" cy="1323133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sp>
        <p:nvSpPr>
          <p:cNvPr id="625" name="update"/>
          <p:cNvSpPr/>
          <p:nvPr/>
        </p:nvSpPr>
        <p:spPr>
          <a:xfrm>
            <a:off x="4299150" y="6297372"/>
            <a:ext cx="1714501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update</a:t>
            </a:r>
          </a:p>
        </p:txBody>
      </p:sp>
      <p:sp>
        <p:nvSpPr>
          <p:cNvPr id="626" name="y"/>
          <p:cNvSpPr/>
          <p:nvPr/>
        </p:nvSpPr>
        <p:spPr>
          <a:xfrm>
            <a:off x="4144790" y="4974240"/>
            <a:ext cx="788409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y</a:t>
            </a:r>
          </a:p>
        </p:txBody>
      </p:sp>
      <p:sp>
        <p:nvSpPr>
          <p:cNvPr id="627" name="σʹʹ"/>
          <p:cNvSpPr/>
          <p:nvPr/>
        </p:nvSpPr>
        <p:spPr>
          <a:xfrm>
            <a:off x="5373252" y="4974240"/>
            <a:ext cx="788408" cy="782080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3000">
                <a:latin typeface="PT Mono"/>
                <a:ea typeface="PT Mono"/>
                <a:cs typeface="PT Mono"/>
                <a:sym typeface="PT Mono"/>
              </a:defRPr>
            </a:pPr>
            <a:r>
              <a:t>σ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ʹʹ</a:t>
            </a:r>
          </a:p>
        </p:txBody>
      </p:sp>
      <p:cxnSp>
        <p:nvCxnSpPr>
          <p:cNvPr id="628" name="Connection Line"/>
          <p:cNvCxnSpPr>
            <a:stCxn id="625" idx="0"/>
            <a:endCxn id="626" idx="0"/>
          </p:cNvCxnSpPr>
          <p:nvPr/>
        </p:nvCxnSpPr>
        <p:spPr>
          <a:xfrm flipH="1" flipV="1">
            <a:off x="4538994" y="5365280"/>
            <a:ext cx="617407" cy="1323133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629" name="Connection Line"/>
          <p:cNvCxnSpPr>
            <a:stCxn id="627" idx="0"/>
            <a:endCxn id="625" idx="0"/>
          </p:cNvCxnSpPr>
          <p:nvPr/>
        </p:nvCxnSpPr>
        <p:spPr>
          <a:xfrm flipH="1">
            <a:off x="5156400" y="5365280"/>
            <a:ext cx="611057" cy="1323133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630" name="Connection Line"/>
          <p:cNvCxnSpPr>
            <a:stCxn id="625" idx="0"/>
            <a:endCxn id="619" idx="0"/>
          </p:cNvCxnSpPr>
          <p:nvPr/>
        </p:nvCxnSpPr>
        <p:spPr>
          <a:xfrm>
            <a:off x="5156400" y="6688412"/>
            <a:ext cx="611057" cy="1323133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631" name="Connection Line"/>
          <p:cNvCxnSpPr>
            <a:stCxn id="625" idx="0"/>
            <a:endCxn id="615" idx="0"/>
          </p:cNvCxnSpPr>
          <p:nvPr/>
        </p:nvCxnSpPr>
        <p:spPr>
          <a:xfrm flipH="1">
            <a:off x="3077209" y="6688412"/>
            <a:ext cx="2079192" cy="396939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632" name="Connection Line"/>
          <p:cNvCxnSpPr>
            <a:stCxn id="625" idx="0"/>
            <a:endCxn id="616" idx="0"/>
          </p:cNvCxnSpPr>
          <p:nvPr/>
        </p:nvCxnSpPr>
        <p:spPr>
          <a:xfrm flipH="1">
            <a:off x="4538994" y="6688412"/>
            <a:ext cx="617407" cy="396939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633" name="Connection Line"/>
          <p:cNvCxnSpPr>
            <a:stCxn id="619" idx="0"/>
            <a:endCxn id="627" idx="0"/>
          </p:cNvCxnSpPr>
          <p:nvPr/>
        </p:nvCxnSpPr>
        <p:spPr>
          <a:xfrm flipV="1">
            <a:off x="5767456" y="5365280"/>
            <a:ext cx="1" cy="2646265"/>
          </a:xfrm>
          <a:prstGeom prst="straightConnector1">
            <a:avLst/>
          </a:prstGeom>
          <a:ln w="50800">
            <a:solidFill>
              <a:srgbClr val="000000"/>
            </a:solidFill>
            <a:custDash>
              <a:ds d="200000" sp="200000"/>
            </a:custDash>
            <a:miter lim="400000"/>
          </a:ln>
        </p:spPr>
      </p:cxnSp>
      <p:cxnSp>
        <p:nvCxnSpPr>
          <p:cNvPr id="634" name="Connection Line"/>
          <p:cNvCxnSpPr>
            <a:stCxn id="626" idx="0"/>
            <a:endCxn id="616" idx="0"/>
          </p:cNvCxnSpPr>
          <p:nvPr/>
        </p:nvCxnSpPr>
        <p:spPr>
          <a:xfrm>
            <a:off x="4538994" y="5365280"/>
            <a:ext cx="1" cy="5292530"/>
          </a:xfrm>
          <a:prstGeom prst="straightConnector1">
            <a:avLst/>
          </a:prstGeom>
          <a:ln w="50800">
            <a:solidFill>
              <a:srgbClr val="000000"/>
            </a:solidFill>
            <a:custDash>
              <a:ds d="200000" sp="200000"/>
            </a:custDash>
            <a:miter lim="400000"/>
          </a:ln>
        </p:spPr>
      </p:cxnSp>
      <p:sp>
        <p:nvSpPr>
          <p:cNvPr id="635" name="Is this optimization safe?"/>
          <p:cNvSpPr txBox="1"/>
          <p:nvPr/>
        </p:nvSpPr>
        <p:spPr>
          <a:xfrm>
            <a:off x="9537787" y="8283629"/>
            <a:ext cx="11432859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 b="1" sz="7500"/>
            </a:lvl1pPr>
          </a:lstStyle>
          <a:p>
            <a:pPr/>
            <a:r>
              <a:t>Is this optimization safe?</a:t>
            </a:r>
          </a:p>
        </p:txBody>
      </p:sp>
      <p:grpSp>
        <p:nvGrpSpPr>
          <p:cNvPr id="651" name="Group"/>
          <p:cNvGrpSpPr/>
          <p:nvPr/>
        </p:nvGrpSpPr>
        <p:grpSpPr>
          <a:xfrm>
            <a:off x="-342901" y="53675"/>
            <a:ext cx="16671230" cy="654073"/>
            <a:chOff x="0" y="0"/>
            <a:chExt cx="16671228" cy="654072"/>
          </a:xfrm>
        </p:grpSpPr>
        <p:grpSp>
          <p:nvGrpSpPr>
            <p:cNvPr id="638" name="Group"/>
            <p:cNvGrpSpPr/>
            <p:nvPr/>
          </p:nvGrpSpPr>
          <p:grpSpPr>
            <a:xfrm>
              <a:off x="9884046" y="9824"/>
              <a:ext cx="3492501" cy="644249"/>
              <a:chOff x="0" y="0"/>
              <a:chExt cx="3492500" cy="644247"/>
            </a:xfrm>
          </p:grpSpPr>
          <p:sp>
            <p:nvSpPr>
              <p:cNvPr id="636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7100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37" name="Effectful E-Graphs"/>
              <p:cNvSpPr txBox="1"/>
              <p:nvPr/>
            </p:nvSpPr>
            <p:spPr>
              <a:xfrm>
                <a:off x="356779" y="69246"/>
                <a:ext cx="2911202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Effectful E-Graphs</a:t>
                </a:r>
              </a:p>
            </p:txBody>
          </p:sp>
        </p:grpSp>
        <p:grpSp>
          <p:nvGrpSpPr>
            <p:cNvPr id="641" name="Group"/>
            <p:cNvGrpSpPr/>
            <p:nvPr/>
          </p:nvGrpSpPr>
          <p:grpSpPr>
            <a:xfrm>
              <a:off x="13178728" y="0"/>
              <a:ext cx="3492501" cy="644248"/>
              <a:chOff x="0" y="0"/>
              <a:chExt cx="3492500" cy="644247"/>
            </a:xfrm>
          </p:grpSpPr>
          <p:sp>
            <p:nvSpPr>
              <p:cNvPr id="639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EAD3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</a:pPr>
              </a:p>
            </p:txBody>
          </p:sp>
          <p:sp>
            <p:nvSpPr>
              <p:cNvPr id="640" name="Effectful Extraction"/>
              <p:cNvSpPr txBox="1"/>
              <p:nvPr/>
            </p:nvSpPr>
            <p:spPr>
              <a:xfrm>
                <a:off x="284377" y="65926"/>
                <a:ext cx="3056005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Effectful Extraction</a:t>
                </a:r>
              </a:p>
            </p:txBody>
          </p:sp>
        </p:grpSp>
        <p:grpSp>
          <p:nvGrpSpPr>
            <p:cNvPr id="644" name="Group"/>
            <p:cNvGrpSpPr/>
            <p:nvPr/>
          </p:nvGrpSpPr>
          <p:grpSpPr>
            <a:xfrm>
              <a:off x="3294682" y="9824"/>
              <a:ext cx="3492501" cy="644249"/>
              <a:chOff x="0" y="0"/>
              <a:chExt cx="3492500" cy="644247"/>
            </a:xfrm>
          </p:grpSpPr>
          <p:sp>
            <p:nvSpPr>
              <p:cNvPr id="642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643" name="E-Graphs"/>
              <p:cNvSpPr txBox="1"/>
              <p:nvPr/>
            </p:nvSpPr>
            <p:spPr>
              <a:xfrm>
                <a:off x="934828" y="69246"/>
                <a:ext cx="1628104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E-Graphs</a:t>
                </a:r>
              </a:p>
            </p:txBody>
          </p:sp>
        </p:grpSp>
        <p:grpSp>
          <p:nvGrpSpPr>
            <p:cNvPr id="647" name="Group"/>
            <p:cNvGrpSpPr/>
            <p:nvPr/>
          </p:nvGrpSpPr>
          <p:grpSpPr>
            <a:xfrm>
              <a:off x="6589364" y="9824"/>
              <a:ext cx="3492501" cy="644249"/>
              <a:chOff x="0" y="0"/>
              <a:chExt cx="3492500" cy="644247"/>
            </a:xfrm>
          </p:grpSpPr>
          <p:sp>
            <p:nvSpPr>
              <p:cNvPr id="645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646" name="Extraction"/>
              <p:cNvSpPr txBox="1"/>
              <p:nvPr/>
            </p:nvSpPr>
            <p:spPr>
              <a:xfrm>
                <a:off x="790357" y="69246"/>
                <a:ext cx="1917046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Extraction</a:t>
                </a:r>
              </a:p>
            </p:txBody>
          </p:sp>
        </p:grpSp>
        <p:grpSp>
          <p:nvGrpSpPr>
            <p:cNvPr id="650" name="Group"/>
            <p:cNvGrpSpPr/>
            <p:nvPr/>
          </p:nvGrpSpPr>
          <p:grpSpPr>
            <a:xfrm>
              <a:off x="-1" y="9824"/>
              <a:ext cx="3492501" cy="644249"/>
              <a:chOff x="0" y="0"/>
              <a:chExt cx="3492500" cy="644247"/>
            </a:xfrm>
          </p:grpSpPr>
          <p:sp>
            <p:nvSpPr>
              <p:cNvPr id="648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649" name="Rewriting"/>
              <p:cNvSpPr txBox="1"/>
              <p:nvPr/>
            </p:nvSpPr>
            <p:spPr>
              <a:xfrm>
                <a:off x="852376" y="69246"/>
                <a:ext cx="1793009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Rewriting</a:t>
                </a:r>
              </a:p>
            </p:txBody>
          </p:sp>
        </p:grpSp>
      </p:grpSp>
      <p:sp>
        <p:nvSpPr>
          <p:cNvPr id="652" name="x = update(a, v)…"/>
          <p:cNvSpPr/>
          <p:nvPr/>
        </p:nvSpPr>
        <p:spPr>
          <a:xfrm>
            <a:off x="8936335" y="3791866"/>
            <a:ext cx="6511330" cy="267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2438338">
              <a:lnSpc>
                <a:spcPct val="18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x = update(a, v)</a:t>
            </a:r>
          </a:p>
          <a:p>
            <a:pPr algn="ctr" defTabSz="2438338">
              <a:lnSpc>
                <a:spcPct val="18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y=v</a:t>
            </a:r>
          </a:p>
        </p:txBody>
      </p:sp>
      <p:sp>
        <p:nvSpPr>
          <p:cNvPr id="653" name="update is idempotent"/>
          <p:cNvSpPr/>
          <p:nvPr/>
        </p:nvSpPr>
        <p:spPr>
          <a:xfrm>
            <a:off x="14869168" y="4614441"/>
            <a:ext cx="6486526" cy="10290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05" y="0"/>
                </a:moveTo>
                <a:cubicBezTo>
                  <a:pt x="2866" y="0"/>
                  <a:pt x="2753" y="714"/>
                  <a:pt x="2753" y="1591"/>
                </a:cubicBezTo>
                <a:lnTo>
                  <a:pt x="2753" y="4532"/>
                </a:lnTo>
                <a:lnTo>
                  <a:pt x="0" y="10588"/>
                </a:lnTo>
                <a:lnTo>
                  <a:pt x="2753" y="16652"/>
                </a:lnTo>
                <a:lnTo>
                  <a:pt x="2753" y="20017"/>
                </a:lnTo>
                <a:cubicBezTo>
                  <a:pt x="2753" y="20894"/>
                  <a:pt x="2866" y="21600"/>
                  <a:pt x="3005" y="21600"/>
                </a:cubicBezTo>
                <a:lnTo>
                  <a:pt x="21348" y="21600"/>
                </a:lnTo>
                <a:cubicBezTo>
                  <a:pt x="21487" y="21600"/>
                  <a:pt x="21600" y="20894"/>
                  <a:pt x="21600" y="20017"/>
                </a:cubicBezTo>
                <a:lnTo>
                  <a:pt x="21600" y="1591"/>
                </a:lnTo>
                <a:cubicBezTo>
                  <a:pt x="21600" y="714"/>
                  <a:pt x="21487" y="0"/>
                  <a:pt x="21348" y="0"/>
                </a:cubicBezTo>
                <a:lnTo>
                  <a:pt x="3005" y="0"/>
                </a:lnTo>
                <a:close/>
              </a:path>
            </a:pathLst>
          </a:custGeom>
          <a:solidFill>
            <a:srgbClr val="FFE5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0" tIns="127000" rIns="127000" bIns="12700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/>
            </a:lvl1pPr>
          </a:lstStyle>
          <a:p>
            <a:pPr/>
            <a:r>
              <a:t>update is idempotent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Redundant Update Elimin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Redundant Update Elimination</a:t>
            </a:r>
          </a:p>
        </p:txBody>
      </p:sp>
      <p:sp>
        <p:nvSpPr>
          <p:cNvPr id="6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685" name="Group"/>
          <p:cNvGrpSpPr/>
          <p:nvPr/>
        </p:nvGrpSpPr>
        <p:grpSpPr>
          <a:xfrm>
            <a:off x="18749526" y="636496"/>
            <a:ext cx="4161573" cy="2321902"/>
            <a:chOff x="0" y="0"/>
            <a:chExt cx="4161571" cy="2321900"/>
          </a:xfrm>
        </p:grpSpPr>
        <p:grpSp>
          <p:nvGrpSpPr>
            <p:cNvPr id="666" name="Group"/>
            <p:cNvGrpSpPr/>
            <p:nvPr/>
          </p:nvGrpSpPr>
          <p:grpSpPr>
            <a:xfrm>
              <a:off x="0" y="798432"/>
              <a:ext cx="1358704" cy="850828"/>
              <a:chOff x="0" y="0"/>
              <a:chExt cx="1358703" cy="850827"/>
            </a:xfrm>
          </p:grpSpPr>
          <p:sp>
            <p:nvSpPr>
              <p:cNvPr id="657" name="Rectangle"/>
              <p:cNvSpPr/>
              <p:nvPr/>
            </p:nvSpPr>
            <p:spPr>
              <a:xfrm>
                <a:off x="0" y="0"/>
                <a:ext cx="1358704" cy="85082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>
                <a:outerShdw sx="100000" sy="100000" kx="0" ky="0" algn="b" rotWithShape="0" blurRad="190500" dist="12700" dir="5400000">
                  <a:srgbClr val="000000"/>
                </a:outerShdw>
              </a:effectLst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20000"/>
                  </a:lnSpc>
                  <a:spcBef>
                    <a:spcPts val="0"/>
                  </a:spcBef>
                  <a:defRPr sz="4000"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658" name="Rectangle"/>
              <p:cNvSpPr/>
              <p:nvPr/>
            </p:nvSpPr>
            <p:spPr>
              <a:xfrm>
                <a:off x="58998" y="55847"/>
                <a:ext cx="768977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659" name="Rectangle"/>
              <p:cNvSpPr/>
              <p:nvPr/>
            </p:nvSpPr>
            <p:spPr>
              <a:xfrm>
                <a:off x="147476" y="152094"/>
                <a:ext cx="816546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660" name="Rectangle"/>
              <p:cNvSpPr/>
              <p:nvPr/>
            </p:nvSpPr>
            <p:spPr>
              <a:xfrm>
                <a:off x="147476" y="248342"/>
                <a:ext cx="1014043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661" name="Rectangle"/>
              <p:cNvSpPr/>
              <p:nvPr/>
            </p:nvSpPr>
            <p:spPr>
              <a:xfrm>
                <a:off x="241391" y="344589"/>
                <a:ext cx="436932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662" name="Rectangle"/>
              <p:cNvSpPr/>
              <p:nvPr/>
            </p:nvSpPr>
            <p:spPr>
              <a:xfrm>
                <a:off x="147476" y="440836"/>
                <a:ext cx="632390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663" name="Rectangle"/>
              <p:cNvSpPr/>
              <p:nvPr/>
            </p:nvSpPr>
            <p:spPr>
              <a:xfrm>
                <a:off x="241391" y="537083"/>
                <a:ext cx="722018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664" name="Rectangle"/>
              <p:cNvSpPr/>
              <p:nvPr/>
            </p:nvSpPr>
            <p:spPr>
              <a:xfrm>
                <a:off x="147476" y="633331"/>
                <a:ext cx="601032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665" name="Rectangle"/>
              <p:cNvSpPr/>
              <p:nvPr/>
            </p:nvSpPr>
            <p:spPr>
              <a:xfrm>
                <a:off x="147476" y="729577"/>
                <a:ext cx="1152230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</p:grpSp>
        <p:grpSp>
          <p:nvGrpSpPr>
            <p:cNvPr id="683" name="Group"/>
            <p:cNvGrpSpPr/>
            <p:nvPr/>
          </p:nvGrpSpPr>
          <p:grpSpPr>
            <a:xfrm>
              <a:off x="2461159" y="0"/>
              <a:ext cx="1700413" cy="2321901"/>
              <a:chOff x="0" y="0"/>
              <a:chExt cx="1700412" cy="2321900"/>
            </a:xfrm>
          </p:grpSpPr>
          <p:sp>
            <p:nvSpPr>
              <p:cNvPr id="667" name="Rounded Rectangle"/>
              <p:cNvSpPr/>
              <p:nvPr/>
            </p:nvSpPr>
            <p:spPr>
              <a:xfrm>
                <a:off x="1401611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68" name="Rounded Rectangle"/>
              <p:cNvSpPr/>
              <p:nvPr/>
            </p:nvSpPr>
            <p:spPr>
              <a:xfrm>
                <a:off x="1051208" y="1364403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69" name="Rounded Rectangle"/>
              <p:cNvSpPr/>
              <p:nvPr/>
            </p:nvSpPr>
            <p:spPr>
              <a:xfrm>
                <a:off x="700805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70" name="Rounded Rectangle"/>
              <p:cNvSpPr/>
              <p:nvPr/>
            </p:nvSpPr>
            <p:spPr>
              <a:xfrm>
                <a:off x="700805" y="682201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71" name="Rounded Rectangle"/>
              <p:cNvSpPr/>
              <p:nvPr/>
            </p:nvSpPr>
            <p:spPr>
              <a:xfrm>
                <a:off x="409431" y="1364403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72" name="Rounded Rectangle"/>
              <p:cNvSpPr/>
              <p:nvPr/>
            </p:nvSpPr>
            <p:spPr>
              <a:xfrm>
                <a:off x="0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cxnSp>
            <p:nvCxnSpPr>
              <p:cNvPr id="673" name="Connection Line"/>
              <p:cNvCxnSpPr>
                <a:stCxn id="668" idx="0"/>
                <a:endCxn id="667" idx="0"/>
              </p:cNvCxnSpPr>
              <p:nvPr/>
            </p:nvCxnSpPr>
            <p:spPr>
              <a:xfrm>
                <a:off x="1200608" y="1513804"/>
                <a:ext cx="350405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674" name="Connection Line"/>
              <p:cNvCxnSpPr>
                <a:stCxn id="668" idx="0"/>
                <a:endCxn id="669" idx="0"/>
              </p:cNvCxnSpPr>
              <p:nvPr/>
            </p:nvCxnSpPr>
            <p:spPr>
              <a:xfrm flipH="1">
                <a:off x="850206" y="1513804"/>
                <a:ext cx="350403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675" name="Connection Line"/>
              <p:cNvCxnSpPr>
                <a:stCxn id="671" idx="0"/>
                <a:endCxn id="669" idx="0"/>
              </p:cNvCxnSpPr>
              <p:nvPr/>
            </p:nvCxnSpPr>
            <p:spPr>
              <a:xfrm>
                <a:off x="558831" y="1513804"/>
                <a:ext cx="291376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676" name="Connection Line"/>
              <p:cNvCxnSpPr>
                <a:stCxn id="671" idx="0"/>
                <a:endCxn id="672" idx="0"/>
              </p:cNvCxnSpPr>
              <p:nvPr/>
            </p:nvCxnSpPr>
            <p:spPr>
              <a:xfrm flipH="1">
                <a:off x="149400" y="1513804"/>
                <a:ext cx="409432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677" name="Connection Line"/>
              <p:cNvCxnSpPr>
                <a:stCxn id="671" idx="0"/>
                <a:endCxn id="672" idx="0"/>
              </p:cNvCxnSpPr>
              <p:nvPr/>
            </p:nvCxnSpPr>
            <p:spPr>
              <a:xfrm flipH="1">
                <a:off x="149400" y="1513804"/>
                <a:ext cx="409432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sp>
            <p:nvSpPr>
              <p:cNvPr id="678" name="Rounded Rectangle"/>
              <p:cNvSpPr/>
              <p:nvPr/>
            </p:nvSpPr>
            <p:spPr>
              <a:xfrm>
                <a:off x="700805" y="0"/>
                <a:ext cx="298802" cy="298802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cxnSp>
            <p:nvCxnSpPr>
              <p:cNvPr id="679" name="Connection Line"/>
              <p:cNvCxnSpPr>
                <a:stCxn id="678" idx="0"/>
                <a:endCxn id="670" idx="0"/>
              </p:cNvCxnSpPr>
              <p:nvPr/>
            </p:nvCxnSpPr>
            <p:spPr>
              <a:xfrm>
                <a:off x="850206" y="149400"/>
                <a:ext cx="1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680" name="Connection Line"/>
              <p:cNvCxnSpPr>
                <a:stCxn id="667" idx="0"/>
                <a:endCxn id="670" idx="0"/>
              </p:cNvCxnSpPr>
              <p:nvPr/>
            </p:nvCxnSpPr>
            <p:spPr>
              <a:xfrm flipH="1" flipV="1">
                <a:off x="850206" y="831602"/>
                <a:ext cx="700807" cy="1340898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  <p:cxnSp>
            <p:nvCxnSpPr>
              <p:cNvPr id="681" name="Connection Line"/>
              <p:cNvCxnSpPr>
                <a:stCxn id="668" idx="0"/>
                <a:endCxn id="670" idx="0"/>
              </p:cNvCxnSpPr>
              <p:nvPr/>
            </p:nvCxnSpPr>
            <p:spPr>
              <a:xfrm flipH="1" flipV="1">
                <a:off x="850206" y="831602"/>
                <a:ext cx="350403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  <p:cxnSp>
            <p:nvCxnSpPr>
              <p:cNvPr id="682" name="Connection Line"/>
              <p:cNvCxnSpPr>
                <a:stCxn id="671" idx="0"/>
                <a:endCxn id="670" idx="0"/>
              </p:cNvCxnSpPr>
              <p:nvPr/>
            </p:nvCxnSpPr>
            <p:spPr>
              <a:xfrm flipV="1">
                <a:off x="558831" y="831602"/>
                <a:ext cx="291376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</p:grpSp>
        <p:sp>
          <p:nvSpPr>
            <p:cNvPr id="684" name="Arrow"/>
            <p:cNvSpPr/>
            <p:nvPr/>
          </p:nvSpPr>
          <p:spPr>
            <a:xfrm>
              <a:off x="1911016" y="1085646"/>
              <a:ext cx="479197" cy="276400"/>
            </a:xfrm>
            <a:prstGeom prst="rightArrow">
              <a:avLst>
                <a:gd name="adj1" fmla="val 34890"/>
                <a:gd name="adj2" fmla="val 5632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17500" tIns="317500" rIns="317500" bIns="317500" numCol="1" anchor="ctr">
              <a:noAutofit/>
            </a:bodyPr>
            <a:lstStyle/>
            <a:p>
              <a:pPr defTabSz="2438338">
                <a:lnSpc>
                  <a:spcPct val="130000"/>
                </a:lnSpc>
                <a:defRPr>
                  <a:latin typeface="PT Mono"/>
                  <a:ea typeface="PT Mono"/>
                  <a:cs typeface="PT Mono"/>
                  <a:sym typeface="PT Mono"/>
                </a:defRPr>
              </a:pPr>
            </a:p>
          </p:txBody>
        </p:sp>
      </p:grpSp>
      <p:grpSp>
        <p:nvGrpSpPr>
          <p:cNvPr id="701" name="Group"/>
          <p:cNvGrpSpPr/>
          <p:nvPr/>
        </p:nvGrpSpPr>
        <p:grpSpPr>
          <a:xfrm>
            <a:off x="-342901" y="53675"/>
            <a:ext cx="16671230" cy="654073"/>
            <a:chOff x="0" y="0"/>
            <a:chExt cx="16671228" cy="654072"/>
          </a:xfrm>
        </p:grpSpPr>
        <p:grpSp>
          <p:nvGrpSpPr>
            <p:cNvPr id="688" name="Group"/>
            <p:cNvGrpSpPr/>
            <p:nvPr/>
          </p:nvGrpSpPr>
          <p:grpSpPr>
            <a:xfrm>
              <a:off x="9884046" y="9824"/>
              <a:ext cx="3492501" cy="644249"/>
              <a:chOff x="0" y="0"/>
              <a:chExt cx="3492500" cy="644247"/>
            </a:xfrm>
          </p:grpSpPr>
          <p:sp>
            <p:nvSpPr>
              <p:cNvPr id="686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7100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687" name="Effectful E-Graphs"/>
              <p:cNvSpPr txBox="1"/>
              <p:nvPr/>
            </p:nvSpPr>
            <p:spPr>
              <a:xfrm>
                <a:off x="356779" y="69246"/>
                <a:ext cx="2911202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Effectful E-Graphs</a:t>
                </a:r>
              </a:p>
            </p:txBody>
          </p:sp>
        </p:grpSp>
        <p:grpSp>
          <p:nvGrpSpPr>
            <p:cNvPr id="691" name="Group"/>
            <p:cNvGrpSpPr/>
            <p:nvPr/>
          </p:nvGrpSpPr>
          <p:grpSpPr>
            <a:xfrm>
              <a:off x="13178728" y="0"/>
              <a:ext cx="3492501" cy="644248"/>
              <a:chOff x="0" y="0"/>
              <a:chExt cx="3492500" cy="644247"/>
            </a:xfrm>
          </p:grpSpPr>
          <p:sp>
            <p:nvSpPr>
              <p:cNvPr id="689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EAD3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</a:pPr>
              </a:p>
            </p:txBody>
          </p:sp>
          <p:sp>
            <p:nvSpPr>
              <p:cNvPr id="690" name="Effectful Extraction"/>
              <p:cNvSpPr txBox="1"/>
              <p:nvPr/>
            </p:nvSpPr>
            <p:spPr>
              <a:xfrm>
                <a:off x="284377" y="65926"/>
                <a:ext cx="3056005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Effectful Extraction</a:t>
                </a:r>
              </a:p>
            </p:txBody>
          </p:sp>
        </p:grpSp>
        <p:grpSp>
          <p:nvGrpSpPr>
            <p:cNvPr id="694" name="Group"/>
            <p:cNvGrpSpPr/>
            <p:nvPr/>
          </p:nvGrpSpPr>
          <p:grpSpPr>
            <a:xfrm>
              <a:off x="3294682" y="9824"/>
              <a:ext cx="3492501" cy="644249"/>
              <a:chOff x="0" y="0"/>
              <a:chExt cx="3492500" cy="644247"/>
            </a:xfrm>
          </p:grpSpPr>
          <p:sp>
            <p:nvSpPr>
              <p:cNvPr id="692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693" name="E-Graphs"/>
              <p:cNvSpPr txBox="1"/>
              <p:nvPr/>
            </p:nvSpPr>
            <p:spPr>
              <a:xfrm>
                <a:off x="934828" y="69246"/>
                <a:ext cx="1628104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E-Graphs</a:t>
                </a:r>
              </a:p>
            </p:txBody>
          </p:sp>
        </p:grpSp>
        <p:grpSp>
          <p:nvGrpSpPr>
            <p:cNvPr id="697" name="Group"/>
            <p:cNvGrpSpPr/>
            <p:nvPr/>
          </p:nvGrpSpPr>
          <p:grpSpPr>
            <a:xfrm>
              <a:off x="6589364" y="9824"/>
              <a:ext cx="3492501" cy="644249"/>
              <a:chOff x="0" y="0"/>
              <a:chExt cx="3492500" cy="644247"/>
            </a:xfrm>
          </p:grpSpPr>
          <p:sp>
            <p:nvSpPr>
              <p:cNvPr id="695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696" name="Extraction"/>
              <p:cNvSpPr txBox="1"/>
              <p:nvPr/>
            </p:nvSpPr>
            <p:spPr>
              <a:xfrm>
                <a:off x="790357" y="69246"/>
                <a:ext cx="1917046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Extraction</a:t>
                </a:r>
              </a:p>
            </p:txBody>
          </p:sp>
        </p:grpSp>
        <p:grpSp>
          <p:nvGrpSpPr>
            <p:cNvPr id="700" name="Group"/>
            <p:cNvGrpSpPr/>
            <p:nvPr/>
          </p:nvGrpSpPr>
          <p:grpSpPr>
            <a:xfrm>
              <a:off x="-1" y="9824"/>
              <a:ext cx="3492501" cy="644249"/>
              <a:chOff x="0" y="0"/>
              <a:chExt cx="3492500" cy="644247"/>
            </a:xfrm>
          </p:grpSpPr>
          <p:sp>
            <p:nvSpPr>
              <p:cNvPr id="698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699" name="Rewriting"/>
              <p:cNvSpPr txBox="1"/>
              <p:nvPr/>
            </p:nvSpPr>
            <p:spPr>
              <a:xfrm>
                <a:off x="852376" y="69246"/>
                <a:ext cx="1793009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Rewriting</a:t>
                </a:r>
              </a:p>
            </p:txBody>
          </p:sp>
        </p:grpSp>
      </p:grpSp>
      <p:sp>
        <p:nvSpPr>
          <p:cNvPr id="702" name="(v1, σ1) = update(a, x)…"/>
          <p:cNvSpPr/>
          <p:nvPr/>
        </p:nvSpPr>
        <p:spPr>
          <a:xfrm>
            <a:off x="412218" y="4557437"/>
            <a:ext cx="9244926" cy="432403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1</a:t>
            </a:r>
            <a:r>
              <a:t>, σ</a:t>
            </a:r>
            <a:r>
              <a:rPr baseline="-5999"/>
              <a:t>1</a:t>
            </a:r>
            <a:r>
              <a:t>) = update(a, x)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2</a:t>
            </a:r>
            <a:r>
              <a:t>, σ</a:t>
            </a:r>
            <a:r>
              <a:rPr baseline="-5999"/>
              <a:t>2</a:t>
            </a:r>
            <a:r>
              <a:t>) = update(a, x)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3</a:t>
            </a:r>
            <a:r>
              <a:t>, σ</a:t>
            </a:r>
            <a:r>
              <a:rPr baseline="-5999"/>
              <a:t>3</a:t>
            </a:r>
            <a:r>
              <a:t>) = update(b, y)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4</a:t>
            </a:r>
            <a:r>
              <a:t>, σ</a:t>
            </a:r>
            <a:r>
              <a:rPr baseline="-5999"/>
              <a:t>4</a:t>
            </a:r>
            <a:r>
              <a:t>) = update(c, v</a:t>
            </a:r>
            <a:r>
              <a:rPr baseline="-5999"/>
              <a:t>2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Redundant Update Elimin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Redundant Update Elimination</a:t>
            </a:r>
          </a:p>
        </p:txBody>
      </p:sp>
      <p:sp>
        <p:nvSpPr>
          <p:cNvPr id="70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734" name="Group"/>
          <p:cNvGrpSpPr/>
          <p:nvPr/>
        </p:nvGrpSpPr>
        <p:grpSpPr>
          <a:xfrm>
            <a:off x="18749526" y="636496"/>
            <a:ext cx="4161573" cy="2321902"/>
            <a:chOff x="0" y="0"/>
            <a:chExt cx="4161571" cy="2321900"/>
          </a:xfrm>
        </p:grpSpPr>
        <p:grpSp>
          <p:nvGrpSpPr>
            <p:cNvPr id="715" name="Group"/>
            <p:cNvGrpSpPr/>
            <p:nvPr/>
          </p:nvGrpSpPr>
          <p:grpSpPr>
            <a:xfrm>
              <a:off x="0" y="798432"/>
              <a:ext cx="1358704" cy="850828"/>
              <a:chOff x="0" y="0"/>
              <a:chExt cx="1358703" cy="850827"/>
            </a:xfrm>
          </p:grpSpPr>
          <p:sp>
            <p:nvSpPr>
              <p:cNvPr id="706" name="Rectangle"/>
              <p:cNvSpPr/>
              <p:nvPr/>
            </p:nvSpPr>
            <p:spPr>
              <a:xfrm>
                <a:off x="0" y="0"/>
                <a:ext cx="1358704" cy="85082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>
                <a:outerShdw sx="100000" sy="100000" kx="0" ky="0" algn="b" rotWithShape="0" blurRad="190500" dist="12700" dir="5400000">
                  <a:srgbClr val="000000"/>
                </a:outerShdw>
              </a:effectLst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20000"/>
                  </a:lnSpc>
                  <a:spcBef>
                    <a:spcPts val="0"/>
                  </a:spcBef>
                  <a:defRPr sz="4000"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07" name="Rectangle"/>
              <p:cNvSpPr/>
              <p:nvPr/>
            </p:nvSpPr>
            <p:spPr>
              <a:xfrm>
                <a:off x="58998" y="55847"/>
                <a:ext cx="768977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08" name="Rectangle"/>
              <p:cNvSpPr/>
              <p:nvPr/>
            </p:nvSpPr>
            <p:spPr>
              <a:xfrm>
                <a:off x="147476" y="152094"/>
                <a:ext cx="816546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09" name="Rectangle"/>
              <p:cNvSpPr/>
              <p:nvPr/>
            </p:nvSpPr>
            <p:spPr>
              <a:xfrm>
                <a:off x="147476" y="248342"/>
                <a:ext cx="1014043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10" name="Rectangle"/>
              <p:cNvSpPr/>
              <p:nvPr/>
            </p:nvSpPr>
            <p:spPr>
              <a:xfrm>
                <a:off x="241391" y="344589"/>
                <a:ext cx="436932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11" name="Rectangle"/>
              <p:cNvSpPr/>
              <p:nvPr/>
            </p:nvSpPr>
            <p:spPr>
              <a:xfrm>
                <a:off x="147476" y="440836"/>
                <a:ext cx="632390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12" name="Rectangle"/>
              <p:cNvSpPr/>
              <p:nvPr/>
            </p:nvSpPr>
            <p:spPr>
              <a:xfrm>
                <a:off x="241391" y="537083"/>
                <a:ext cx="722018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13" name="Rectangle"/>
              <p:cNvSpPr/>
              <p:nvPr/>
            </p:nvSpPr>
            <p:spPr>
              <a:xfrm>
                <a:off x="147476" y="633331"/>
                <a:ext cx="601032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14" name="Rectangle"/>
              <p:cNvSpPr/>
              <p:nvPr/>
            </p:nvSpPr>
            <p:spPr>
              <a:xfrm>
                <a:off x="147476" y="729577"/>
                <a:ext cx="1152230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</p:grpSp>
        <p:grpSp>
          <p:nvGrpSpPr>
            <p:cNvPr id="732" name="Group"/>
            <p:cNvGrpSpPr/>
            <p:nvPr/>
          </p:nvGrpSpPr>
          <p:grpSpPr>
            <a:xfrm>
              <a:off x="2461159" y="0"/>
              <a:ext cx="1700413" cy="2321901"/>
              <a:chOff x="0" y="0"/>
              <a:chExt cx="1700412" cy="2321900"/>
            </a:xfrm>
          </p:grpSpPr>
          <p:sp>
            <p:nvSpPr>
              <p:cNvPr id="716" name="Rounded Rectangle"/>
              <p:cNvSpPr/>
              <p:nvPr/>
            </p:nvSpPr>
            <p:spPr>
              <a:xfrm>
                <a:off x="1401611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17" name="Rounded Rectangle"/>
              <p:cNvSpPr/>
              <p:nvPr/>
            </p:nvSpPr>
            <p:spPr>
              <a:xfrm>
                <a:off x="1051208" y="1364403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18" name="Rounded Rectangle"/>
              <p:cNvSpPr/>
              <p:nvPr/>
            </p:nvSpPr>
            <p:spPr>
              <a:xfrm>
                <a:off x="700805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19" name="Rounded Rectangle"/>
              <p:cNvSpPr/>
              <p:nvPr/>
            </p:nvSpPr>
            <p:spPr>
              <a:xfrm>
                <a:off x="700805" y="682201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20" name="Rounded Rectangle"/>
              <p:cNvSpPr/>
              <p:nvPr/>
            </p:nvSpPr>
            <p:spPr>
              <a:xfrm>
                <a:off x="409431" y="1364403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21" name="Rounded Rectangle"/>
              <p:cNvSpPr/>
              <p:nvPr/>
            </p:nvSpPr>
            <p:spPr>
              <a:xfrm>
                <a:off x="0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cxnSp>
            <p:nvCxnSpPr>
              <p:cNvPr id="722" name="Connection Line"/>
              <p:cNvCxnSpPr>
                <a:stCxn id="717" idx="0"/>
                <a:endCxn id="716" idx="0"/>
              </p:cNvCxnSpPr>
              <p:nvPr/>
            </p:nvCxnSpPr>
            <p:spPr>
              <a:xfrm>
                <a:off x="1200608" y="1513804"/>
                <a:ext cx="350405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723" name="Connection Line"/>
              <p:cNvCxnSpPr>
                <a:stCxn id="717" idx="0"/>
                <a:endCxn id="718" idx="0"/>
              </p:cNvCxnSpPr>
              <p:nvPr/>
            </p:nvCxnSpPr>
            <p:spPr>
              <a:xfrm flipH="1">
                <a:off x="850206" y="1513804"/>
                <a:ext cx="350403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724" name="Connection Line"/>
              <p:cNvCxnSpPr>
                <a:stCxn id="720" idx="0"/>
                <a:endCxn id="718" idx="0"/>
              </p:cNvCxnSpPr>
              <p:nvPr/>
            </p:nvCxnSpPr>
            <p:spPr>
              <a:xfrm>
                <a:off x="558831" y="1513804"/>
                <a:ext cx="291376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725" name="Connection Line"/>
              <p:cNvCxnSpPr>
                <a:stCxn id="720" idx="0"/>
                <a:endCxn id="721" idx="0"/>
              </p:cNvCxnSpPr>
              <p:nvPr/>
            </p:nvCxnSpPr>
            <p:spPr>
              <a:xfrm flipH="1">
                <a:off x="149400" y="1513804"/>
                <a:ext cx="409432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726" name="Connection Line"/>
              <p:cNvCxnSpPr>
                <a:stCxn id="720" idx="0"/>
                <a:endCxn id="721" idx="0"/>
              </p:cNvCxnSpPr>
              <p:nvPr/>
            </p:nvCxnSpPr>
            <p:spPr>
              <a:xfrm flipH="1">
                <a:off x="149400" y="1513804"/>
                <a:ext cx="409432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sp>
            <p:nvSpPr>
              <p:cNvPr id="727" name="Rounded Rectangle"/>
              <p:cNvSpPr/>
              <p:nvPr/>
            </p:nvSpPr>
            <p:spPr>
              <a:xfrm>
                <a:off x="700805" y="0"/>
                <a:ext cx="298802" cy="298802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cxnSp>
            <p:nvCxnSpPr>
              <p:cNvPr id="728" name="Connection Line"/>
              <p:cNvCxnSpPr>
                <a:stCxn id="727" idx="0"/>
                <a:endCxn id="719" idx="0"/>
              </p:cNvCxnSpPr>
              <p:nvPr/>
            </p:nvCxnSpPr>
            <p:spPr>
              <a:xfrm>
                <a:off x="850206" y="149400"/>
                <a:ext cx="1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729" name="Connection Line"/>
              <p:cNvCxnSpPr>
                <a:stCxn id="716" idx="0"/>
                <a:endCxn id="719" idx="0"/>
              </p:cNvCxnSpPr>
              <p:nvPr/>
            </p:nvCxnSpPr>
            <p:spPr>
              <a:xfrm flipH="1" flipV="1">
                <a:off x="850206" y="831602"/>
                <a:ext cx="700807" cy="1340898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  <p:cxnSp>
            <p:nvCxnSpPr>
              <p:cNvPr id="730" name="Connection Line"/>
              <p:cNvCxnSpPr>
                <a:stCxn id="717" idx="0"/>
                <a:endCxn id="719" idx="0"/>
              </p:cNvCxnSpPr>
              <p:nvPr/>
            </p:nvCxnSpPr>
            <p:spPr>
              <a:xfrm flipH="1" flipV="1">
                <a:off x="850206" y="831602"/>
                <a:ext cx="350403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  <p:cxnSp>
            <p:nvCxnSpPr>
              <p:cNvPr id="731" name="Connection Line"/>
              <p:cNvCxnSpPr>
                <a:stCxn id="720" idx="0"/>
                <a:endCxn id="719" idx="0"/>
              </p:cNvCxnSpPr>
              <p:nvPr/>
            </p:nvCxnSpPr>
            <p:spPr>
              <a:xfrm flipV="1">
                <a:off x="558831" y="831602"/>
                <a:ext cx="291376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</p:grpSp>
        <p:sp>
          <p:nvSpPr>
            <p:cNvPr id="733" name="Arrow"/>
            <p:cNvSpPr/>
            <p:nvPr/>
          </p:nvSpPr>
          <p:spPr>
            <a:xfrm>
              <a:off x="1911016" y="1085646"/>
              <a:ext cx="479197" cy="276400"/>
            </a:xfrm>
            <a:prstGeom prst="rightArrow">
              <a:avLst>
                <a:gd name="adj1" fmla="val 34890"/>
                <a:gd name="adj2" fmla="val 5632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17500" tIns="317500" rIns="317500" bIns="317500" numCol="1" anchor="ctr">
              <a:noAutofit/>
            </a:bodyPr>
            <a:lstStyle/>
            <a:p>
              <a:pPr defTabSz="2438338">
                <a:lnSpc>
                  <a:spcPct val="130000"/>
                </a:lnSpc>
                <a:defRPr>
                  <a:latin typeface="PT Mono"/>
                  <a:ea typeface="PT Mono"/>
                  <a:cs typeface="PT Mono"/>
                  <a:sym typeface="PT Mono"/>
                </a:defRPr>
              </a:pPr>
            </a:p>
          </p:txBody>
        </p:sp>
      </p:grpSp>
      <p:grpSp>
        <p:nvGrpSpPr>
          <p:cNvPr id="750" name="Group"/>
          <p:cNvGrpSpPr/>
          <p:nvPr/>
        </p:nvGrpSpPr>
        <p:grpSpPr>
          <a:xfrm>
            <a:off x="-342901" y="53675"/>
            <a:ext cx="16671230" cy="654073"/>
            <a:chOff x="0" y="0"/>
            <a:chExt cx="16671228" cy="654072"/>
          </a:xfrm>
        </p:grpSpPr>
        <p:grpSp>
          <p:nvGrpSpPr>
            <p:cNvPr id="737" name="Group"/>
            <p:cNvGrpSpPr/>
            <p:nvPr/>
          </p:nvGrpSpPr>
          <p:grpSpPr>
            <a:xfrm>
              <a:off x="9884046" y="9824"/>
              <a:ext cx="3492501" cy="644249"/>
              <a:chOff x="0" y="0"/>
              <a:chExt cx="3492500" cy="644247"/>
            </a:xfrm>
          </p:grpSpPr>
          <p:sp>
            <p:nvSpPr>
              <p:cNvPr id="735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7100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36" name="Effectful E-Graphs"/>
              <p:cNvSpPr txBox="1"/>
              <p:nvPr/>
            </p:nvSpPr>
            <p:spPr>
              <a:xfrm>
                <a:off x="356779" y="69246"/>
                <a:ext cx="2911202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Effectful E-Graphs</a:t>
                </a:r>
              </a:p>
            </p:txBody>
          </p:sp>
        </p:grpSp>
        <p:grpSp>
          <p:nvGrpSpPr>
            <p:cNvPr id="740" name="Group"/>
            <p:cNvGrpSpPr/>
            <p:nvPr/>
          </p:nvGrpSpPr>
          <p:grpSpPr>
            <a:xfrm>
              <a:off x="13178728" y="0"/>
              <a:ext cx="3492501" cy="644248"/>
              <a:chOff x="0" y="0"/>
              <a:chExt cx="3492500" cy="644247"/>
            </a:xfrm>
          </p:grpSpPr>
          <p:sp>
            <p:nvSpPr>
              <p:cNvPr id="738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EAD3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</a:pPr>
              </a:p>
            </p:txBody>
          </p:sp>
          <p:sp>
            <p:nvSpPr>
              <p:cNvPr id="739" name="Effectful Extraction"/>
              <p:cNvSpPr txBox="1"/>
              <p:nvPr/>
            </p:nvSpPr>
            <p:spPr>
              <a:xfrm>
                <a:off x="284377" y="65926"/>
                <a:ext cx="3056005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Effectful Extraction</a:t>
                </a:r>
              </a:p>
            </p:txBody>
          </p:sp>
        </p:grpSp>
        <p:grpSp>
          <p:nvGrpSpPr>
            <p:cNvPr id="743" name="Group"/>
            <p:cNvGrpSpPr/>
            <p:nvPr/>
          </p:nvGrpSpPr>
          <p:grpSpPr>
            <a:xfrm>
              <a:off x="3294682" y="9824"/>
              <a:ext cx="3492501" cy="644249"/>
              <a:chOff x="0" y="0"/>
              <a:chExt cx="3492500" cy="644247"/>
            </a:xfrm>
          </p:grpSpPr>
          <p:sp>
            <p:nvSpPr>
              <p:cNvPr id="741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742" name="E-Graphs"/>
              <p:cNvSpPr txBox="1"/>
              <p:nvPr/>
            </p:nvSpPr>
            <p:spPr>
              <a:xfrm>
                <a:off x="934828" y="69246"/>
                <a:ext cx="1628104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E-Graphs</a:t>
                </a:r>
              </a:p>
            </p:txBody>
          </p:sp>
        </p:grpSp>
        <p:grpSp>
          <p:nvGrpSpPr>
            <p:cNvPr id="746" name="Group"/>
            <p:cNvGrpSpPr/>
            <p:nvPr/>
          </p:nvGrpSpPr>
          <p:grpSpPr>
            <a:xfrm>
              <a:off x="6589364" y="9824"/>
              <a:ext cx="3492501" cy="644249"/>
              <a:chOff x="0" y="0"/>
              <a:chExt cx="3492500" cy="644247"/>
            </a:xfrm>
          </p:grpSpPr>
          <p:sp>
            <p:nvSpPr>
              <p:cNvPr id="744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745" name="Extraction"/>
              <p:cNvSpPr txBox="1"/>
              <p:nvPr/>
            </p:nvSpPr>
            <p:spPr>
              <a:xfrm>
                <a:off x="790357" y="69246"/>
                <a:ext cx="1917046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Extraction</a:t>
                </a:r>
              </a:p>
            </p:txBody>
          </p:sp>
        </p:grpSp>
        <p:grpSp>
          <p:nvGrpSpPr>
            <p:cNvPr id="749" name="Group"/>
            <p:cNvGrpSpPr/>
            <p:nvPr/>
          </p:nvGrpSpPr>
          <p:grpSpPr>
            <a:xfrm>
              <a:off x="-1" y="9824"/>
              <a:ext cx="3492501" cy="644249"/>
              <a:chOff x="0" y="0"/>
              <a:chExt cx="3492500" cy="644247"/>
            </a:xfrm>
          </p:grpSpPr>
          <p:sp>
            <p:nvSpPr>
              <p:cNvPr id="747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748" name="Rewriting"/>
              <p:cNvSpPr txBox="1"/>
              <p:nvPr/>
            </p:nvSpPr>
            <p:spPr>
              <a:xfrm>
                <a:off x="852376" y="69246"/>
                <a:ext cx="1793009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Rewriting</a:t>
                </a:r>
              </a:p>
            </p:txBody>
          </p:sp>
        </p:grpSp>
      </p:grpSp>
      <p:sp>
        <p:nvSpPr>
          <p:cNvPr id="751" name="(v1, σ1) = update(a, x)…"/>
          <p:cNvSpPr/>
          <p:nvPr/>
        </p:nvSpPr>
        <p:spPr>
          <a:xfrm>
            <a:off x="412218" y="4557437"/>
            <a:ext cx="9244926" cy="432403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1</a:t>
            </a:r>
            <a:r>
              <a:t>, σ</a:t>
            </a:r>
            <a:r>
              <a:rPr baseline="-5999"/>
              <a:t>1</a:t>
            </a:r>
            <a:r>
              <a:t>) = update(a, x)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2</a:t>
            </a:r>
            <a:r>
              <a:t>, σ</a:t>
            </a:r>
            <a:r>
              <a:rPr baseline="-5999"/>
              <a:t>2</a:t>
            </a:r>
            <a:r>
              <a:t>) = update(a, x)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3</a:t>
            </a:r>
            <a:r>
              <a:t>, σ</a:t>
            </a:r>
            <a:r>
              <a:rPr baseline="-5999"/>
              <a:t>3</a:t>
            </a:r>
            <a:r>
              <a:t>) = update(b, y)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4</a:t>
            </a:r>
            <a:r>
              <a:t>, σ</a:t>
            </a:r>
            <a:r>
              <a:rPr baseline="-5999"/>
              <a:t>4</a:t>
            </a:r>
            <a:r>
              <a:t>) = update(c, v</a:t>
            </a:r>
            <a:r>
              <a:rPr baseline="-5999"/>
              <a:t>2</a:t>
            </a:r>
            <a:r>
              <a:t>)</a:t>
            </a:r>
          </a:p>
        </p:txBody>
      </p:sp>
      <p:grpSp>
        <p:nvGrpSpPr>
          <p:cNvPr id="763" name="Group"/>
          <p:cNvGrpSpPr/>
          <p:nvPr/>
        </p:nvGrpSpPr>
        <p:grpSpPr>
          <a:xfrm>
            <a:off x="7635283" y="9844941"/>
            <a:ext cx="7653572" cy="3388945"/>
            <a:chOff x="0" y="0"/>
            <a:chExt cx="7653570" cy="3388944"/>
          </a:xfrm>
        </p:grpSpPr>
        <p:sp>
          <p:nvSpPr>
            <p:cNvPr id="752" name="σ"/>
            <p:cNvSpPr/>
            <p:nvPr/>
          </p:nvSpPr>
          <p:spPr>
            <a:xfrm>
              <a:off x="6840770" y="2582668"/>
              <a:ext cx="812801" cy="806277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σ</a:t>
              </a:r>
            </a:p>
          </p:txBody>
        </p:sp>
        <p:sp>
          <p:nvSpPr>
            <p:cNvPr id="753" name="a"/>
            <p:cNvSpPr/>
            <p:nvPr/>
          </p:nvSpPr>
          <p:spPr>
            <a:xfrm>
              <a:off x="0" y="2582668"/>
              <a:ext cx="812800" cy="806277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754" name="x"/>
            <p:cNvSpPr/>
            <p:nvPr/>
          </p:nvSpPr>
          <p:spPr>
            <a:xfrm>
              <a:off x="3246568" y="2582668"/>
              <a:ext cx="812801" cy="806277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x</a:t>
              </a:r>
            </a:p>
          </p:txBody>
        </p:sp>
        <p:sp>
          <p:nvSpPr>
            <p:cNvPr id="755" name="update"/>
            <p:cNvSpPr/>
            <p:nvPr/>
          </p:nvSpPr>
          <p:spPr>
            <a:xfrm>
              <a:off x="5162184" y="1343635"/>
              <a:ext cx="2289067" cy="812801"/>
            </a:xfrm>
            <a:prstGeom prst="roundRect">
              <a:avLst>
                <a:gd name="adj" fmla="val 33349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update</a:t>
              </a:r>
            </a:p>
          </p:txBody>
        </p:sp>
        <p:sp>
          <p:nvSpPr>
            <p:cNvPr id="756" name="σ1"/>
            <p:cNvSpPr/>
            <p:nvPr/>
          </p:nvSpPr>
          <p:spPr>
            <a:xfrm>
              <a:off x="6840770" y="111126"/>
              <a:ext cx="812801" cy="806277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pPr>
              <a:r>
                <a:t>σ</a:t>
              </a:r>
              <a:r>
                <a:rPr baseline="-5999"/>
                <a:t>1</a:t>
              </a:r>
            </a:p>
          </p:txBody>
        </p:sp>
        <p:sp>
          <p:nvSpPr>
            <p:cNvPr id="757" name="v1"/>
            <p:cNvSpPr/>
            <p:nvPr/>
          </p:nvSpPr>
          <p:spPr>
            <a:xfrm>
              <a:off x="4883832" y="0"/>
              <a:ext cx="812801" cy="806276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pPr>
              <a:r>
                <a:t>v</a:t>
              </a:r>
              <a:r>
                <a:rPr baseline="-5999"/>
                <a:t>1</a:t>
              </a:r>
            </a:p>
          </p:txBody>
        </p:sp>
        <p:cxnSp>
          <p:nvCxnSpPr>
            <p:cNvPr id="758" name="Connection Line"/>
            <p:cNvCxnSpPr>
              <a:stCxn id="752" idx="0"/>
              <a:endCxn id="755" idx="0"/>
            </p:cNvCxnSpPr>
            <p:nvPr/>
          </p:nvCxnSpPr>
          <p:spPr>
            <a:xfrm flipH="1" flipV="1">
              <a:off x="6306717" y="1750035"/>
              <a:ext cx="940454" cy="1235772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759" name="Connection Line"/>
            <p:cNvCxnSpPr>
              <a:stCxn id="756" idx="0"/>
              <a:endCxn id="755" idx="0"/>
            </p:cNvCxnSpPr>
            <p:nvPr/>
          </p:nvCxnSpPr>
          <p:spPr>
            <a:xfrm flipH="1">
              <a:off x="6306717" y="514264"/>
              <a:ext cx="940454" cy="1235772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760" name="Connection Line"/>
            <p:cNvCxnSpPr>
              <a:stCxn id="754" idx="0"/>
              <a:endCxn id="755" idx="0"/>
            </p:cNvCxnSpPr>
            <p:nvPr/>
          </p:nvCxnSpPr>
          <p:spPr>
            <a:xfrm flipV="1">
              <a:off x="3652968" y="1750035"/>
              <a:ext cx="2653750" cy="1235772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761" name="Connection Line"/>
            <p:cNvCxnSpPr>
              <a:stCxn id="753" idx="0"/>
              <a:endCxn id="755" idx="0"/>
            </p:cNvCxnSpPr>
            <p:nvPr/>
          </p:nvCxnSpPr>
          <p:spPr>
            <a:xfrm flipV="1">
              <a:off x="406400" y="1750035"/>
              <a:ext cx="5900318" cy="1235772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762" name="Connection Line"/>
            <p:cNvCxnSpPr>
              <a:stCxn id="757" idx="0"/>
              <a:endCxn id="755" idx="0"/>
            </p:cNvCxnSpPr>
            <p:nvPr/>
          </p:nvCxnSpPr>
          <p:spPr>
            <a:xfrm>
              <a:off x="5290232" y="403137"/>
              <a:ext cx="1016486" cy="1346899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tailEnd type="arrow" w="med" len="med"/>
            </a:ln>
            <a:effectLst/>
          </p:spPr>
        </p:cxnSp>
      </p:grp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Redundant Update Elimin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Redundant Update Elimination</a:t>
            </a:r>
          </a:p>
        </p:txBody>
      </p:sp>
      <p:sp>
        <p:nvSpPr>
          <p:cNvPr id="7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795" name="Group"/>
          <p:cNvGrpSpPr/>
          <p:nvPr/>
        </p:nvGrpSpPr>
        <p:grpSpPr>
          <a:xfrm>
            <a:off x="18749526" y="636496"/>
            <a:ext cx="4161573" cy="2321902"/>
            <a:chOff x="0" y="0"/>
            <a:chExt cx="4161571" cy="2321900"/>
          </a:xfrm>
        </p:grpSpPr>
        <p:grpSp>
          <p:nvGrpSpPr>
            <p:cNvPr id="776" name="Group"/>
            <p:cNvGrpSpPr/>
            <p:nvPr/>
          </p:nvGrpSpPr>
          <p:grpSpPr>
            <a:xfrm>
              <a:off x="0" y="798432"/>
              <a:ext cx="1358704" cy="850828"/>
              <a:chOff x="0" y="0"/>
              <a:chExt cx="1358703" cy="850827"/>
            </a:xfrm>
          </p:grpSpPr>
          <p:sp>
            <p:nvSpPr>
              <p:cNvPr id="767" name="Rectangle"/>
              <p:cNvSpPr/>
              <p:nvPr/>
            </p:nvSpPr>
            <p:spPr>
              <a:xfrm>
                <a:off x="0" y="0"/>
                <a:ext cx="1358704" cy="85082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>
                <a:outerShdw sx="100000" sy="100000" kx="0" ky="0" algn="b" rotWithShape="0" blurRad="190500" dist="12700" dir="5400000">
                  <a:srgbClr val="000000"/>
                </a:outerShdw>
              </a:effectLst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20000"/>
                  </a:lnSpc>
                  <a:spcBef>
                    <a:spcPts val="0"/>
                  </a:spcBef>
                  <a:defRPr sz="4000"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68" name="Rectangle"/>
              <p:cNvSpPr/>
              <p:nvPr/>
            </p:nvSpPr>
            <p:spPr>
              <a:xfrm>
                <a:off x="58998" y="55847"/>
                <a:ext cx="768977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69" name="Rectangle"/>
              <p:cNvSpPr/>
              <p:nvPr/>
            </p:nvSpPr>
            <p:spPr>
              <a:xfrm>
                <a:off x="147476" y="152094"/>
                <a:ext cx="816546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70" name="Rectangle"/>
              <p:cNvSpPr/>
              <p:nvPr/>
            </p:nvSpPr>
            <p:spPr>
              <a:xfrm>
                <a:off x="147476" y="248342"/>
                <a:ext cx="1014043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71" name="Rectangle"/>
              <p:cNvSpPr/>
              <p:nvPr/>
            </p:nvSpPr>
            <p:spPr>
              <a:xfrm>
                <a:off x="241391" y="344589"/>
                <a:ext cx="436932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72" name="Rectangle"/>
              <p:cNvSpPr/>
              <p:nvPr/>
            </p:nvSpPr>
            <p:spPr>
              <a:xfrm>
                <a:off x="147476" y="440836"/>
                <a:ext cx="632390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73" name="Rectangle"/>
              <p:cNvSpPr/>
              <p:nvPr/>
            </p:nvSpPr>
            <p:spPr>
              <a:xfrm>
                <a:off x="241391" y="537083"/>
                <a:ext cx="722018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74" name="Rectangle"/>
              <p:cNvSpPr/>
              <p:nvPr/>
            </p:nvSpPr>
            <p:spPr>
              <a:xfrm>
                <a:off x="147476" y="633331"/>
                <a:ext cx="601032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775" name="Rectangle"/>
              <p:cNvSpPr/>
              <p:nvPr/>
            </p:nvSpPr>
            <p:spPr>
              <a:xfrm>
                <a:off x="147476" y="729577"/>
                <a:ext cx="1152230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</p:grpSp>
        <p:grpSp>
          <p:nvGrpSpPr>
            <p:cNvPr id="793" name="Group"/>
            <p:cNvGrpSpPr/>
            <p:nvPr/>
          </p:nvGrpSpPr>
          <p:grpSpPr>
            <a:xfrm>
              <a:off x="2461159" y="0"/>
              <a:ext cx="1700413" cy="2321901"/>
              <a:chOff x="0" y="0"/>
              <a:chExt cx="1700412" cy="2321900"/>
            </a:xfrm>
          </p:grpSpPr>
          <p:sp>
            <p:nvSpPr>
              <p:cNvPr id="777" name="Rounded Rectangle"/>
              <p:cNvSpPr/>
              <p:nvPr/>
            </p:nvSpPr>
            <p:spPr>
              <a:xfrm>
                <a:off x="1401611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78" name="Rounded Rectangle"/>
              <p:cNvSpPr/>
              <p:nvPr/>
            </p:nvSpPr>
            <p:spPr>
              <a:xfrm>
                <a:off x="1051208" y="1364403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79" name="Rounded Rectangle"/>
              <p:cNvSpPr/>
              <p:nvPr/>
            </p:nvSpPr>
            <p:spPr>
              <a:xfrm>
                <a:off x="700805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80" name="Rounded Rectangle"/>
              <p:cNvSpPr/>
              <p:nvPr/>
            </p:nvSpPr>
            <p:spPr>
              <a:xfrm>
                <a:off x="700805" y="682201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81" name="Rounded Rectangle"/>
              <p:cNvSpPr/>
              <p:nvPr/>
            </p:nvSpPr>
            <p:spPr>
              <a:xfrm>
                <a:off x="409431" y="1364403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82" name="Rounded Rectangle"/>
              <p:cNvSpPr/>
              <p:nvPr/>
            </p:nvSpPr>
            <p:spPr>
              <a:xfrm>
                <a:off x="0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cxnSp>
            <p:nvCxnSpPr>
              <p:cNvPr id="783" name="Connection Line"/>
              <p:cNvCxnSpPr>
                <a:stCxn id="778" idx="0"/>
                <a:endCxn id="777" idx="0"/>
              </p:cNvCxnSpPr>
              <p:nvPr/>
            </p:nvCxnSpPr>
            <p:spPr>
              <a:xfrm>
                <a:off x="1200608" y="1513804"/>
                <a:ext cx="350405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784" name="Connection Line"/>
              <p:cNvCxnSpPr>
                <a:stCxn id="778" idx="0"/>
                <a:endCxn id="779" idx="0"/>
              </p:cNvCxnSpPr>
              <p:nvPr/>
            </p:nvCxnSpPr>
            <p:spPr>
              <a:xfrm flipH="1">
                <a:off x="850206" y="1513804"/>
                <a:ext cx="350403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785" name="Connection Line"/>
              <p:cNvCxnSpPr>
                <a:stCxn id="781" idx="0"/>
                <a:endCxn id="779" idx="0"/>
              </p:cNvCxnSpPr>
              <p:nvPr/>
            </p:nvCxnSpPr>
            <p:spPr>
              <a:xfrm>
                <a:off x="558831" y="1513804"/>
                <a:ext cx="291376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786" name="Connection Line"/>
              <p:cNvCxnSpPr>
                <a:stCxn id="781" idx="0"/>
                <a:endCxn id="782" idx="0"/>
              </p:cNvCxnSpPr>
              <p:nvPr/>
            </p:nvCxnSpPr>
            <p:spPr>
              <a:xfrm flipH="1">
                <a:off x="149400" y="1513804"/>
                <a:ext cx="409432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787" name="Connection Line"/>
              <p:cNvCxnSpPr>
                <a:stCxn id="781" idx="0"/>
                <a:endCxn id="782" idx="0"/>
              </p:cNvCxnSpPr>
              <p:nvPr/>
            </p:nvCxnSpPr>
            <p:spPr>
              <a:xfrm flipH="1">
                <a:off x="149400" y="1513804"/>
                <a:ext cx="409432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sp>
            <p:nvSpPr>
              <p:cNvPr id="788" name="Rounded Rectangle"/>
              <p:cNvSpPr/>
              <p:nvPr/>
            </p:nvSpPr>
            <p:spPr>
              <a:xfrm>
                <a:off x="700805" y="0"/>
                <a:ext cx="298802" cy="298802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cxnSp>
            <p:nvCxnSpPr>
              <p:cNvPr id="789" name="Connection Line"/>
              <p:cNvCxnSpPr>
                <a:stCxn id="788" idx="0"/>
                <a:endCxn id="780" idx="0"/>
              </p:cNvCxnSpPr>
              <p:nvPr/>
            </p:nvCxnSpPr>
            <p:spPr>
              <a:xfrm>
                <a:off x="850206" y="149400"/>
                <a:ext cx="1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790" name="Connection Line"/>
              <p:cNvCxnSpPr>
                <a:stCxn id="777" idx="0"/>
                <a:endCxn id="780" idx="0"/>
              </p:cNvCxnSpPr>
              <p:nvPr/>
            </p:nvCxnSpPr>
            <p:spPr>
              <a:xfrm flipH="1" flipV="1">
                <a:off x="850206" y="831602"/>
                <a:ext cx="700807" cy="1340898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  <p:cxnSp>
            <p:nvCxnSpPr>
              <p:cNvPr id="791" name="Connection Line"/>
              <p:cNvCxnSpPr>
                <a:stCxn id="778" idx="0"/>
                <a:endCxn id="780" idx="0"/>
              </p:cNvCxnSpPr>
              <p:nvPr/>
            </p:nvCxnSpPr>
            <p:spPr>
              <a:xfrm flipH="1" flipV="1">
                <a:off x="850206" y="831602"/>
                <a:ext cx="350403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  <p:cxnSp>
            <p:nvCxnSpPr>
              <p:cNvPr id="792" name="Connection Line"/>
              <p:cNvCxnSpPr>
                <a:stCxn id="781" idx="0"/>
                <a:endCxn id="780" idx="0"/>
              </p:cNvCxnSpPr>
              <p:nvPr/>
            </p:nvCxnSpPr>
            <p:spPr>
              <a:xfrm flipV="1">
                <a:off x="558831" y="831602"/>
                <a:ext cx="291376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</p:grpSp>
        <p:sp>
          <p:nvSpPr>
            <p:cNvPr id="794" name="Arrow"/>
            <p:cNvSpPr/>
            <p:nvPr/>
          </p:nvSpPr>
          <p:spPr>
            <a:xfrm>
              <a:off x="1911016" y="1085646"/>
              <a:ext cx="479197" cy="276400"/>
            </a:xfrm>
            <a:prstGeom prst="rightArrow">
              <a:avLst>
                <a:gd name="adj1" fmla="val 34890"/>
                <a:gd name="adj2" fmla="val 5632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17500" tIns="317500" rIns="317500" bIns="317500" numCol="1" anchor="ctr">
              <a:noAutofit/>
            </a:bodyPr>
            <a:lstStyle/>
            <a:p>
              <a:pPr defTabSz="2438338">
                <a:lnSpc>
                  <a:spcPct val="130000"/>
                </a:lnSpc>
                <a:defRPr>
                  <a:latin typeface="PT Mono"/>
                  <a:ea typeface="PT Mono"/>
                  <a:cs typeface="PT Mono"/>
                  <a:sym typeface="PT Mono"/>
                </a:defRPr>
              </a:pPr>
            </a:p>
          </p:txBody>
        </p:sp>
      </p:grpSp>
      <p:grpSp>
        <p:nvGrpSpPr>
          <p:cNvPr id="811" name="Group"/>
          <p:cNvGrpSpPr/>
          <p:nvPr/>
        </p:nvGrpSpPr>
        <p:grpSpPr>
          <a:xfrm>
            <a:off x="-342901" y="53675"/>
            <a:ext cx="16671230" cy="654073"/>
            <a:chOff x="0" y="0"/>
            <a:chExt cx="16671228" cy="654072"/>
          </a:xfrm>
        </p:grpSpPr>
        <p:grpSp>
          <p:nvGrpSpPr>
            <p:cNvPr id="798" name="Group"/>
            <p:cNvGrpSpPr/>
            <p:nvPr/>
          </p:nvGrpSpPr>
          <p:grpSpPr>
            <a:xfrm>
              <a:off x="9884046" y="9824"/>
              <a:ext cx="3492501" cy="644249"/>
              <a:chOff x="0" y="0"/>
              <a:chExt cx="3492500" cy="644247"/>
            </a:xfrm>
          </p:grpSpPr>
          <p:sp>
            <p:nvSpPr>
              <p:cNvPr id="796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7100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797" name="Effectful E-Graphs"/>
              <p:cNvSpPr txBox="1"/>
              <p:nvPr/>
            </p:nvSpPr>
            <p:spPr>
              <a:xfrm>
                <a:off x="356779" y="69246"/>
                <a:ext cx="2911202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Effectful E-Graphs</a:t>
                </a:r>
              </a:p>
            </p:txBody>
          </p:sp>
        </p:grpSp>
        <p:grpSp>
          <p:nvGrpSpPr>
            <p:cNvPr id="801" name="Group"/>
            <p:cNvGrpSpPr/>
            <p:nvPr/>
          </p:nvGrpSpPr>
          <p:grpSpPr>
            <a:xfrm>
              <a:off x="13178728" y="0"/>
              <a:ext cx="3492501" cy="644248"/>
              <a:chOff x="0" y="0"/>
              <a:chExt cx="3492500" cy="644247"/>
            </a:xfrm>
          </p:grpSpPr>
          <p:sp>
            <p:nvSpPr>
              <p:cNvPr id="799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EAD3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</a:pPr>
              </a:p>
            </p:txBody>
          </p:sp>
          <p:sp>
            <p:nvSpPr>
              <p:cNvPr id="800" name="Effectful Extraction"/>
              <p:cNvSpPr txBox="1"/>
              <p:nvPr/>
            </p:nvSpPr>
            <p:spPr>
              <a:xfrm>
                <a:off x="284377" y="65926"/>
                <a:ext cx="3056005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Effectful Extraction</a:t>
                </a:r>
              </a:p>
            </p:txBody>
          </p:sp>
        </p:grpSp>
        <p:grpSp>
          <p:nvGrpSpPr>
            <p:cNvPr id="804" name="Group"/>
            <p:cNvGrpSpPr/>
            <p:nvPr/>
          </p:nvGrpSpPr>
          <p:grpSpPr>
            <a:xfrm>
              <a:off x="3294682" y="9824"/>
              <a:ext cx="3492501" cy="644249"/>
              <a:chOff x="0" y="0"/>
              <a:chExt cx="3492500" cy="644247"/>
            </a:xfrm>
          </p:grpSpPr>
          <p:sp>
            <p:nvSpPr>
              <p:cNvPr id="802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803" name="E-Graphs"/>
              <p:cNvSpPr txBox="1"/>
              <p:nvPr/>
            </p:nvSpPr>
            <p:spPr>
              <a:xfrm>
                <a:off x="934828" y="69246"/>
                <a:ext cx="1628104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E-Graphs</a:t>
                </a:r>
              </a:p>
            </p:txBody>
          </p:sp>
        </p:grpSp>
        <p:grpSp>
          <p:nvGrpSpPr>
            <p:cNvPr id="807" name="Group"/>
            <p:cNvGrpSpPr/>
            <p:nvPr/>
          </p:nvGrpSpPr>
          <p:grpSpPr>
            <a:xfrm>
              <a:off x="6589364" y="9824"/>
              <a:ext cx="3492501" cy="644249"/>
              <a:chOff x="0" y="0"/>
              <a:chExt cx="3492500" cy="644247"/>
            </a:xfrm>
          </p:grpSpPr>
          <p:sp>
            <p:nvSpPr>
              <p:cNvPr id="805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806" name="Extraction"/>
              <p:cNvSpPr txBox="1"/>
              <p:nvPr/>
            </p:nvSpPr>
            <p:spPr>
              <a:xfrm>
                <a:off x="790357" y="69246"/>
                <a:ext cx="1917046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Extraction</a:t>
                </a:r>
              </a:p>
            </p:txBody>
          </p:sp>
        </p:grpSp>
        <p:grpSp>
          <p:nvGrpSpPr>
            <p:cNvPr id="810" name="Group"/>
            <p:cNvGrpSpPr/>
            <p:nvPr/>
          </p:nvGrpSpPr>
          <p:grpSpPr>
            <a:xfrm>
              <a:off x="-1" y="9824"/>
              <a:ext cx="3492501" cy="644249"/>
              <a:chOff x="0" y="0"/>
              <a:chExt cx="3492500" cy="644247"/>
            </a:xfrm>
          </p:grpSpPr>
          <p:sp>
            <p:nvSpPr>
              <p:cNvPr id="808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809" name="Rewriting"/>
              <p:cNvSpPr txBox="1"/>
              <p:nvPr/>
            </p:nvSpPr>
            <p:spPr>
              <a:xfrm>
                <a:off x="852376" y="69246"/>
                <a:ext cx="1793009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Rewriting</a:t>
                </a:r>
              </a:p>
            </p:txBody>
          </p:sp>
        </p:grpSp>
      </p:grpSp>
      <p:sp>
        <p:nvSpPr>
          <p:cNvPr id="812" name="(v1, σ1) = update(a, x)…"/>
          <p:cNvSpPr/>
          <p:nvPr/>
        </p:nvSpPr>
        <p:spPr>
          <a:xfrm>
            <a:off x="412218" y="4557437"/>
            <a:ext cx="9244926" cy="432403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1</a:t>
            </a:r>
            <a:r>
              <a:t>, σ</a:t>
            </a:r>
            <a:r>
              <a:rPr baseline="-5999"/>
              <a:t>1</a:t>
            </a:r>
            <a:r>
              <a:t>) = update(a, x)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2</a:t>
            </a:r>
            <a:r>
              <a:t>, σ</a:t>
            </a:r>
            <a:r>
              <a:rPr baseline="-5999"/>
              <a:t>2</a:t>
            </a:r>
            <a:r>
              <a:t>) = update(a, x)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3</a:t>
            </a:r>
            <a:r>
              <a:t>, σ</a:t>
            </a:r>
            <a:r>
              <a:rPr baseline="-5999"/>
              <a:t>3</a:t>
            </a:r>
            <a:r>
              <a:t>) = update(b, y)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4</a:t>
            </a:r>
            <a:r>
              <a:t>, σ</a:t>
            </a:r>
            <a:r>
              <a:rPr baseline="-5999"/>
              <a:t>4</a:t>
            </a:r>
            <a:r>
              <a:t>) = update(c, v</a:t>
            </a:r>
            <a:r>
              <a:rPr baseline="-5999"/>
              <a:t>2</a:t>
            </a:r>
            <a:r>
              <a:t>)</a:t>
            </a:r>
          </a:p>
        </p:txBody>
      </p:sp>
      <p:grpSp>
        <p:nvGrpSpPr>
          <p:cNvPr id="832" name="Group"/>
          <p:cNvGrpSpPr/>
          <p:nvPr/>
        </p:nvGrpSpPr>
        <p:grpSpPr>
          <a:xfrm>
            <a:off x="7635283" y="7459123"/>
            <a:ext cx="7653572" cy="5774763"/>
            <a:chOff x="0" y="0"/>
            <a:chExt cx="7653570" cy="5774762"/>
          </a:xfrm>
        </p:grpSpPr>
        <p:sp>
          <p:nvSpPr>
            <p:cNvPr id="813" name="σ"/>
            <p:cNvSpPr/>
            <p:nvPr/>
          </p:nvSpPr>
          <p:spPr>
            <a:xfrm>
              <a:off x="6840770" y="4968486"/>
              <a:ext cx="812801" cy="806277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σ</a:t>
              </a:r>
            </a:p>
          </p:txBody>
        </p:sp>
        <p:sp>
          <p:nvSpPr>
            <p:cNvPr id="814" name="a"/>
            <p:cNvSpPr/>
            <p:nvPr/>
          </p:nvSpPr>
          <p:spPr>
            <a:xfrm>
              <a:off x="0" y="4968486"/>
              <a:ext cx="812800" cy="806277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815" name="x"/>
            <p:cNvSpPr/>
            <p:nvPr/>
          </p:nvSpPr>
          <p:spPr>
            <a:xfrm>
              <a:off x="3246568" y="4968486"/>
              <a:ext cx="812801" cy="806277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x</a:t>
              </a:r>
            </a:p>
          </p:txBody>
        </p:sp>
        <p:sp>
          <p:nvSpPr>
            <p:cNvPr id="816" name="update"/>
            <p:cNvSpPr/>
            <p:nvPr/>
          </p:nvSpPr>
          <p:spPr>
            <a:xfrm>
              <a:off x="5162184" y="3729453"/>
              <a:ext cx="2289067" cy="812801"/>
            </a:xfrm>
            <a:prstGeom prst="roundRect">
              <a:avLst>
                <a:gd name="adj" fmla="val 33349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update</a:t>
              </a:r>
            </a:p>
          </p:txBody>
        </p:sp>
        <p:sp>
          <p:nvSpPr>
            <p:cNvPr id="817" name="update"/>
            <p:cNvSpPr/>
            <p:nvPr/>
          </p:nvSpPr>
          <p:spPr>
            <a:xfrm>
              <a:off x="5162184" y="1257910"/>
              <a:ext cx="2289067" cy="812801"/>
            </a:xfrm>
            <a:prstGeom prst="roundRect">
              <a:avLst>
                <a:gd name="adj" fmla="val 33349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update</a:t>
              </a:r>
            </a:p>
          </p:txBody>
        </p:sp>
        <p:sp>
          <p:nvSpPr>
            <p:cNvPr id="818" name="σ1"/>
            <p:cNvSpPr/>
            <p:nvPr/>
          </p:nvSpPr>
          <p:spPr>
            <a:xfrm>
              <a:off x="6840770" y="2496944"/>
              <a:ext cx="812801" cy="806276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pPr>
              <a:r>
                <a:t>σ</a:t>
              </a:r>
              <a:r>
                <a:rPr baseline="-5999"/>
                <a:t>1</a:t>
              </a:r>
            </a:p>
          </p:txBody>
        </p:sp>
        <p:sp>
          <p:nvSpPr>
            <p:cNvPr id="819" name="v1"/>
            <p:cNvSpPr/>
            <p:nvPr/>
          </p:nvSpPr>
          <p:spPr>
            <a:xfrm>
              <a:off x="4883832" y="2385817"/>
              <a:ext cx="812801" cy="806277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pPr>
              <a:r>
                <a:t>v</a:t>
              </a:r>
              <a:r>
                <a:rPr baseline="-5999"/>
                <a:t>1</a:t>
              </a:r>
            </a:p>
          </p:txBody>
        </p:sp>
        <p:sp>
          <p:nvSpPr>
            <p:cNvPr id="820" name="σ2"/>
            <p:cNvSpPr/>
            <p:nvPr/>
          </p:nvSpPr>
          <p:spPr>
            <a:xfrm>
              <a:off x="6840770" y="25400"/>
              <a:ext cx="812801" cy="806276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pPr>
              <a:r>
                <a:t>σ</a:t>
              </a:r>
              <a:r>
                <a:rPr baseline="-5999"/>
                <a:t>2</a:t>
              </a:r>
            </a:p>
          </p:txBody>
        </p:sp>
        <p:sp>
          <p:nvSpPr>
            <p:cNvPr id="821" name="v2"/>
            <p:cNvSpPr/>
            <p:nvPr/>
          </p:nvSpPr>
          <p:spPr>
            <a:xfrm>
              <a:off x="4883832" y="0"/>
              <a:ext cx="812801" cy="806276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algn="ctr" defTabSz="2438338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pPr>
              <a:r>
                <a:t>v</a:t>
              </a:r>
              <a:r>
                <a:rPr baseline="-5999"/>
                <a:t>2</a:t>
              </a:r>
            </a:p>
          </p:txBody>
        </p:sp>
        <p:cxnSp>
          <p:nvCxnSpPr>
            <p:cNvPr id="822" name="Connection Line"/>
            <p:cNvCxnSpPr>
              <a:stCxn id="813" idx="0"/>
              <a:endCxn id="816" idx="0"/>
            </p:cNvCxnSpPr>
            <p:nvPr/>
          </p:nvCxnSpPr>
          <p:spPr>
            <a:xfrm flipH="1" flipV="1">
              <a:off x="6306717" y="4135853"/>
              <a:ext cx="940454" cy="1235772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823" name="Connection Line"/>
            <p:cNvCxnSpPr>
              <a:stCxn id="818" idx="0"/>
              <a:endCxn id="816" idx="0"/>
            </p:cNvCxnSpPr>
            <p:nvPr/>
          </p:nvCxnSpPr>
          <p:spPr>
            <a:xfrm flipH="1">
              <a:off x="6306717" y="2900082"/>
              <a:ext cx="940454" cy="1235772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824" name="Connection Line"/>
            <p:cNvCxnSpPr>
              <a:stCxn id="818" idx="0"/>
              <a:endCxn id="817" idx="0"/>
            </p:cNvCxnSpPr>
            <p:nvPr/>
          </p:nvCxnSpPr>
          <p:spPr>
            <a:xfrm flipH="1" flipV="1">
              <a:off x="6306717" y="1664310"/>
              <a:ext cx="940454" cy="1235773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825" name="Connection Line"/>
            <p:cNvCxnSpPr>
              <a:stCxn id="817" idx="0"/>
              <a:endCxn id="820" idx="0"/>
            </p:cNvCxnSpPr>
            <p:nvPr/>
          </p:nvCxnSpPr>
          <p:spPr>
            <a:xfrm flipV="1">
              <a:off x="6306717" y="428537"/>
              <a:ext cx="940454" cy="1235774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826" name="Connection Line"/>
            <p:cNvCxnSpPr>
              <a:stCxn id="815" idx="0"/>
              <a:endCxn id="816" idx="0"/>
            </p:cNvCxnSpPr>
            <p:nvPr/>
          </p:nvCxnSpPr>
          <p:spPr>
            <a:xfrm flipV="1">
              <a:off x="3652968" y="4135853"/>
              <a:ext cx="2653750" cy="1235772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827" name="Connection Line"/>
            <p:cNvCxnSpPr>
              <a:stCxn id="814" idx="0"/>
              <a:endCxn id="816" idx="0"/>
            </p:cNvCxnSpPr>
            <p:nvPr/>
          </p:nvCxnSpPr>
          <p:spPr>
            <a:xfrm flipV="1">
              <a:off x="406400" y="4135853"/>
              <a:ext cx="5900318" cy="1235772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828" name="Connection Line"/>
            <p:cNvCxnSpPr>
              <a:stCxn id="819" idx="0"/>
              <a:endCxn id="816" idx="0"/>
            </p:cNvCxnSpPr>
            <p:nvPr/>
          </p:nvCxnSpPr>
          <p:spPr>
            <a:xfrm>
              <a:off x="5290232" y="2788955"/>
              <a:ext cx="1016486" cy="1346899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829" name="Connection Line"/>
            <p:cNvCxnSpPr>
              <a:stCxn id="815" idx="0"/>
              <a:endCxn id="817" idx="0"/>
            </p:cNvCxnSpPr>
            <p:nvPr/>
          </p:nvCxnSpPr>
          <p:spPr>
            <a:xfrm flipV="1">
              <a:off x="3652968" y="1664310"/>
              <a:ext cx="2653750" cy="3707315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830" name="Connection Line"/>
            <p:cNvCxnSpPr>
              <a:stCxn id="814" idx="0"/>
              <a:endCxn id="817" idx="0"/>
            </p:cNvCxnSpPr>
            <p:nvPr/>
          </p:nvCxnSpPr>
          <p:spPr>
            <a:xfrm flipV="1">
              <a:off x="406400" y="1664310"/>
              <a:ext cx="5900318" cy="3707315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831" name="Connection Line"/>
            <p:cNvCxnSpPr>
              <a:stCxn id="817" idx="0"/>
              <a:endCxn id="821" idx="0"/>
            </p:cNvCxnSpPr>
            <p:nvPr/>
          </p:nvCxnSpPr>
          <p:spPr>
            <a:xfrm flipH="1" flipV="1">
              <a:off x="5290232" y="403137"/>
              <a:ext cx="1016486" cy="1261174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Redundant Update Elimin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Redundant Update Elimination</a:t>
            </a:r>
          </a:p>
        </p:txBody>
      </p:sp>
      <p:sp>
        <p:nvSpPr>
          <p:cNvPr id="8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864" name="Group"/>
          <p:cNvGrpSpPr/>
          <p:nvPr/>
        </p:nvGrpSpPr>
        <p:grpSpPr>
          <a:xfrm>
            <a:off x="18749526" y="636496"/>
            <a:ext cx="4161573" cy="2321902"/>
            <a:chOff x="0" y="0"/>
            <a:chExt cx="4161571" cy="2321900"/>
          </a:xfrm>
        </p:grpSpPr>
        <p:grpSp>
          <p:nvGrpSpPr>
            <p:cNvPr id="845" name="Group"/>
            <p:cNvGrpSpPr/>
            <p:nvPr/>
          </p:nvGrpSpPr>
          <p:grpSpPr>
            <a:xfrm>
              <a:off x="0" y="798432"/>
              <a:ext cx="1358704" cy="850828"/>
              <a:chOff x="0" y="0"/>
              <a:chExt cx="1358703" cy="850827"/>
            </a:xfrm>
          </p:grpSpPr>
          <p:sp>
            <p:nvSpPr>
              <p:cNvPr id="836" name="Rectangle"/>
              <p:cNvSpPr/>
              <p:nvPr/>
            </p:nvSpPr>
            <p:spPr>
              <a:xfrm>
                <a:off x="0" y="0"/>
                <a:ext cx="1358704" cy="85082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>
                <a:outerShdw sx="100000" sy="100000" kx="0" ky="0" algn="b" rotWithShape="0" blurRad="190500" dist="12700" dir="5400000">
                  <a:srgbClr val="000000"/>
                </a:outerShdw>
              </a:effectLst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20000"/>
                  </a:lnSpc>
                  <a:spcBef>
                    <a:spcPts val="0"/>
                  </a:spcBef>
                  <a:defRPr sz="4000"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837" name="Rectangle"/>
              <p:cNvSpPr/>
              <p:nvPr/>
            </p:nvSpPr>
            <p:spPr>
              <a:xfrm>
                <a:off x="58998" y="55847"/>
                <a:ext cx="768977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838" name="Rectangle"/>
              <p:cNvSpPr/>
              <p:nvPr/>
            </p:nvSpPr>
            <p:spPr>
              <a:xfrm>
                <a:off x="147476" y="152094"/>
                <a:ext cx="816546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839" name="Rectangle"/>
              <p:cNvSpPr/>
              <p:nvPr/>
            </p:nvSpPr>
            <p:spPr>
              <a:xfrm>
                <a:off x="147476" y="248342"/>
                <a:ext cx="1014043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840" name="Rectangle"/>
              <p:cNvSpPr/>
              <p:nvPr/>
            </p:nvSpPr>
            <p:spPr>
              <a:xfrm>
                <a:off x="241391" y="344589"/>
                <a:ext cx="436932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841" name="Rectangle"/>
              <p:cNvSpPr/>
              <p:nvPr/>
            </p:nvSpPr>
            <p:spPr>
              <a:xfrm>
                <a:off x="147476" y="440836"/>
                <a:ext cx="632390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842" name="Rectangle"/>
              <p:cNvSpPr/>
              <p:nvPr/>
            </p:nvSpPr>
            <p:spPr>
              <a:xfrm>
                <a:off x="241391" y="537083"/>
                <a:ext cx="722018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843" name="Rectangle"/>
              <p:cNvSpPr/>
              <p:nvPr/>
            </p:nvSpPr>
            <p:spPr>
              <a:xfrm>
                <a:off x="147476" y="633331"/>
                <a:ext cx="601032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844" name="Rectangle"/>
              <p:cNvSpPr/>
              <p:nvPr/>
            </p:nvSpPr>
            <p:spPr>
              <a:xfrm>
                <a:off x="147476" y="729577"/>
                <a:ext cx="1152230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</p:grpSp>
        <p:grpSp>
          <p:nvGrpSpPr>
            <p:cNvPr id="862" name="Group"/>
            <p:cNvGrpSpPr/>
            <p:nvPr/>
          </p:nvGrpSpPr>
          <p:grpSpPr>
            <a:xfrm>
              <a:off x="2461159" y="0"/>
              <a:ext cx="1700413" cy="2321901"/>
              <a:chOff x="0" y="0"/>
              <a:chExt cx="1700412" cy="2321900"/>
            </a:xfrm>
          </p:grpSpPr>
          <p:sp>
            <p:nvSpPr>
              <p:cNvPr id="846" name="Rounded Rectangle"/>
              <p:cNvSpPr/>
              <p:nvPr/>
            </p:nvSpPr>
            <p:spPr>
              <a:xfrm>
                <a:off x="1401611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47" name="Rounded Rectangle"/>
              <p:cNvSpPr/>
              <p:nvPr/>
            </p:nvSpPr>
            <p:spPr>
              <a:xfrm>
                <a:off x="1051208" y="1364403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48" name="Rounded Rectangle"/>
              <p:cNvSpPr/>
              <p:nvPr/>
            </p:nvSpPr>
            <p:spPr>
              <a:xfrm>
                <a:off x="700805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49" name="Rounded Rectangle"/>
              <p:cNvSpPr/>
              <p:nvPr/>
            </p:nvSpPr>
            <p:spPr>
              <a:xfrm>
                <a:off x="700805" y="682201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50" name="Rounded Rectangle"/>
              <p:cNvSpPr/>
              <p:nvPr/>
            </p:nvSpPr>
            <p:spPr>
              <a:xfrm>
                <a:off x="409431" y="1364403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51" name="Rounded Rectangle"/>
              <p:cNvSpPr/>
              <p:nvPr/>
            </p:nvSpPr>
            <p:spPr>
              <a:xfrm>
                <a:off x="0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cxnSp>
            <p:nvCxnSpPr>
              <p:cNvPr id="852" name="Connection Line"/>
              <p:cNvCxnSpPr>
                <a:stCxn id="847" idx="0"/>
                <a:endCxn id="846" idx="0"/>
              </p:cNvCxnSpPr>
              <p:nvPr/>
            </p:nvCxnSpPr>
            <p:spPr>
              <a:xfrm>
                <a:off x="1200608" y="1513804"/>
                <a:ext cx="350405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853" name="Connection Line"/>
              <p:cNvCxnSpPr>
                <a:stCxn id="847" idx="0"/>
                <a:endCxn id="848" idx="0"/>
              </p:cNvCxnSpPr>
              <p:nvPr/>
            </p:nvCxnSpPr>
            <p:spPr>
              <a:xfrm flipH="1">
                <a:off x="850206" y="1513804"/>
                <a:ext cx="350403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854" name="Connection Line"/>
              <p:cNvCxnSpPr>
                <a:stCxn id="850" idx="0"/>
                <a:endCxn id="848" idx="0"/>
              </p:cNvCxnSpPr>
              <p:nvPr/>
            </p:nvCxnSpPr>
            <p:spPr>
              <a:xfrm>
                <a:off x="558831" y="1513804"/>
                <a:ext cx="291376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855" name="Connection Line"/>
              <p:cNvCxnSpPr>
                <a:stCxn id="850" idx="0"/>
                <a:endCxn id="851" idx="0"/>
              </p:cNvCxnSpPr>
              <p:nvPr/>
            </p:nvCxnSpPr>
            <p:spPr>
              <a:xfrm flipH="1">
                <a:off x="149400" y="1513804"/>
                <a:ext cx="409432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856" name="Connection Line"/>
              <p:cNvCxnSpPr>
                <a:stCxn id="850" idx="0"/>
                <a:endCxn id="851" idx="0"/>
              </p:cNvCxnSpPr>
              <p:nvPr/>
            </p:nvCxnSpPr>
            <p:spPr>
              <a:xfrm flipH="1">
                <a:off x="149400" y="1513804"/>
                <a:ext cx="409432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sp>
            <p:nvSpPr>
              <p:cNvPr id="857" name="Rounded Rectangle"/>
              <p:cNvSpPr/>
              <p:nvPr/>
            </p:nvSpPr>
            <p:spPr>
              <a:xfrm>
                <a:off x="700805" y="0"/>
                <a:ext cx="298802" cy="298802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cxnSp>
            <p:nvCxnSpPr>
              <p:cNvPr id="858" name="Connection Line"/>
              <p:cNvCxnSpPr>
                <a:stCxn id="857" idx="0"/>
                <a:endCxn id="849" idx="0"/>
              </p:cNvCxnSpPr>
              <p:nvPr/>
            </p:nvCxnSpPr>
            <p:spPr>
              <a:xfrm>
                <a:off x="850206" y="149400"/>
                <a:ext cx="1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859" name="Connection Line"/>
              <p:cNvCxnSpPr>
                <a:stCxn id="846" idx="0"/>
                <a:endCxn id="849" idx="0"/>
              </p:cNvCxnSpPr>
              <p:nvPr/>
            </p:nvCxnSpPr>
            <p:spPr>
              <a:xfrm flipH="1" flipV="1">
                <a:off x="850206" y="831602"/>
                <a:ext cx="700807" cy="1340898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  <p:cxnSp>
            <p:nvCxnSpPr>
              <p:cNvPr id="860" name="Connection Line"/>
              <p:cNvCxnSpPr>
                <a:stCxn id="847" idx="0"/>
                <a:endCxn id="849" idx="0"/>
              </p:cNvCxnSpPr>
              <p:nvPr/>
            </p:nvCxnSpPr>
            <p:spPr>
              <a:xfrm flipH="1" flipV="1">
                <a:off x="850206" y="831602"/>
                <a:ext cx="350403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  <p:cxnSp>
            <p:nvCxnSpPr>
              <p:cNvPr id="861" name="Connection Line"/>
              <p:cNvCxnSpPr>
                <a:stCxn id="850" idx="0"/>
                <a:endCxn id="849" idx="0"/>
              </p:cNvCxnSpPr>
              <p:nvPr/>
            </p:nvCxnSpPr>
            <p:spPr>
              <a:xfrm flipV="1">
                <a:off x="558831" y="831602"/>
                <a:ext cx="291376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</p:grpSp>
        <p:sp>
          <p:nvSpPr>
            <p:cNvPr id="863" name="Arrow"/>
            <p:cNvSpPr/>
            <p:nvPr/>
          </p:nvSpPr>
          <p:spPr>
            <a:xfrm>
              <a:off x="1911016" y="1085646"/>
              <a:ext cx="479197" cy="276400"/>
            </a:xfrm>
            <a:prstGeom prst="rightArrow">
              <a:avLst>
                <a:gd name="adj1" fmla="val 34890"/>
                <a:gd name="adj2" fmla="val 5632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17500" tIns="317500" rIns="317500" bIns="317500" numCol="1" anchor="ctr">
              <a:noAutofit/>
            </a:bodyPr>
            <a:lstStyle/>
            <a:p>
              <a:pPr defTabSz="2438338">
                <a:lnSpc>
                  <a:spcPct val="130000"/>
                </a:lnSpc>
                <a:defRPr>
                  <a:latin typeface="PT Mono"/>
                  <a:ea typeface="PT Mono"/>
                  <a:cs typeface="PT Mono"/>
                  <a:sym typeface="PT Mono"/>
                </a:defRPr>
              </a:pPr>
            </a:p>
          </p:txBody>
        </p:sp>
      </p:grpSp>
      <p:grpSp>
        <p:nvGrpSpPr>
          <p:cNvPr id="880" name="Group"/>
          <p:cNvGrpSpPr/>
          <p:nvPr/>
        </p:nvGrpSpPr>
        <p:grpSpPr>
          <a:xfrm>
            <a:off x="-342901" y="53675"/>
            <a:ext cx="16671230" cy="654073"/>
            <a:chOff x="0" y="0"/>
            <a:chExt cx="16671228" cy="654072"/>
          </a:xfrm>
        </p:grpSpPr>
        <p:grpSp>
          <p:nvGrpSpPr>
            <p:cNvPr id="867" name="Group"/>
            <p:cNvGrpSpPr/>
            <p:nvPr/>
          </p:nvGrpSpPr>
          <p:grpSpPr>
            <a:xfrm>
              <a:off x="9884046" y="9824"/>
              <a:ext cx="3492501" cy="644249"/>
              <a:chOff x="0" y="0"/>
              <a:chExt cx="3492500" cy="644247"/>
            </a:xfrm>
          </p:grpSpPr>
          <p:sp>
            <p:nvSpPr>
              <p:cNvPr id="865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7100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66" name="Effectful E-Graphs"/>
              <p:cNvSpPr txBox="1"/>
              <p:nvPr/>
            </p:nvSpPr>
            <p:spPr>
              <a:xfrm>
                <a:off x="356779" y="69246"/>
                <a:ext cx="2911202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Effectful E-Graphs</a:t>
                </a:r>
              </a:p>
            </p:txBody>
          </p:sp>
        </p:grpSp>
        <p:grpSp>
          <p:nvGrpSpPr>
            <p:cNvPr id="870" name="Group"/>
            <p:cNvGrpSpPr/>
            <p:nvPr/>
          </p:nvGrpSpPr>
          <p:grpSpPr>
            <a:xfrm>
              <a:off x="13178728" y="0"/>
              <a:ext cx="3492501" cy="644248"/>
              <a:chOff x="0" y="0"/>
              <a:chExt cx="3492500" cy="644247"/>
            </a:xfrm>
          </p:grpSpPr>
          <p:sp>
            <p:nvSpPr>
              <p:cNvPr id="868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EAD3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</a:pPr>
              </a:p>
            </p:txBody>
          </p:sp>
          <p:sp>
            <p:nvSpPr>
              <p:cNvPr id="869" name="Effectful Extraction"/>
              <p:cNvSpPr txBox="1"/>
              <p:nvPr/>
            </p:nvSpPr>
            <p:spPr>
              <a:xfrm>
                <a:off x="284377" y="65926"/>
                <a:ext cx="3056005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Effectful Extraction</a:t>
                </a:r>
              </a:p>
            </p:txBody>
          </p:sp>
        </p:grpSp>
        <p:grpSp>
          <p:nvGrpSpPr>
            <p:cNvPr id="873" name="Group"/>
            <p:cNvGrpSpPr/>
            <p:nvPr/>
          </p:nvGrpSpPr>
          <p:grpSpPr>
            <a:xfrm>
              <a:off x="3294682" y="9824"/>
              <a:ext cx="3492501" cy="644249"/>
              <a:chOff x="0" y="0"/>
              <a:chExt cx="3492500" cy="644247"/>
            </a:xfrm>
          </p:grpSpPr>
          <p:sp>
            <p:nvSpPr>
              <p:cNvPr id="871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872" name="E-Graphs"/>
              <p:cNvSpPr txBox="1"/>
              <p:nvPr/>
            </p:nvSpPr>
            <p:spPr>
              <a:xfrm>
                <a:off x="934828" y="69246"/>
                <a:ext cx="1628104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E-Graphs</a:t>
                </a:r>
              </a:p>
            </p:txBody>
          </p:sp>
        </p:grpSp>
        <p:grpSp>
          <p:nvGrpSpPr>
            <p:cNvPr id="876" name="Group"/>
            <p:cNvGrpSpPr/>
            <p:nvPr/>
          </p:nvGrpSpPr>
          <p:grpSpPr>
            <a:xfrm>
              <a:off x="6589364" y="9824"/>
              <a:ext cx="3492501" cy="644249"/>
              <a:chOff x="0" y="0"/>
              <a:chExt cx="3492500" cy="644247"/>
            </a:xfrm>
          </p:grpSpPr>
          <p:sp>
            <p:nvSpPr>
              <p:cNvPr id="874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875" name="Extraction"/>
              <p:cNvSpPr txBox="1"/>
              <p:nvPr/>
            </p:nvSpPr>
            <p:spPr>
              <a:xfrm>
                <a:off x="790357" y="69246"/>
                <a:ext cx="1917046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Extraction</a:t>
                </a:r>
              </a:p>
            </p:txBody>
          </p:sp>
        </p:grpSp>
        <p:grpSp>
          <p:nvGrpSpPr>
            <p:cNvPr id="879" name="Group"/>
            <p:cNvGrpSpPr/>
            <p:nvPr/>
          </p:nvGrpSpPr>
          <p:grpSpPr>
            <a:xfrm>
              <a:off x="-1" y="9824"/>
              <a:ext cx="3492501" cy="644249"/>
              <a:chOff x="0" y="0"/>
              <a:chExt cx="3492500" cy="644247"/>
            </a:xfrm>
          </p:grpSpPr>
          <p:sp>
            <p:nvSpPr>
              <p:cNvPr id="877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878" name="Rewriting"/>
              <p:cNvSpPr txBox="1"/>
              <p:nvPr/>
            </p:nvSpPr>
            <p:spPr>
              <a:xfrm>
                <a:off x="852376" y="69246"/>
                <a:ext cx="1793009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Rewriting</a:t>
                </a:r>
              </a:p>
            </p:txBody>
          </p:sp>
        </p:grpSp>
      </p:grpSp>
      <p:sp>
        <p:nvSpPr>
          <p:cNvPr id="881" name="(v1, σ1) = update(a, x)…"/>
          <p:cNvSpPr/>
          <p:nvPr/>
        </p:nvSpPr>
        <p:spPr>
          <a:xfrm>
            <a:off x="412218" y="4557437"/>
            <a:ext cx="9244926" cy="432403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1</a:t>
            </a:r>
            <a:r>
              <a:t>, σ</a:t>
            </a:r>
            <a:r>
              <a:rPr baseline="-5999"/>
              <a:t>1</a:t>
            </a:r>
            <a:r>
              <a:t>) = update(a, x)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2</a:t>
            </a:r>
            <a:r>
              <a:t>, σ</a:t>
            </a:r>
            <a:r>
              <a:rPr baseline="-5999"/>
              <a:t>2</a:t>
            </a:r>
            <a:r>
              <a:t>) = update(a, x)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3</a:t>
            </a:r>
            <a:r>
              <a:t>, σ</a:t>
            </a:r>
            <a:r>
              <a:rPr baseline="-5999"/>
              <a:t>3</a:t>
            </a:r>
            <a:r>
              <a:t>) = update(b, y)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4</a:t>
            </a:r>
            <a:r>
              <a:t>, σ</a:t>
            </a:r>
            <a:r>
              <a:rPr baseline="-5999"/>
              <a:t>4</a:t>
            </a:r>
            <a:r>
              <a:t>) = update(c, v</a:t>
            </a:r>
            <a:r>
              <a:rPr baseline="-5999"/>
              <a:t>2</a:t>
            </a:r>
            <a:r>
              <a:t>)</a:t>
            </a:r>
          </a:p>
        </p:txBody>
      </p:sp>
      <p:sp>
        <p:nvSpPr>
          <p:cNvPr id="882" name="b"/>
          <p:cNvSpPr/>
          <p:nvPr/>
        </p:nvSpPr>
        <p:spPr>
          <a:xfrm>
            <a:off x="8717473" y="12427610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883" name="σ"/>
          <p:cNvSpPr/>
          <p:nvPr/>
        </p:nvSpPr>
        <p:spPr>
          <a:xfrm>
            <a:off x="14476054" y="12427610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σ</a:t>
            </a:r>
          </a:p>
        </p:txBody>
      </p:sp>
      <p:sp>
        <p:nvSpPr>
          <p:cNvPr id="884" name="a"/>
          <p:cNvSpPr/>
          <p:nvPr/>
        </p:nvSpPr>
        <p:spPr>
          <a:xfrm>
            <a:off x="7635283" y="12427610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885" name="x"/>
          <p:cNvSpPr/>
          <p:nvPr/>
        </p:nvSpPr>
        <p:spPr>
          <a:xfrm>
            <a:off x="10881852" y="12427610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886" name="update"/>
          <p:cNvSpPr/>
          <p:nvPr/>
        </p:nvSpPr>
        <p:spPr>
          <a:xfrm>
            <a:off x="12797467" y="11188577"/>
            <a:ext cx="2289068" cy="812801"/>
          </a:xfrm>
          <a:prstGeom prst="roundRect">
            <a:avLst>
              <a:gd name="adj" fmla="val 33349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update</a:t>
            </a:r>
          </a:p>
        </p:txBody>
      </p:sp>
      <p:sp>
        <p:nvSpPr>
          <p:cNvPr id="887" name="update"/>
          <p:cNvSpPr/>
          <p:nvPr/>
        </p:nvSpPr>
        <p:spPr>
          <a:xfrm>
            <a:off x="12797467" y="8717033"/>
            <a:ext cx="2289068" cy="812801"/>
          </a:xfrm>
          <a:prstGeom prst="roundRect">
            <a:avLst>
              <a:gd name="adj" fmla="val 33349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update</a:t>
            </a:r>
          </a:p>
        </p:txBody>
      </p:sp>
      <p:sp>
        <p:nvSpPr>
          <p:cNvPr id="888" name="σ1"/>
          <p:cNvSpPr/>
          <p:nvPr/>
        </p:nvSpPr>
        <p:spPr>
          <a:xfrm>
            <a:off x="14476054" y="9956068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pPr>
            <a:r>
              <a:t>σ</a:t>
            </a:r>
            <a:r>
              <a:rPr baseline="-5999"/>
              <a:t>1</a:t>
            </a:r>
          </a:p>
        </p:txBody>
      </p:sp>
      <p:sp>
        <p:nvSpPr>
          <p:cNvPr id="889" name="v1"/>
          <p:cNvSpPr/>
          <p:nvPr/>
        </p:nvSpPr>
        <p:spPr>
          <a:xfrm>
            <a:off x="12519116" y="9844941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1</a:t>
            </a:r>
          </a:p>
        </p:txBody>
      </p:sp>
      <p:sp>
        <p:nvSpPr>
          <p:cNvPr id="890" name="update"/>
          <p:cNvSpPr/>
          <p:nvPr/>
        </p:nvSpPr>
        <p:spPr>
          <a:xfrm>
            <a:off x="12797467" y="6245490"/>
            <a:ext cx="2289068" cy="812801"/>
          </a:xfrm>
          <a:prstGeom prst="roundRect">
            <a:avLst>
              <a:gd name="adj" fmla="val 33349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update</a:t>
            </a:r>
          </a:p>
        </p:txBody>
      </p:sp>
      <p:sp>
        <p:nvSpPr>
          <p:cNvPr id="891" name="σ2"/>
          <p:cNvSpPr/>
          <p:nvPr/>
        </p:nvSpPr>
        <p:spPr>
          <a:xfrm>
            <a:off x="14476054" y="7484523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pPr>
            <a:r>
              <a:t>σ</a:t>
            </a:r>
            <a:r>
              <a:rPr baseline="-5999"/>
              <a:t>2</a:t>
            </a:r>
          </a:p>
        </p:txBody>
      </p:sp>
      <p:sp>
        <p:nvSpPr>
          <p:cNvPr id="892" name="v2"/>
          <p:cNvSpPr/>
          <p:nvPr/>
        </p:nvSpPr>
        <p:spPr>
          <a:xfrm>
            <a:off x="12519116" y="7459123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2</a:t>
            </a:r>
          </a:p>
        </p:txBody>
      </p:sp>
      <p:sp>
        <p:nvSpPr>
          <p:cNvPr id="893" name="σ3"/>
          <p:cNvSpPr/>
          <p:nvPr/>
        </p:nvSpPr>
        <p:spPr>
          <a:xfrm>
            <a:off x="14476054" y="5012980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pPr>
            <a:r>
              <a:t>σ</a:t>
            </a:r>
            <a:r>
              <a:rPr baseline="-5999"/>
              <a:t>3</a:t>
            </a:r>
          </a:p>
        </p:txBody>
      </p:sp>
      <p:sp>
        <p:nvSpPr>
          <p:cNvPr id="894" name="v3"/>
          <p:cNvSpPr/>
          <p:nvPr/>
        </p:nvSpPr>
        <p:spPr>
          <a:xfrm>
            <a:off x="12519116" y="5073305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3</a:t>
            </a:r>
          </a:p>
        </p:txBody>
      </p:sp>
      <p:cxnSp>
        <p:nvCxnSpPr>
          <p:cNvPr id="895" name="Connection Line"/>
          <p:cNvCxnSpPr>
            <a:stCxn id="883" idx="0"/>
            <a:endCxn id="886" idx="0"/>
          </p:cNvCxnSpPr>
          <p:nvPr/>
        </p:nvCxnSpPr>
        <p:spPr>
          <a:xfrm flipH="1" flipV="1">
            <a:off x="13942000" y="11594977"/>
            <a:ext cx="940455" cy="1235772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headEnd type="arrow"/>
          </a:ln>
        </p:spPr>
      </p:cxnSp>
      <p:cxnSp>
        <p:nvCxnSpPr>
          <p:cNvPr id="896" name="Connection Line"/>
          <p:cNvCxnSpPr>
            <a:stCxn id="888" idx="0"/>
            <a:endCxn id="886" idx="0"/>
          </p:cNvCxnSpPr>
          <p:nvPr/>
        </p:nvCxnSpPr>
        <p:spPr>
          <a:xfrm flipH="1">
            <a:off x="13942000" y="10359206"/>
            <a:ext cx="940455" cy="1235772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897" name="Connection Line"/>
          <p:cNvCxnSpPr>
            <a:stCxn id="888" idx="0"/>
            <a:endCxn id="887" idx="0"/>
          </p:cNvCxnSpPr>
          <p:nvPr/>
        </p:nvCxnSpPr>
        <p:spPr>
          <a:xfrm flipH="1" flipV="1">
            <a:off x="13942000" y="9123433"/>
            <a:ext cx="940455" cy="1235774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headEnd type="arrow"/>
          </a:ln>
        </p:spPr>
      </p:cxnSp>
      <p:cxnSp>
        <p:nvCxnSpPr>
          <p:cNvPr id="898" name="Connection Line"/>
          <p:cNvCxnSpPr>
            <a:stCxn id="887" idx="0"/>
            <a:endCxn id="891" idx="0"/>
          </p:cNvCxnSpPr>
          <p:nvPr/>
        </p:nvCxnSpPr>
        <p:spPr>
          <a:xfrm flipV="1">
            <a:off x="13942000" y="7887661"/>
            <a:ext cx="940455" cy="1235773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headEnd type="arrow"/>
          </a:ln>
        </p:spPr>
      </p:cxnSp>
      <p:cxnSp>
        <p:nvCxnSpPr>
          <p:cNvPr id="899" name="Connection Line"/>
          <p:cNvCxnSpPr>
            <a:stCxn id="890" idx="0"/>
            <a:endCxn id="891" idx="0"/>
          </p:cNvCxnSpPr>
          <p:nvPr/>
        </p:nvCxnSpPr>
        <p:spPr>
          <a:xfrm>
            <a:off x="13942000" y="6651890"/>
            <a:ext cx="940455" cy="1235772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900" name="Connection Line"/>
          <p:cNvCxnSpPr>
            <a:stCxn id="893" idx="0"/>
            <a:endCxn id="890" idx="0"/>
          </p:cNvCxnSpPr>
          <p:nvPr/>
        </p:nvCxnSpPr>
        <p:spPr>
          <a:xfrm flipH="1">
            <a:off x="13942000" y="5416118"/>
            <a:ext cx="940455" cy="1235773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901" name="Connection Line"/>
          <p:cNvCxnSpPr>
            <a:stCxn id="885" idx="0"/>
            <a:endCxn id="886" idx="0"/>
          </p:cNvCxnSpPr>
          <p:nvPr/>
        </p:nvCxnSpPr>
        <p:spPr>
          <a:xfrm flipV="1">
            <a:off x="11288252" y="11594977"/>
            <a:ext cx="2653749" cy="1235772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902" name="Connection Line"/>
          <p:cNvCxnSpPr>
            <a:stCxn id="884" idx="0"/>
            <a:endCxn id="886" idx="0"/>
          </p:cNvCxnSpPr>
          <p:nvPr/>
        </p:nvCxnSpPr>
        <p:spPr>
          <a:xfrm flipV="1">
            <a:off x="8041683" y="11594977"/>
            <a:ext cx="5900318" cy="1235772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903" name="Connection Line"/>
          <p:cNvCxnSpPr>
            <a:stCxn id="889" idx="0"/>
            <a:endCxn id="886" idx="0"/>
          </p:cNvCxnSpPr>
          <p:nvPr/>
        </p:nvCxnSpPr>
        <p:spPr>
          <a:xfrm>
            <a:off x="12925516" y="10248079"/>
            <a:ext cx="1016485" cy="1346899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904" name="Connection Line"/>
          <p:cNvCxnSpPr>
            <a:stCxn id="885" idx="0"/>
            <a:endCxn id="887" idx="0"/>
          </p:cNvCxnSpPr>
          <p:nvPr/>
        </p:nvCxnSpPr>
        <p:spPr>
          <a:xfrm flipV="1">
            <a:off x="11288252" y="9123433"/>
            <a:ext cx="2653749" cy="3707316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905" name="Connection Line"/>
          <p:cNvCxnSpPr>
            <a:stCxn id="884" idx="0"/>
            <a:endCxn id="887" idx="0"/>
          </p:cNvCxnSpPr>
          <p:nvPr/>
        </p:nvCxnSpPr>
        <p:spPr>
          <a:xfrm flipV="1">
            <a:off x="8041683" y="9123433"/>
            <a:ext cx="5900318" cy="3707316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906" name="Connection Line"/>
          <p:cNvCxnSpPr>
            <a:stCxn id="887" idx="0"/>
            <a:endCxn id="892" idx="0"/>
          </p:cNvCxnSpPr>
          <p:nvPr/>
        </p:nvCxnSpPr>
        <p:spPr>
          <a:xfrm flipH="1" flipV="1">
            <a:off x="12925516" y="7862261"/>
            <a:ext cx="1016485" cy="1261173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907" name="Connection Line"/>
          <p:cNvCxnSpPr>
            <a:stCxn id="890" idx="0"/>
            <a:endCxn id="894" idx="0"/>
          </p:cNvCxnSpPr>
          <p:nvPr/>
        </p:nvCxnSpPr>
        <p:spPr>
          <a:xfrm flipH="1" flipV="1">
            <a:off x="12925516" y="5476443"/>
            <a:ext cx="1016485" cy="117544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sp>
        <p:nvSpPr>
          <p:cNvPr id="908" name="y"/>
          <p:cNvSpPr/>
          <p:nvPr/>
        </p:nvSpPr>
        <p:spPr>
          <a:xfrm>
            <a:off x="11964041" y="12427610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y</a:t>
            </a:r>
          </a:p>
        </p:txBody>
      </p:sp>
      <p:cxnSp>
        <p:nvCxnSpPr>
          <p:cNvPr id="909" name="Connection Line"/>
          <p:cNvCxnSpPr>
            <a:stCxn id="890" idx="0"/>
            <a:endCxn id="882" idx="0"/>
          </p:cNvCxnSpPr>
          <p:nvPr/>
        </p:nvCxnSpPr>
        <p:spPr>
          <a:xfrm flipH="1">
            <a:off x="9123873" y="6651890"/>
            <a:ext cx="4818128" cy="6178859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910" name="Connection Line"/>
          <p:cNvCxnSpPr>
            <a:stCxn id="890" idx="0"/>
            <a:endCxn id="908" idx="0"/>
          </p:cNvCxnSpPr>
          <p:nvPr/>
        </p:nvCxnSpPr>
        <p:spPr>
          <a:xfrm flipH="1">
            <a:off x="12370441" y="6651890"/>
            <a:ext cx="1571560" cy="6178859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Redundant Update Elimin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Redundant Update Elimination</a:t>
            </a:r>
          </a:p>
        </p:txBody>
      </p:sp>
      <p:sp>
        <p:nvSpPr>
          <p:cNvPr id="9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942" name="Group"/>
          <p:cNvGrpSpPr/>
          <p:nvPr/>
        </p:nvGrpSpPr>
        <p:grpSpPr>
          <a:xfrm>
            <a:off x="18749526" y="636496"/>
            <a:ext cx="4161573" cy="2321902"/>
            <a:chOff x="0" y="0"/>
            <a:chExt cx="4161571" cy="2321900"/>
          </a:xfrm>
        </p:grpSpPr>
        <p:grpSp>
          <p:nvGrpSpPr>
            <p:cNvPr id="923" name="Group"/>
            <p:cNvGrpSpPr/>
            <p:nvPr/>
          </p:nvGrpSpPr>
          <p:grpSpPr>
            <a:xfrm>
              <a:off x="0" y="798432"/>
              <a:ext cx="1358704" cy="850828"/>
              <a:chOff x="0" y="0"/>
              <a:chExt cx="1358703" cy="850827"/>
            </a:xfrm>
          </p:grpSpPr>
          <p:sp>
            <p:nvSpPr>
              <p:cNvPr id="914" name="Rectangle"/>
              <p:cNvSpPr/>
              <p:nvPr/>
            </p:nvSpPr>
            <p:spPr>
              <a:xfrm>
                <a:off x="0" y="0"/>
                <a:ext cx="1358704" cy="85082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>
                <a:outerShdw sx="100000" sy="100000" kx="0" ky="0" algn="b" rotWithShape="0" blurRad="190500" dist="12700" dir="5400000">
                  <a:srgbClr val="000000"/>
                </a:outerShdw>
              </a:effectLst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20000"/>
                  </a:lnSpc>
                  <a:spcBef>
                    <a:spcPts val="0"/>
                  </a:spcBef>
                  <a:defRPr sz="4000"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915" name="Rectangle"/>
              <p:cNvSpPr/>
              <p:nvPr/>
            </p:nvSpPr>
            <p:spPr>
              <a:xfrm>
                <a:off x="58998" y="55847"/>
                <a:ext cx="768977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916" name="Rectangle"/>
              <p:cNvSpPr/>
              <p:nvPr/>
            </p:nvSpPr>
            <p:spPr>
              <a:xfrm>
                <a:off x="147476" y="152094"/>
                <a:ext cx="816546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917" name="Rectangle"/>
              <p:cNvSpPr/>
              <p:nvPr/>
            </p:nvSpPr>
            <p:spPr>
              <a:xfrm>
                <a:off x="147476" y="248342"/>
                <a:ext cx="1014043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918" name="Rectangle"/>
              <p:cNvSpPr/>
              <p:nvPr/>
            </p:nvSpPr>
            <p:spPr>
              <a:xfrm>
                <a:off x="241391" y="344589"/>
                <a:ext cx="436932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919" name="Rectangle"/>
              <p:cNvSpPr/>
              <p:nvPr/>
            </p:nvSpPr>
            <p:spPr>
              <a:xfrm>
                <a:off x="147476" y="440836"/>
                <a:ext cx="632390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920" name="Rectangle"/>
              <p:cNvSpPr/>
              <p:nvPr/>
            </p:nvSpPr>
            <p:spPr>
              <a:xfrm>
                <a:off x="241391" y="537083"/>
                <a:ext cx="722018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921" name="Rectangle"/>
              <p:cNvSpPr/>
              <p:nvPr/>
            </p:nvSpPr>
            <p:spPr>
              <a:xfrm>
                <a:off x="147476" y="633331"/>
                <a:ext cx="601032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  <p:sp>
            <p:nvSpPr>
              <p:cNvPr id="922" name="Rectangle"/>
              <p:cNvSpPr/>
              <p:nvPr/>
            </p:nvSpPr>
            <p:spPr>
              <a:xfrm>
                <a:off x="147476" y="729577"/>
                <a:ext cx="1152230" cy="65402"/>
              </a:xfrm>
              <a:prstGeom prst="rect">
                <a:avLst/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17500" tIns="317500" rIns="317500" bIns="317500" numCol="1" anchor="ctr">
                <a:noAutofit/>
              </a:bodyPr>
              <a:lstStyle/>
              <a:p>
                <a:pPr defTabSz="2438338">
                  <a:lnSpc>
                    <a:spcPct val="130000"/>
                  </a:lnSpc>
                  <a:defRPr>
                    <a:latin typeface="PT Mono"/>
                    <a:ea typeface="PT Mono"/>
                    <a:cs typeface="PT Mono"/>
                    <a:sym typeface="PT Mono"/>
                  </a:defRPr>
                </a:pPr>
              </a:p>
            </p:txBody>
          </p:sp>
        </p:grpSp>
        <p:grpSp>
          <p:nvGrpSpPr>
            <p:cNvPr id="940" name="Group"/>
            <p:cNvGrpSpPr/>
            <p:nvPr/>
          </p:nvGrpSpPr>
          <p:grpSpPr>
            <a:xfrm>
              <a:off x="2461159" y="0"/>
              <a:ext cx="1700413" cy="2321901"/>
              <a:chOff x="0" y="0"/>
              <a:chExt cx="1700412" cy="2321900"/>
            </a:xfrm>
          </p:grpSpPr>
          <p:sp>
            <p:nvSpPr>
              <p:cNvPr id="924" name="Rounded Rectangle"/>
              <p:cNvSpPr/>
              <p:nvPr/>
            </p:nvSpPr>
            <p:spPr>
              <a:xfrm>
                <a:off x="1401611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25" name="Rounded Rectangle"/>
              <p:cNvSpPr/>
              <p:nvPr/>
            </p:nvSpPr>
            <p:spPr>
              <a:xfrm>
                <a:off x="1051208" y="1364403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26" name="Rounded Rectangle"/>
              <p:cNvSpPr/>
              <p:nvPr/>
            </p:nvSpPr>
            <p:spPr>
              <a:xfrm>
                <a:off x="700805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27" name="Rounded Rectangle"/>
              <p:cNvSpPr/>
              <p:nvPr/>
            </p:nvSpPr>
            <p:spPr>
              <a:xfrm>
                <a:off x="700805" y="682201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28" name="Rounded Rectangle"/>
              <p:cNvSpPr/>
              <p:nvPr/>
            </p:nvSpPr>
            <p:spPr>
              <a:xfrm>
                <a:off x="409431" y="1364403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29" name="Rounded Rectangle"/>
              <p:cNvSpPr/>
              <p:nvPr/>
            </p:nvSpPr>
            <p:spPr>
              <a:xfrm>
                <a:off x="0" y="2023098"/>
                <a:ext cx="298802" cy="298803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cxnSp>
            <p:nvCxnSpPr>
              <p:cNvPr id="930" name="Connection Line"/>
              <p:cNvCxnSpPr>
                <a:stCxn id="925" idx="0"/>
                <a:endCxn id="924" idx="0"/>
              </p:cNvCxnSpPr>
              <p:nvPr/>
            </p:nvCxnSpPr>
            <p:spPr>
              <a:xfrm>
                <a:off x="1200608" y="1513804"/>
                <a:ext cx="350405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931" name="Connection Line"/>
              <p:cNvCxnSpPr>
                <a:stCxn id="925" idx="0"/>
                <a:endCxn id="926" idx="0"/>
              </p:cNvCxnSpPr>
              <p:nvPr/>
            </p:nvCxnSpPr>
            <p:spPr>
              <a:xfrm flipH="1">
                <a:off x="850206" y="1513804"/>
                <a:ext cx="350403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932" name="Connection Line"/>
              <p:cNvCxnSpPr>
                <a:stCxn id="928" idx="0"/>
                <a:endCxn id="926" idx="0"/>
              </p:cNvCxnSpPr>
              <p:nvPr/>
            </p:nvCxnSpPr>
            <p:spPr>
              <a:xfrm>
                <a:off x="558831" y="1513804"/>
                <a:ext cx="291376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933" name="Connection Line"/>
              <p:cNvCxnSpPr>
                <a:stCxn id="928" idx="0"/>
                <a:endCxn id="929" idx="0"/>
              </p:cNvCxnSpPr>
              <p:nvPr/>
            </p:nvCxnSpPr>
            <p:spPr>
              <a:xfrm flipH="1">
                <a:off x="149400" y="1513804"/>
                <a:ext cx="409432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934" name="Connection Line"/>
              <p:cNvCxnSpPr>
                <a:stCxn id="928" idx="0"/>
                <a:endCxn id="929" idx="0"/>
              </p:cNvCxnSpPr>
              <p:nvPr/>
            </p:nvCxnSpPr>
            <p:spPr>
              <a:xfrm flipH="1">
                <a:off x="149400" y="1513804"/>
                <a:ext cx="409432" cy="658696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sp>
            <p:nvSpPr>
              <p:cNvPr id="935" name="Rounded Rectangle"/>
              <p:cNvSpPr/>
              <p:nvPr/>
            </p:nvSpPr>
            <p:spPr>
              <a:xfrm>
                <a:off x="700805" y="0"/>
                <a:ext cx="298802" cy="298802"/>
              </a:xfrm>
              <a:prstGeom prst="roundRect">
                <a:avLst>
                  <a:gd name="adj" fmla="val 30640"/>
                </a:avLst>
              </a:prstGeom>
              <a:solidFill>
                <a:srgbClr val="FFFFFF"/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rmAutofit fontScale="100000" lnSpcReduction="0"/>
              </a:bodyPr>
              <a:lstStyle/>
              <a:p>
                <a:pPr algn="ctr" defTabSz="2438338">
                  <a:lnSpc>
                    <a:spcPct val="100000"/>
                  </a:lnSpc>
                  <a:spcBef>
                    <a:spcPts val="0"/>
                  </a:spcBef>
                  <a:defRPr sz="50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cxnSp>
            <p:nvCxnSpPr>
              <p:cNvPr id="936" name="Connection Line"/>
              <p:cNvCxnSpPr>
                <a:stCxn id="935" idx="0"/>
                <a:endCxn id="927" idx="0"/>
              </p:cNvCxnSpPr>
              <p:nvPr/>
            </p:nvCxnSpPr>
            <p:spPr>
              <a:xfrm>
                <a:off x="850206" y="149400"/>
                <a:ext cx="1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</p:cxnSp>
          <p:cxnSp>
            <p:nvCxnSpPr>
              <p:cNvPr id="937" name="Connection Line"/>
              <p:cNvCxnSpPr>
                <a:stCxn id="924" idx="0"/>
                <a:endCxn id="927" idx="0"/>
              </p:cNvCxnSpPr>
              <p:nvPr/>
            </p:nvCxnSpPr>
            <p:spPr>
              <a:xfrm flipH="1" flipV="1">
                <a:off x="850206" y="831602"/>
                <a:ext cx="700807" cy="1340898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  <p:cxnSp>
            <p:nvCxnSpPr>
              <p:cNvPr id="938" name="Connection Line"/>
              <p:cNvCxnSpPr>
                <a:stCxn id="925" idx="0"/>
                <a:endCxn id="927" idx="0"/>
              </p:cNvCxnSpPr>
              <p:nvPr/>
            </p:nvCxnSpPr>
            <p:spPr>
              <a:xfrm flipH="1" flipV="1">
                <a:off x="850206" y="831602"/>
                <a:ext cx="350403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  <p:cxnSp>
            <p:nvCxnSpPr>
              <p:cNvPr id="939" name="Connection Line"/>
              <p:cNvCxnSpPr>
                <a:stCxn id="928" idx="0"/>
                <a:endCxn id="927" idx="0"/>
              </p:cNvCxnSpPr>
              <p:nvPr/>
            </p:nvCxnSpPr>
            <p:spPr>
              <a:xfrm flipV="1">
                <a:off x="558831" y="831602"/>
                <a:ext cx="291376" cy="682203"/>
              </a:xfrm>
              <a:prstGeom prst="straightConnector1">
                <a:avLst/>
              </a:prstGeom>
              <a:ln w="25400" cap="flat">
                <a:solidFill>
                  <a:srgbClr val="000000"/>
                </a:solidFill>
                <a:prstDash val="solid"/>
                <a:miter lim="400000"/>
                <a:headEnd type="arrow" w="med" len="med"/>
              </a:ln>
              <a:effectLst/>
            </p:spPr>
          </p:cxnSp>
        </p:grpSp>
        <p:sp>
          <p:nvSpPr>
            <p:cNvPr id="941" name="Arrow"/>
            <p:cNvSpPr/>
            <p:nvPr/>
          </p:nvSpPr>
          <p:spPr>
            <a:xfrm>
              <a:off x="1911016" y="1085646"/>
              <a:ext cx="479197" cy="276400"/>
            </a:xfrm>
            <a:prstGeom prst="rightArrow">
              <a:avLst>
                <a:gd name="adj1" fmla="val 34890"/>
                <a:gd name="adj2" fmla="val 5632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317500" tIns="317500" rIns="317500" bIns="317500" numCol="1" anchor="ctr">
              <a:noAutofit/>
            </a:bodyPr>
            <a:lstStyle/>
            <a:p>
              <a:pPr defTabSz="2438338">
                <a:lnSpc>
                  <a:spcPct val="130000"/>
                </a:lnSpc>
                <a:defRPr>
                  <a:latin typeface="PT Mono"/>
                  <a:ea typeface="PT Mono"/>
                  <a:cs typeface="PT Mono"/>
                  <a:sym typeface="PT Mono"/>
                </a:defRPr>
              </a:pPr>
            </a:p>
          </p:txBody>
        </p:sp>
      </p:grpSp>
      <p:grpSp>
        <p:nvGrpSpPr>
          <p:cNvPr id="958" name="Group"/>
          <p:cNvGrpSpPr/>
          <p:nvPr/>
        </p:nvGrpSpPr>
        <p:grpSpPr>
          <a:xfrm>
            <a:off x="-342901" y="53675"/>
            <a:ext cx="16671230" cy="654073"/>
            <a:chOff x="0" y="0"/>
            <a:chExt cx="16671228" cy="654072"/>
          </a:xfrm>
        </p:grpSpPr>
        <p:grpSp>
          <p:nvGrpSpPr>
            <p:cNvPr id="945" name="Group"/>
            <p:cNvGrpSpPr/>
            <p:nvPr/>
          </p:nvGrpSpPr>
          <p:grpSpPr>
            <a:xfrm>
              <a:off x="9884046" y="9824"/>
              <a:ext cx="3492501" cy="644249"/>
              <a:chOff x="0" y="0"/>
              <a:chExt cx="3492500" cy="644247"/>
            </a:xfrm>
          </p:grpSpPr>
          <p:sp>
            <p:nvSpPr>
              <p:cNvPr id="943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7100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44" name="Effectful E-Graphs"/>
              <p:cNvSpPr txBox="1"/>
              <p:nvPr/>
            </p:nvSpPr>
            <p:spPr>
              <a:xfrm>
                <a:off x="356779" y="69246"/>
                <a:ext cx="2911202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Effectful E-Graphs</a:t>
                </a:r>
              </a:p>
            </p:txBody>
          </p:sp>
        </p:grpSp>
        <p:grpSp>
          <p:nvGrpSpPr>
            <p:cNvPr id="948" name="Group"/>
            <p:cNvGrpSpPr/>
            <p:nvPr/>
          </p:nvGrpSpPr>
          <p:grpSpPr>
            <a:xfrm>
              <a:off x="13178728" y="0"/>
              <a:ext cx="3492501" cy="644248"/>
              <a:chOff x="0" y="0"/>
              <a:chExt cx="3492500" cy="644247"/>
            </a:xfrm>
          </p:grpSpPr>
          <p:sp>
            <p:nvSpPr>
              <p:cNvPr id="946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EAD3"/>
              </a:solidFill>
              <a:ln w="25400" cap="flat">
                <a:solidFill>
                  <a:srgbClr val="0171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</a:pPr>
              </a:p>
            </p:txBody>
          </p:sp>
          <p:sp>
            <p:nvSpPr>
              <p:cNvPr id="947" name="Effectful Extraction"/>
              <p:cNvSpPr txBox="1"/>
              <p:nvPr/>
            </p:nvSpPr>
            <p:spPr>
              <a:xfrm>
                <a:off x="284377" y="65926"/>
                <a:ext cx="3056005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Effectful Extraction</a:t>
                </a:r>
              </a:p>
            </p:txBody>
          </p:sp>
        </p:grpSp>
        <p:grpSp>
          <p:nvGrpSpPr>
            <p:cNvPr id="951" name="Group"/>
            <p:cNvGrpSpPr/>
            <p:nvPr/>
          </p:nvGrpSpPr>
          <p:grpSpPr>
            <a:xfrm>
              <a:off x="3294682" y="9824"/>
              <a:ext cx="3492501" cy="644249"/>
              <a:chOff x="0" y="0"/>
              <a:chExt cx="3492500" cy="644247"/>
            </a:xfrm>
          </p:grpSpPr>
          <p:sp>
            <p:nvSpPr>
              <p:cNvPr id="949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950" name="E-Graphs"/>
              <p:cNvSpPr txBox="1"/>
              <p:nvPr/>
            </p:nvSpPr>
            <p:spPr>
              <a:xfrm>
                <a:off x="934828" y="69246"/>
                <a:ext cx="1628104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E-Graphs</a:t>
                </a:r>
              </a:p>
            </p:txBody>
          </p:sp>
        </p:grpSp>
        <p:grpSp>
          <p:nvGrpSpPr>
            <p:cNvPr id="954" name="Group"/>
            <p:cNvGrpSpPr/>
            <p:nvPr/>
          </p:nvGrpSpPr>
          <p:grpSpPr>
            <a:xfrm>
              <a:off x="6589364" y="9824"/>
              <a:ext cx="3492501" cy="644249"/>
              <a:chOff x="0" y="0"/>
              <a:chExt cx="3492500" cy="644247"/>
            </a:xfrm>
          </p:grpSpPr>
          <p:sp>
            <p:nvSpPr>
              <p:cNvPr id="952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953" name="Extraction"/>
              <p:cNvSpPr txBox="1"/>
              <p:nvPr/>
            </p:nvSpPr>
            <p:spPr>
              <a:xfrm>
                <a:off x="790357" y="69246"/>
                <a:ext cx="1917046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Extraction</a:t>
                </a:r>
              </a:p>
            </p:txBody>
          </p:sp>
        </p:grpSp>
        <p:grpSp>
          <p:nvGrpSpPr>
            <p:cNvPr id="957" name="Group"/>
            <p:cNvGrpSpPr/>
            <p:nvPr/>
          </p:nvGrpSpPr>
          <p:grpSpPr>
            <a:xfrm>
              <a:off x="-1" y="9824"/>
              <a:ext cx="3492501" cy="644249"/>
              <a:chOff x="0" y="0"/>
              <a:chExt cx="3492500" cy="644247"/>
            </a:xfrm>
          </p:grpSpPr>
          <p:sp>
            <p:nvSpPr>
              <p:cNvPr id="955" name="Shape"/>
              <p:cNvSpPr/>
              <p:nvPr/>
            </p:nvSpPr>
            <p:spPr>
              <a:xfrm>
                <a:off x="0" y="0"/>
                <a:ext cx="3492500" cy="644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189"/>
                    </a:lnTo>
                    <a:lnTo>
                      <a:pt x="1957" y="10800"/>
                    </a:lnTo>
                    <a:lnTo>
                      <a:pt x="0" y="21411"/>
                    </a:lnTo>
                    <a:lnTo>
                      <a:pt x="0" y="21600"/>
                    </a:lnTo>
                    <a:lnTo>
                      <a:pt x="19595" y="21600"/>
                    </a:lnTo>
                    <a:lnTo>
                      <a:pt x="19595" y="21150"/>
                    </a:lnTo>
                    <a:lnTo>
                      <a:pt x="19643" y="21411"/>
                    </a:lnTo>
                    <a:lnTo>
                      <a:pt x="21600" y="10800"/>
                    </a:lnTo>
                    <a:lnTo>
                      <a:pt x="19643" y="189"/>
                    </a:lnTo>
                    <a:lnTo>
                      <a:pt x="19595" y="450"/>
                    </a:lnTo>
                    <a:lnTo>
                      <a:pt x="195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127000" tIns="127000" rIns="127000" bIns="127000" numCol="1" anchor="ctr">
                <a:noAutofit/>
              </a:bodyPr>
              <a:lstStyle/>
              <a:p>
                <a:pPr defTabSz="2438338">
                  <a:lnSpc>
                    <a:spcPct val="100000"/>
                  </a:lnSpc>
                  <a:spcBef>
                    <a:spcPts val="0"/>
                  </a:spcBef>
                  <a:defRPr>
                    <a:solidFill>
                      <a:srgbClr val="C0C0C0"/>
                    </a:solidFill>
                  </a:defRPr>
                </a:pPr>
              </a:p>
            </p:txBody>
          </p:sp>
          <p:sp>
            <p:nvSpPr>
              <p:cNvPr id="956" name="Rewriting"/>
              <p:cNvSpPr txBox="1"/>
              <p:nvPr/>
            </p:nvSpPr>
            <p:spPr>
              <a:xfrm>
                <a:off x="852376" y="69246"/>
                <a:ext cx="1793009" cy="5057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2438338">
                  <a:defRPr b="1" sz="2500"/>
                </a:lvl1pPr>
              </a:lstStyle>
              <a:p>
                <a:pPr/>
                <a:r>
                  <a:t>Rewriting</a:t>
                </a:r>
              </a:p>
            </p:txBody>
          </p:sp>
        </p:grpSp>
      </p:grpSp>
      <p:sp>
        <p:nvSpPr>
          <p:cNvPr id="959" name="(v1, σ1) = update(a, x)…"/>
          <p:cNvSpPr/>
          <p:nvPr/>
        </p:nvSpPr>
        <p:spPr>
          <a:xfrm>
            <a:off x="412218" y="4557437"/>
            <a:ext cx="9244926" cy="432403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1</a:t>
            </a:r>
            <a:r>
              <a:t>, σ</a:t>
            </a:r>
            <a:r>
              <a:rPr baseline="-5999"/>
              <a:t>1</a:t>
            </a:r>
            <a:r>
              <a:t>) = update(a, x)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2</a:t>
            </a:r>
            <a:r>
              <a:t>, σ</a:t>
            </a:r>
            <a:r>
              <a:rPr baseline="-5999"/>
              <a:t>2</a:t>
            </a:r>
            <a:r>
              <a:t>) = update(a, x)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3</a:t>
            </a:r>
            <a:r>
              <a:t>, σ</a:t>
            </a:r>
            <a:r>
              <a:rPr baseline="-5999"/>
              <a:t>3</a:t>
            </a:r>
            <a:r>
              <a:t>) = update(b, y)</a:t>
            </a:r>
          </a:p>
          <a:p>
            <a:pPr defTabSz="2438338">
              <a:lnSpc>
                <a:spcPct val="150000"/>
              </a:lnSpc>
              <a:spcBef>
                <a:spcPts val="0"/>
              </a:spcBef>
              <a:defRPr sz="5000">
                <a:latin typeface="PT Mono"/>
                <a:ea typeface="PT Mono"/>
                <a:cs typeface="PT Mono"/>
                <a:sym typeface="PT Mono"/>
              </a:defRPr>
            </a:pPr>
            <a:r>
              <a:t>(v</a:t>
            </a:r>
            <a:r>
              <a:rPr baseline="-5999"/>
              <a:t>4</a:t>
            </a:r>
            <a:r>
              <a:t>, σ</a:t>
            </a:r>
            <a:r>
              <a:rPr baseline="-5999"/>
              <a:t>4</a:t>
            </a:r>
            <a:r>
              <a:t>) = update(c, v</a:t>
            </a:r>
            <a:r>
              <a:rPr baseline="-5999"/>
              <a:t>2</a:t>
            </a:r>
            <a:r>
              <a:t>)</a:t>
            </a:r>
          </a:p>
        </p:txBody>
      </p:sp>
      <p:sp>
        <p:nvSpPr>
          <p:cNvPr id="960" name="b"/>
          <p:cNvSpPr/>
          <p:nvPr/>
        </p:nvSpPr>
        <p:spPr>
          <a:xfrm>
            <a:off x="8717473" y="12427610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961" name="σ"/>
          <p:cNvSpPr/>
          <p:nvPr/>
        </p:nvSpPr>
        <p:spPr>
          <a:xfrm>
            <a:off x="14476054" y="12427610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σ</a:t>
            </a:r>
          </a:p>
        </p:txBody>
      </p:sp>
      <p:sp>
        <p:nvSpPr>
          <p:cNvPr id="962" name="a"/>
          <p:cNvSpPr/>
          <p:nvPr/>
        </p:nvSpPr>
        <p:spPr>
          <a:xfrm>
            <a:off x="7635283" y="12427610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963" name="x"/>
          <p:cNvSpPr/>
          <p:nvPr/>
        </p:nvSpPr>
        <p:spPr>
          <a:xfrm>
            <a:off x="10881852" y="12427610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964" name="update"/>
          <p:cNvSpPr/>
          <p:nvPr/>
        </p:nvSpPr>
        <p:spPr>
          <a:xfrm>
            <a:off x="12797467" y="11188577"/>
            <a:ext cx="2289068" cy="812801"/>
          </a:xfrm>
          <a:prstGeom prst="roundRect">
            <a:avLst>
              <a:gd name="adj" fmla="val 33349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update</a:t>
            </a:r>
          </a:p>
        </p:txBody>
      </p:sp>
      <p:sp>
        <p:nvSpPr>
          <p:cNvPr id="965" name="update"/>
          <p:cNvSpPr/>
          <p:nvPr/>
        </p:nvSpPr>
        <p:spPr>
          <a:xfrm>
            <a:off x="12797467" y="8717033"/>
            <a:ext cx="2289068" cy="812801"/>
          </a:xfrm>
          <a:prstGeom prst="roundRect">
            <a:avLst>
              <a:gd name="adj" fmla="val 33349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update</a:t>
            </a:r>
          </a:p>
        </p:txBody>
      </p:sp>
      <p:sp>
        <p:nvSpPr>
          <p:cNvPr id="966" name="σ1"/>
          <p:cNvSpPr/>
          <p:nvPr/>
        </p:nvSpPr>
        <p:spPr>
          <a:xfrm>
            <a:off x="14476054" y="9956068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pPr>
            <a:r>
              <a:t>σ</a:t>
            </a:r>
            <a:r>
              <a:rPr baseline="-5999"/>
              <a:t>1</a:t>
            </a:r>
          </a:p>
        </p:txBody>
      </p:sp>
      <p:sp>
        <p:nvSpPr>
          <p:cNvPr id="967" name="v1"/>
          <p:cNvSpPr/>
          <p:nvPr/>
        </p:nvSpPr>
        <p:spPr>
          <a:xfrm>
            <a:off x="12519116" y="9844941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1</a:t>
            </a:r>
          </a:p>
        </p:txBody>
      </p:sp>
      <p:sp>
        <p:nvSpPr>
          <p:cNvPr id="968" name="update"/>
          <p:cNvSpPr/>
          <p:nvPr/>
        </p:nvSpPr>
        <p:spPr>
          <a:xfrm>
            <a:off x="12797467" y="6245490"/>
            <a:ext cx="2289068" cy="812801"/>
          </a:xfrm>
          <a:prstGeom prst="roundRect">
            <a:avLst>
              <a:gd name="adj" fmla="val 33349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update</a:t>
            </a:r>
          </a:p>
        </p:txBody>
      </p:sp>
      <p:sp>
        <p:nvSpPr>
          <p:cNvPr id="969" name="σ2"/>
          <p:cNvSpPr/>
          <p:nvPr/>
        </p:nvSpPr>
        <p:spPr>
          <a:xfrm>
            <a:off x="14476054" y="7484523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pPr>
            <a:r>
              <a:t>σ</a:t>
            </a:r>
            <a:r>
              <a:rPr baseline="-5999"/>
              <a:t>2</a:t>
            </a:r>
          </a:p>
        </p:txBody>
      </p:sp>
      <p:sp>
        <p:nvSpPr>
          <p:cNvPr id="970" name="v2"/>
          <p:cNvSpPr/>
          <p:nvPr/>
        </p:nvSpPr>
        <p:spPr>
          <a:xfrm>
            <a:off x="12519116" y="7459123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2</a:t>
            </a:r>
          </a:p>
        </p:txBody>
      </p:sp>
      <p:sp>
        <p:nvSpPr>
          <p:cNvPr id="971" name="σ3"/>
          <p:cNvSpPr/>
          <p:nvPr/>
        </p:nvSpPr>
        <p:spPr>
          <a:xfrm>
            <a:off x="14476054" y="5012980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pPr>
            <a:r>
              <a:t>σ</a:t>
            </a:r>
            <a:r>
              <a:rPr baseline="-5999"/>
              <a:t>3</a:t>
            </a:r>
          </a:p>
        </p:txBody>
      </p:sp>
      <p:sp>
        <p:nvSpPr>
          <p:cNvPr id="972" name="v3"/>
          <p:cNvSpPr/>
          <p:nvPr/>
        </p:nvSpPr>
        <p:spPr>
          <a:xfrm>
            <a:off x="12519116" y="5073305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3</a:t>
            </a:r>
          </a:p>
        </p:txBody>
      </p:sp>
      <p:cxnSp>
        <p:nvCxnSpPr>
          <p:cNvPr id="973" name="Connection Line"/>
          <p:cNvCxnSpPr>
            <a:stCxn id="961" idx="0"/>
            <a:endCxn id="964" idx="0"/>
          </p:cNvCxnSpPr>
          <p:nvPr/>
        </p:nvCxnSpPr>
        <p:spPr>
          <a:xfrm flipH="1" flipV="1">
            <a:off x="13942000" y="11594977"/>
            <a:ext cx="940455" cy="1235772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headEnd type="arrow"/>
          </a:ln>
        </p:spPr>
      </p:cxnSp>
      <p:cxnSp>
        <p:nvCxnSpPr>
          <p:cNvPr id="974" name="Connection Line"/>
          <p:cNvCxnSpPr>
            <a:stCxn id="966" idx="0"/>
            <a:endCxn id="964" idx="0"/>
          </p:cNvCxnSpPr>
          <p:nvPr/>
        </p:nvCxnSpPr>
        <p:spPr>
          <a:xfrm flipH="1">
            <a:off x="13942000" y="10359206"/>
            <a:ext cx="940455" cy="1235772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975" name="Connection Line"/>
          <p:cNvCxnSpPr>
            <a:stCxn id="966" idx="0"/>
            <a:endCxn id="965" idx="0"/>
          </p:cNvCxnSpPr>
          <p:nvPr/>
        </p:nvCxnSpPr>
        <p:spPr>
          <a:xfrm flipH="1" flipV="1">
            <a:off x="13942000" y="9123433"/>
            <a:ext cx="940455" cy="1235774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headEnd type="arrow"/>
          </a:ln>
        </p:spPr>
      </p:cxnSp>
      <p:cxnSp>
        <p:nvCxnSpPr>
          <p:cNvPr id="976" name="Connection Line"/>
          <p:cNvCxnSpPr>
            <a:stCxn id="965" idx="0"/>
            <a:endCxn id="969" idx="0"/>
          </p:cNvCxnSpPr>
          <p:nvPr/>
        </p:nvCxnSpPr>
        <p:spPr>
          <a:xfrm flipV="1">
            <a:off x="13942000" y="7887661"/>
            <a:ext cx="940455" cy="1235773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headEnd type="arrow"/>
          </a:ln>
        </p:spPr>
      </p:cxnSp>
      <p:cxnSp>
        <p:nvCxnSpPr>
          <p:cNvPr id="977" name="Connection Line"/>
          <p:cNvCxnSpPr>
            <a:stCxn id="968" idx="0"/>
            <a:endCxn id="969" idx="0"/>
          </p:cNvCxnSpPr>
          <p:nvPr/>
        </p:nvCxnSpPr>
        <p:spPr>
          <a:xfrm>
            <a:off x="13942000" y="6651890"/>
            <a:ext cx="940455" cy="1235772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978" name="Connection Line"/>
          <p:cNvCxnSpPr>
            <a:stCxn id="971" idx="0"/>
            <a:endCxn id="968" idx="0"/>
          </p:cNvCxnSpPr>
          <p:nvPr/>
        </p:nvCxnSpPr>
        <p:spPr>
          <a:xfrm flipH="1">
            <a:off x="13942000" y="5416118"/>
            <a:ext cx="940455" cy="1235773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979" name="Connection Line"/>
          <p:cNvCxnSpPr>
            <a:stCxn id="963" idx="0"/>
            <a:endCxn id="964" idx="0"/>
          </p:cNvCxnSpPr>
          <p:nvPr/>
        </p:nvCxnSpPr>
        <p:spPr>
          <a:xfrm flipV="1">
            <a:off x="11288252" y="11594977"/>
            <a:ext cx="2653749" cy="1235772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980" name="Connection Line"/>
          <p:cNvCxnSpPr>
            <a:stCxn id="962" idx="0"/>
            <a:endCxn id="964" idx="0"/>
          </p:cNvCxnSpPr>
          <p:nvPr/>
        </p:nvCxnSpPr>
        <p:spPr>
          <a:xfrm flipV="1">
            <a:off x="8041683" y="11594977"/>
            <a:ext cx="5900318" cy="1235772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981" name="Connection Line"/>
          <p:cNvCxnSpPr>
            <a:stCxn id="967" idx="0"/>
            <a:endCxn id="964" idx="0"/>
          </p:cNvCxnSpPr>
          <p:nvPr/>
        </p:nvCxnSpPr>
        <p:spPr>
          <a:xfrm>
            <a:off x="12925516" y="10248079"/>
            <a:ext cx="1016485" cy="1346899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982" name="Connection Line"/>
          <p:cNvCxnSpPr>
            <a:stCxn id="963" idx="0"/>
            <a:endCxn id="965" idx="0"/>
          </p:cNvCxnSpPr>
          <p:nvPr/>
        </p:nvCxnSpPr>
        <p:spPr>
          <a:xfrm flipV="1">
            <a:off x="11288252" y="9123433"/>
            <a:ext cx="2653749" cy="3707316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983" name="Connection Line"/>
          <p:cNvCxnSpPr>
            <a:stCxn id="962" idx="0"/>
            <a:endCxn id="965" idx="0"/>
          </p:cNvCxnSpPr>
          <p:nvPr/>
        </p:nvCxnSpPr>
        <p:spPr>
          <a:xfrm flipV="1">
            <a:off x="8041683" y="9123433"/>
            <a:ext cx="5900318" cy="3707316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984" name="Connection Line"/>
          <p:cNvCxnSpPr>
            <a:stCxn id="965" idx="0"/>
            <a:endCxn id="970" idx="0"/>
          </p:cNvCxnSpPr>
          <p:nvPr/>
        </p:nvCxnSpPr>
        <p:spPr>
          <a:xfrm flipH="1" flipV="1">
            <a:off x="12925516" y="7862261"/>
            <a:ext cx="1016485" cy="1261173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985" name="Connection Line"/>
          <p:cNvCxnSpPr>
            <a:stCxn id="968" idx="0"/>
            <a:endCxn id="972" idx="0"/>
          </p:cNvCxnSpPr>
          <p:nvPr/>
        </p:nvCxnSpPr>
        <p:spPr>
          <a:xfrm flipH="1" flipV="1">
            <a:off x="12925516" y="5476443"/>
            <a:ext cx="1016485" cy="117544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986" name="Connection Line"/>
          <p:cNvCxnSpPr>
            <a:stCxn id="968" idx="0"/>
            <a:endCxn id="960" idx="0"/>
          </p:cNvCxnSpPr>
          <p:nvPr/>
        </p:nvCxnSpPr>
        <p:spPr>
          <a:xfrm flipH="1">
            <a:off x="9123873" y="6651890"/>
            <a:ext cx="4818128" cy="6178859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987" name="Connection Line"/>
          <p:cNvCxnSpPr>
            <a:stCxn id="968" idx="0"/>
            <a:endCxn id="989" idx="0"/>
          </p:cNvCxnSpPr>
          <p:nvPr/>
        </p:nvCxnSpPr>
        <p:spPr>
          <a:xfrm flipH="1">
            <a:off x="12370441" y="6651890"/>
            <a:ext cx="1571560" cy="6178859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sp>
        <p:nvSpPr>
          <p:cNvPr id="988" name="c"/>
          <p:cNvSpPr/>
          <p:nvPr/>
        </p:nvSpPr>
        <p:spPr>
          <a:xfrm>
            <a:off x="9799662" y="12427610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989" name="y"/>
          <p:cNvSpPr/>
          <p:nvPr/>
        </p:nvSpPr>
        <p:spPr>
          <a:xfrm>
            <a:off x="11964041" y="12427610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y</a:t>
            </a:r>
          </a:p>
        </p:txBody>
      </p:sp>
      <p:sp>
        <p:nvSpPr>
          <p:cNvPr id="990" name="update"/>
          <p:cNvSpPr/>
          <p:nvPr/>
        </p:nvSpPr>
        <p:spPr>
          <a:xfrm>
            <a:off x="12797467" y="3773947"/>
            <a:ext cx="2289068" cy="812801"/>
          </a:xfrm>
          <a:prstGeom prst="roundRect">
            <a:avLst>
              <a:gd name="adj" fmla="val 33349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lvl1pPr>
          </a:lstStyle>
          <a:p>
            <a:pPr/>
            <a:r>
              <a:t>update</a:t>
            </a:r>
          </a:p>
        </p:txBody>
      </p:sp>
      <p:sp>
        <p:nvSpPr>
          <p:cNvPr id="991" name="σ4"/>
          <p:cNvSpPr/>
          <p:nvPr/>
        </p:nvSpPr>
        <p:spPr>
          <a:xfrm>
            <a:off x="14476054" y="2547961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pPr>
            <a:r>
              <a:t>σ</a:t>
            </a:r>
            <a:r>
              <a:rPr baseline="-5999"/>
              <a:t>4</a:t>
            </a:r>
          </a:p>
        </p:txBody>
      </p:sp>
      <p:sp>
        <p:nvSpPr>
          <p:cNvPr id="992" name="v4"/>
          <p:cNvSpPr/>
          <p:nvPr/>
        </p:nvSpPr>
        <p:spPr>
          <a:xfrm>
            <a:off x="12519116" y="2547961"/>
            <a:ext cx="812801" cy="806277"/>
          </a:xfrm>
          <a:prstGeom prst="roundRect">
            <a:avLst>
              <a:gd name="adj" fmla="val 33878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algn="ctr" defTabSz="2438338">
              <a:lnSpc>
                <a:spcPct val="100000"/>
              </a:lnSpc>
              <a:spcBef>
                <a:spcPts val="0"/>
              </a:spcBef>
              <a:defRPr sz="4000">
                <a:latin typeface="PT Mono"/>
                <a:ea typeface="PT Mono"/>
                <a:cs typeface="PT Mono"/>
                <a:sym typeface="PT Mono"/>
              </a:defRPr>
            </a:pPr>
            <a:r>
              <a:t>v</a:t>
            </a:r>
            <a:r>
              <a:rPr baseline="-5999"/>
              <a:t>4</a:t>
            </a:r>
          </a:p>
        </p:txBody>
      </p:sp>
      <p:cxnSp>
        <p:nvCxnSpPr>
          <p:cNvPr id="993" name="Connection Line"/>
          <p:cNvCxnSpPr>
            <a:stCxn id="990" idx="0"/>
            <a:endCxn id="991" idx="0"/>
          </p:cNvCxnSpPr>
          <p:nvPr/>
        </p:nvCxnSpPr>
        <p:spPr>
          <a:xfrm flipV="1">
            <a:off x="13942000" y="2951099"/>
            <a:ext cx="940455" cy="1229249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headEnd type="arrow"/>
          </a:ln>
        </p:spPr>
      </p:cxnSp>
      <p:cxnSp>
        <p:nvCxnSpPr>
          <p:cNvPr id="994" name="Connection Line"/>
          <p:cNvCxnSpPr>
            <a:stCxn id="990" idx="0"/>
            <a:endCxn id="971" idx="0"/>
          </p:cNvCxnSpPr>
          <p:nvPr/>
        </p:nvCxnSpPr>
        <p:spPr>
          <a:xfrm>
            <a:off x="13942000" y="4180347"/>
            <a:ext cx="940455" cy="1235772"/>
          </a:xfrm>
          <a:prstGeom prst="straightConnector1">
            <a:avLst/>
          </a:prstGeom>
          <a:ln w="762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995" name="Connection Line"/>
          <p:cNvCxnSpPr>
            <a:stCxn id="990" idx="0"/>
            <a:endCxn id="992" idx="0"/>
          </p:cNvCxnSpPr>
          <p:nvPr/>
        </p:nvCxnSpPr>
        <p:spPr>
          <a:xfrm flipH="1" flipV="1">
            <a:off x="12925516" y="2951099"/>
            <a:ext cx="1016485" cy="1229249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996" name="Connection Line"/>
          <p:cNvCxnSpPr>
            <a:stCxn id="990" idx="0"/>
            <a:endCxn id="970" idx="0"/>
          </p:cNvCxnSpPr>
          <p:nvPr/>
        </p:nvCxnSpPr>
        <p:spPr>
          <a:xfrm flipH="1">
            <a:off x="12925516" y="4180347"/>
            <a:ext cx="1016485" cy="3681915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997" name="Connection Line"/>
          <p:cNvCxnSpPr>
            <a:stCxn id="990" idx="0"/>
            <a:endCxn id="988" idx="0"/>
          </p:cNvCxnSpPr>
          <p:nvPr/>
        </p:nvCxnSpPr>
        <p:spPr>
          <a:xfrm flipH="1">
            <a:off x="10206062" y="4180347"/>
            <a:ext cx="3735939" cy="8650402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extraction-time-cdf.pdf" descr="extraction-time-cdf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02457" y="2691369"/>
            <a:ext cx="17018002" cy="10210801"/>
          </a:xfrm>
          <a:prstGeom prst="rect">
            <a:avLst/>
          </a:prstGeom>
          <a:ln w="12700">
            <a:miter lim="400000"/>
          </a:ln>
        </p:spPr>
      </p:pic>
      <p:sp>
        <p:nvSpPr>
          <p:cNvPr id="1000" name="Fast Effect-safe Extraction in Pract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Fast Effect-safe Extraction in Practice</a:t>
            </a:r>
          </a:p>
        </p:txBody>
      </p:sp>
      <p:sp>
        <p:nvSpPr>
          <p:cNvPr id="1001" name="Slide Number"/>
          <p:cNvSpPr txBox="1"/>
          <p:nvPr>
            <p:ph type="sldNum" sz="quarter" idx="4294967295"/>
          </p:nvPr>
        </p:nvSpPr>
        <p:spPr>
          <a:xfrm>
            <a:off x="23939500" y="132714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02" name="Our Approach"/>
          <p:cNvSpPr txBox="1"/>
          <p:nvPr/>
        </p:nvSpPr>
        <p:spPr>
          <a:xfrm>
            <a:off x="8299550" y="9443211"/>
            <a:ext cx="330454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Our Approach</a:t>
            </a:r>
          </a:p>
        </p:txBody>
      </p:sp>
      <p:sp>
        <p:nvSpPr>
          <p:cNvPr id="1003" name="Solver-Based Techniques"/>
          <p:cNvSpPr txBox="1"/>
          <p:nvPr/>
        </p:nvSpPr>
        <p:spPr>
          <a:xfrm>
            <a:off x="14039952" y="7944611"/>
            <a:ext cx="587248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Solver-Based Techniques</a:t>
            </a:r>
          </a:p>
        </p:txBody>
      </p:sp>
      <p:sp>
        <p:nvSpPr>
          <p:cNvPr id="1004" name="Line"/>
          <p:cNvSpPr/>
          <p:nvPr/>
        </p:nvSpPr>
        <p:spPr>
          <a:xfrm flipH="1" flipV="1">
            <a:off x="8060872" y="7669770"/>
            <a:ext cx="1109967" cy="1734395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Line"/>
          <p:cNvSpPr/>
          <p:nvPr/>
        </p:nvSpPr>
        <p:spPr>
          <a:xfrm flipV="1">
            <a:off x="14649741" y="12309953"/>
            <a:ext cx="4163336" cy="873967"/>
          </a:xfrm>
          <a:prstGeom prst="line">
            <a:avLst/>
          </a:prstGeom>
          <a:ln w="76200">
            <a:solidFill>
              <a:srgbClr val="EE230C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Line"/>
          <p:cNvSpPr/>
          <p:nvPr/>
        </p:nvSpPr>
        <p:spPr>
          <a:xfrm flipH="1" flipV="1">
            <a:off x="13129214" y="6723149"/>
            <a:ext cx="2585946" cy="1259806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009" name="Extraction is fast"/>
          <p:cNvGrpSpPr/>
          <p:nvPr/>
        </p:nvGrpSpPr>
        <p:grpSpPr>
          <a:xfrm>
            <a:off x="14737937" y="8936529"/>
            <a:ext cx="8473299" cy="2140268"/>
            <a:chOff x="0" y="0"/>
            <a:chExt cx="8473298" cy="2140267"/>
          </a:xfrm>
        </p:grpSpPr>
        <p:sp>
          <p:nvSpPr>
            <p:cNvPr id="1007" name="Rounded Rectangle"/>
            <p:cNvSpPr/>
            <p:nvPr/>
          </p:nvSpPr>
          <p:spPr>
            <a:xfrm>
              <a:off x="0" y="0"/>
              <a:ext cx="8473299" cy="2140268"/>
            </a:xfrm>
            <a:prstGeom prst="roundRect">
              <a:avLst>
                <a:gd name="adj" fmla="val 8901"/>
              </a:avLst>
            </a:prstGeom>
            <a:solidFill>
              <a:srgbClr val="D9EAD3"/>
            </a:solidFill>
            <a:ln w="12700" cap="flat">
              <a:noFill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indent="457200" algn="ctr">
                <a:lnSpc>
                  <a:spcPct val="100000"/>
                </a:lnSpc>
                <a:spcBef>
                  <a:spcPts val="0"/>
                </a:spcBef>
                <a:defRPr b="1" sz="6000"/>
              </a:pPr>
            </a:p>
          </p:txBody>
        </p:sp>
        <p:sp>
          <p:nvSpPr>
            <p:cNvPr id="1008" name="Extraction is fast"/>
            <p:cNvSpPr txBox="1"/>
            <p:nvPr/>
          </p:nvSpPr>
          <p:spPr>
            <a:xfrm>
              <a:off x="55796" y="484285"/>
              <a:ext cx="8361706" cy="11716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7000" tIns="127000" rIns="127000" bIns="127000" numCol="1" anchor="ctr">
              <a:spAutoFit/>
            </a:bodyPr>
            <a:lstStyle/>
            <a:p>
              <a:pPr lvl="1" indent="457200" algn="ctr">
                <a:lnSpc>
                  <a:spcPct val="100000"/>
                </a:lnSpc>
                <a:spcBef>
                  <a:spcPts val="0"/>
                </a:spcBef>
                <a:defRPr b="1" sz="6000"/>
              </a:pPr>
              <a:r>
                <a:t>Extraction is fast</a:t>
              </a:r>
            </a:p>
          </p:txBody>
        </p:sp>
      </p:grpSp>
      <p:sp>
        <p:nvSpPr>
          <p:cNvPr id="1010" name="Line"/>
          <p:cNvSpPr/>
          <p:nvPr/>
        </p:nvSpPr>
        <p:spPr>
          <a:xfrm flipH="1" flipV="1">
            <a:off x="20180342" y="3768050"/>
            <a:ext cx="1281377" cy="361070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Solver Timeouts"/>
          <p:cNvSpPr txBox="1"/>
          <p:nvPr/>
        </p:nvSpPr>
        <p:spPr>
          <a:xfrm>
            <a:off x="20323071" y="4127847"/>
            <a:ext cx="3783585" cy="69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Solver Timeouts</a:t>
            </a:r>
          </a:p>
        </p:txBody>
      </p:sp>
      <p:sp>
        <p:nvSpPr>
          <p:cNvPr id="1012" name="Log scale"/>
          <p:cNvSpPr txBox="1"/>
          <p:nvPr/>
        </p:nvSpPr>
        <p:spPr>
          <a:xfrm>
            <a:off x="11799867" y="12706092"/>
            <a:ext cx="274472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EE230C"/>
                </a:solidFill>
              </a:defRPr>
            </a:lvl1pPr>
          </a:lstStyle>
          <a:p>
            <a:pPr/>
            <a:r>
              <a:t>Log scale</a:t>
            </a:r>
          </a:p>
        </p:txBody>
      </p:sp>
      <p:sp>
        <p:nvSpPr>
          <p:cNvPr id="1013" name="Line"/>
          <p:cNvSpPr/>
          <p:nvPr/>
        </p:nvSpPr>
        <p:spPr>
          <a:xfrm flipH="1" flipV="1">
            <a:off x="14779172" y="6412470"/>
            <a:ext cx="1109968" cy="1734395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4" name="Line"/>
          <p:cNvSpPr/>
          <p:nvPr/>
        </p:nvSpPr>
        <p:spPr>
          <a:xfrm flipH="1" flipV="1">
            <a:off x="7643539" y="12313649"/>
            <a:ext cx="4051178" cy="870270"/>
          </a:xfrm>
          <a:prstGeom prst="line">
            <a:avLst/>
          </a:prstGeom>
          <a:ln w="76200">
            <a:solidFill>
              <a:srgbClr val="EE230C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09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Fast Effect-safe Extraction in Pract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Fast Effect-safe Extraction in Practice</a:t>
            </a:r>
          </a:p>
        </p:txBody>
      </p:sp>
      <p:sp>
        <p:nvSpPr>
          <p:cNvPr id="1017" name="Slide Number"/>
          <p:cNvSpPr txBox="1"/>
          <p:nvPr>
            <p:ph type="sldNum" sz="quarter" idx="4294967295"/>
          </p:nvPr>
        </p:nvSpPr>
        <p:spPr>
          <a:xfrm>
            <a:off x="23939500" y="132714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18" name="g0.pdf" descr="g0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500" y="2578100"/>
            <a:ext cx="12533295" cy="10444413"/>
          </a:xfrm>
          <a:prstGeom prst="rect">
            <a:avLst/>
          </a:prstGeom>
          <a:ln w="12700">
            <a:miter lim="400000"/>
          </a:ln>
        </p:spPr>
      </p:pic>
      <p:sp>
        <p:nvSpPr>
          <p:cNvPr id="1019" name="LLVM-O0-O0"/>
          <p:cNvSpPr txBox="1"/>
          <p:nvPr/>
        </p:nvSpPr>
        <p:spPr>
          <a:xfrm>
            <a:off x="12153286" y="11340745"/>
            <a:ext cx="3868421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LLVM-O0-O0</a:t>
            </a:r>
          </a:p>
        </p:txBody>
      </p:sp>
      <p:sp>
        <p:nvSpPr>
          <p:cNvPr id="1020" name="Polybench Benchmark Suite"/>
          <p:cNvSpPr txBox="1"/>
          <p:nvPr/>
        </p:nvSpPr>
        <p:spPr>
          <a:xfrm>
            <a:off x="3754868" y="12611565"/>
            <a:ext cx="655066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Polybench Benchmark Suite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Fast Effect-safe Extraction in Pract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Fast Effect-safe Extraction in Practice</a:t>
            </a:r>
          </a:p>
        </p:txBody>
      </p:sp>
      <p:sp>
        <p:nvSpPr>
          <p:cNvPr id="1023" name="Slide Number"/>
          <p:cNvSpPr txBox="1"/>
          <p:nvPr>
            <p:ph type="sldNum" sz="quarter" idx="4294967295"/>
          </p:nvPr>
        </p:nvSpPr>
        <p:spPr>
          <a:xfrm>
            <a:off x="23939500" y="132714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24" name="g1.pdf" descr="g1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500" y="2578100"/>
            <a:ext cx="12527282" cy="10439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25" name="LLVM-O0-O0"/>
          <p:cNvSpPr txBox="1"/>
          <p:nvPr/>
        </p:nvSpPr>
        <p:spPr>
          <a:xfrm>
            <a:off x="12153286" y="11340745"/>
            <a:ext cx="3868421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LLVM-O0-O0</a:t>
            </a:r>
          </a:p>
        </p:txBody>
      </p:sp>
      <p:sp>
        <p:nvSpPr>
          <p:cNvPr id="1026" name="eggcc"/>
          <p:cNvSpPr txBox="1"/>
          <p:nvPr/>
        </p:nvSpPr>
        <p:spPr>
          <a:xfrm>
            <a:off x="12153286" y="9471817"/>
            <a:ext cx="1866266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eggcc</a:t>
            </a:r>
          </a:p>
        </p:txBody>
      </p:sp>
      <p:sp>
        <p:nvSpPr>
          <p:cNvPr id="1027" name="Polybench Benchmark Suite"/>
          <p:cNvSpPr txBox="1"/>
          <p:nvPr/>
        </p:nvSpPr>
        <p:spPr>
          <a:xfrm>
            <a:off x="3754868" y="12611565"/>
            <a:ext cx="655066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Polybench Benchmark Suite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Fast Effect-safe Extraction in Pract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Fast Effect-safe Extraction in Practice</a:t>
            </a:r>
          </a:p>
        </p:txBody>
      </p:sp>
      <p:sp>
        <p:nvSpPr>
          <p:cNvPr id="1030" name="Slide Number"/>
          <p:cNvSpPr txBox="1"/>
          <p:nvPr>
            <p:ph type="sldNum" sz="quarter" idx="4294967295"/>
          </p:nvPr>
        </p:nvSpPr>
        <p:spPr>
          <a:xfrm>
            <a:off x="23939500" y="132714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31" name="g2.pdf" descr="g2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500" y="2578100"/>
            <a:ext cx="12527282" cy="10439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32" name="LLVM-O0-O0"/>
          <p:cNvSpPr txBox="1"/>
          <p:nvPr/>
        </p:nvSpPr>
        <p:spPr>
          <a:xfrm>
            <a:off x="12153286" y="11340745"/>
            <a:ext cx="3868421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LLVM-O0-O0</a:t>
            </a:r>
          </a:p>
        </p:txBody>
      </p:sp>
      <p:sp>
        <p:nvSpPr>
          <p:cNvPr id="1033" name="eggcc"/>
          <p:cNvSpPr txBox="1"/>
          <p:nvPr/>
        </p:nvSpPr>
        <p:spPr>
          <a:xfrm>
            <a:off x="12153286" y="9471817"/>
            <a:ext cx="1866266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eggcc</a:t>
            </a:r>
          </a:p>
        </p:txBody>
      </p:sp>
      <p:sp>
        <p:nvSpPr>
          <p:cNvPr id="1034" name="LLVM-O3-O0"/>
          <p:cNvSpPr txBox="1"/>
          <p:nvPr/>
        </p:nvSpPr>
        <p:spPr>
          <a:xfrm>
            <a:off x="12153286" y="6338899"/>
            <a:ext cx="3868421" cy="845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LLVM-O3-O0</a:t>
            </a:r>
          </a:p>
        </p:txBody>
      </p:sp>
      <p:sp>
        <p:nvSpPr>
          <p:cNvPr id="1035" name="Polybench Benchmark Suite"/>
          <p:cNvSpPr txBox="1"/>
          <p:nvPr/>
        </p:nvSpPr>
        <p:spPr>
          <a:xfrm>
            <a:off x="3754868" y="12611565"/>
            <a:ext cx="655066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Polybench Benchmark Suite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Fast Effect-safe Extraction in Pract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Fast Effect-safe Extraction in Practice</a:t>
            </a:r>
          </a:p>
        </p:txBody>
      </p:sp>
      <p:sp>
        <p:nvSpPr>
          <p:cNvPr id="1038" name="Slide Number"/>
          <p:cNvSpPr txBox="1"/>
          <p:nvPr>
            <p:ph type="sldNum" sz="quarter" idx="4294967295"/>
          </p:nvPr>
        </p:nvSpPr>
        <p:spPr>
          <a:xfrm>
            <a:off x="23939500" y="132714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39" name="g0.pdf" descr="g0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802" y="2570217"/>
            <a:ext cx="12533297" cy="104444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0" name="g1.pdf" descr="g1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809" y="2572723"/>
            <a:ext cx="12527282" cy="10439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1" name="g2.pdf" descr="g2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809" y="2572723"/>
            <a:ext cx="12527282" cy="10439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2" name="g3.pdf" descr="g3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0809" y="2572723"/>
            <a:ext cx="12527282" cy="10439402"/>
          </a:xfrm>
          <a:prstGeom prst="rect">
            <a:avLst/>
          </a:prstGeom>
          <a:ln w="12700">
            <a:miter lim="400000"/>
          </a:ln>
        </p:spPr>
      </p:pic>
      <p:sp>
        <p:nvSpPr>
          <p:cNvPr id="1043" name="LLVM-O0-O0"/>
          <p:cNvSpPr txBox="1"/>
          <p:nvPr/>
        </p:nvSpPr>
        <p:spPr>
          <a:xfrm>
            <a:off x="12153286" y="11340745"/>
            <a:ext cx="3868421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LLVM-O0-O0</a:t>
            </a:r>
          </a:p>
        </p:txBody>
      </p:sp>
      <p:sp>
        <p:nvSpPr>
          <p:cNvPr id="1044" name="eggcc"/>
          <p:cNvSpPr txBox="1"/>
          <p:nvPr/>
        </p:nvSpPr>
        <p:spPr>
          <a:xfrm>
            <a:off x="12153286" y="9471817"/>
            <a:ext cx="1866266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eggcc</a:t>
            </a:r>
          </a:p>
        </p:txBody>
      </p:sp>
      <p:sp>
        <p:nvSpPr>
          <p:cNvPr id="1045" name="LLVM-O3-O0"/>
          <p:cNvSpPr txBox="1"/>
          <p:nvPr/>
        </p:nvSpPr>
        <p:spPr>
          <a:xfrm>
            <a:off x="12153286" y="6338899"/>
            <a:ext cx="3868421" cy="845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LLVM-O3-O0</a:t>
            </a:r>
          </a:p>
        </p:txBody>
      </p:sp>
      <p:sp>
        <p:nvSpPr>
          <p:cNvPr id="1046" name="Solver Approaches"/>
          <p:cNvSpPr txBox="1"/>
          <p:nvPr/>
        </p:nvSpPr>
        <p:spPr>
          <a:xfrm>
            <a:off x="12153286" y="2942622"/>
            <a:ext cx="5500371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Solver Approaches</a:t>
            </a:r>
          </a:p>
        </p:txBody>
      </p:sp>
      <p:grpSp>
        <p:nvGrpSpPr>
          <p:cNvPr id="1049" name="Non-trivial…"/>
          <p:cNvGrpSpPr/>
          <p:nvPr/>
        </p:nvGrpSpPr>
        <p:grpSpPr>
          <a:xfrm>
            <a:off x="14737937" y="8172839"/>
            <a:ext cx="9081621" cy="2903959"/>
            <a:chOff x="0" y="0"/>
            <a:chExt cx="9081620" cy="2903958"/>
          </a:xfrm>
        </p:grpSpPr>
        <p:sp>
          <p:nvSpPr>
            <p:cNvPr id="1047" name="Rounded Rectangle"/>
            <p:cNvSpPr/>
            <p:nvPr/>
          </p:nvSpPr>
          <p:spPr>
            <a:xfrm>
              <a:off x="0" y="0"/>
              <a:ext cx="9081621" cy="2903959"/>
            </a:xfrm>
            <a:prstGeom prst="roundRect">
              <a:avLst>
                <a:gd name="adj" fmla="val 6560"/>
              </a:avLst>
            </a:prstGeom>
            <a:solidFill>
              <a:srgbClr val="D9EAD3"/>
            </a:solidFill>
            <a:ln w="12700" cap="flat">
              <a:noFill/>
              <a:miter lim="400000"/>
            </a:ln>
            <a:effectLst/>
          </p:spPr>
          <p:txBody>
            <a:bodyPr wrap="square" lIns="127000" tIns="127000" rIns="127000" bIns="127000" numCol="1" anchor="ctr">
              <a:noAutofit/>
            </a:bodyPr>
            <a:lstStyle/>
            <a:p>
              <a:pPr indent="457200" algn="ctr">
                <a:lnSpc>
                  <a:spcPct val="100000"/>
                </a:lnSpc>
                <a:spcBef>
                  <a:spcPts val="0"/>
                </a:spcBef>
                <a:defRPr b="1" sz="7500"/>
              </a:pPr>
            </a:p>
          </p:txBody>
        </p:sp>
        <p:sp>
          <p:nvSpPr>
            <p:cNvPr id="1048" name="Non-trivial…"/>
            <p:cNvSpPr txBox="1"/>
            <p:nvPr/>
          </p:nvSpPr>
          <p:spPr>
            <a:xfrm>
              <a:off x="55795" y="183093"/>
              <a:ext cx="8970031" cy="25377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27000" tIns="127000" rIns="127000" bIns="127000" numCol="1" anchor="ctr">
              <a:spAutoFit/>
            </a:bodyPr>
            <a:lstStyle/>
            <a:p>
              <a:pPr lvl="1" indent="457200" algn="ctr">
                <a:lnSpc>
                  <a:spcPct val="100000"/>
                </a:lnSpc>
                <a:spcBef>
                  <a:spcPts val="0"/>
                </a:spcBef>
                <a:defRPr b="1" sz="7500"/>
              </a:pPr>
              <a:r>
                <a:t>Non-trivial</a:t>
              </a:r>
            </a:p>
            <a:p>
              <a:pPr lvl="1" indent="457200" algn="ctr">
                <a:lnSpc>
                  <a:spcPct val="100000"/>
                </a:lnSpc>
                <a:spcBef>
                  <a:spcPts val="0"/>
                </a:spcBef>
                <a:defRPr b="1" sz="7500"/>
              </a:pPr>
              <a:r>
                <a:t>e-graphs!</a:t>
              </a:r>
            </a:p>
          </p:txBody>
        </p:sp>
      </p:grpSp>
      <p:sp>
        <p:nvSpPr>
          <p:cNvPr id="1050" name="Polybench Benchmark Suite"/>
          <p:cNvSpPr txBox="1"/>
          <p:nvPr/>
        </p:nvSpPr>
        <p:spPr>
          <a:xfrm>
            <a:off x="3754868" y="12611565"/>
            <a:ext cx="655066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Polybench Benchmark Suite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49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127000" tIns="127000" rIns="127000" bIns="1270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127000" tIns="127000" rIns="127000" bIns="1270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